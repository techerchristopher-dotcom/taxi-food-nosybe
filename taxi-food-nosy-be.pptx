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Taxi Food — design system et écrans MVP de l'application client, Nosy 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phrase, quatre décisions structurantes validées dans le cahier des charges.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Palette imposée rouge / orange / jaune, étendue avec des neutres chauds et des couleurs sémantiques.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seule famille — Archivo — déclinée du display 800 au label 600. JetBrains Mono pour les références techniques.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kit réutilisé sur les 11 écrans : boutons, badges, champs, cartes resto et produit, panier flottant, navigation.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Connexion Google, saisie du téléphone obligatoire, accueil marketplace, menu restaurant.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Fiche produit en feuille montante, panier, règle un panier = un resto, adresse de livraison.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Validation avec choix du mode de paiement, confirmation, suivi par statuts.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Historique avec « recommander », état vide, profil et déconnexion.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qui reste à trancher avant le développement.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E8342A">
                  <a:alpha val="100000"/>
                </a:srgbClr>
              </a:gs>
              <a:gs pos="58000">
                <a:srgbClr val="FF8A1E">
                  <a:alpha val="100000"/>
                </a:srgbClr>
              </a:gs>
              <a:gs pos="100000">
                <a:srgbClr val="FFC72C">
                  <a:alpha val="100000"/>
                </a:srgbClr>
              </a:gs>
            </a:gsLst>
            <a:lin ang="36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1333500" y="2545854"/>
            <a:ext cx="1905000" cy="1905000"/>
          </a:xfrm>
          <a:prstGeom prst="roundRect">
            <a:avLst>
              <a:gd name="adj" fmla="val 25000"/>
            </a:avLst>
          </a:prstGeom>
          <a:ln/>
          <a:effectLst>
            <a:outerShdw sx="100000" sy="100000" kx="0" ky="0" algn="bl" rotWithShape="0" blurRad="571500" dist="228600" dir="5400000">
              <a:srgbClr val="000000">
                <a:alpha val="2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500" y="2545854"/>
            <a:ext cx="1905000" cy="190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33500" y="4908054"/>
            <a:ext cx="17183100" cy="119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627"/>
              </a:lnSpc>
              <a:buNone/>
            </a:pPr>
            <a:r>
              <a:rPr lang="en-US" sz="9900" b="1" spc="-396" kern="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TAXI FOOD</a:t>
            </a:r>
            <a:endParaRPr lang="en-US" sz="9900" dirty="0"/>
          </a:p>
        </p:txBody>
      </p:sp>
      <p:sp>
        <p:nvSpPr>
          <p:cNvPr id="6" name="Text 3"/>
          <p:cNvSpPr/>
          <p:nvPr/>
        </p:nvSpPr>
        <p:spPr>
          <a:xfrm>
            <a:off x="1333500" y="6312396"/>
            <a:ext cx="171831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862"/>
              </a:lnSpc>
              <a:buNone/>
            </a:pPr>
            <a:r>
              <a:rPr lang="en-US" sz="1650" spc="396" kern="0" dirty="0">
                <a:solidFill>
                  <a:srgbClr val="FFFFFF">
                    <a:alpha val="9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NOSY BE DELIVERY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333500" y="6941046"/>
            <a:ext cx="882967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273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Charte graphique et design des 11 écrans de l'application client — MVP.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15564594" y="9372600"/>
            <a:ext cx="152889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419"/>
              </a:lnSpc>
              <a:buNone/>
            </a:pPr>
            <a:r>
              <a:rPr lang="en-US" sz="1200" spc="192" kern="0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AOÛT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81051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1125" spc="225" kern="0" dirty="0">
                <a:solidFill>
                  <a:srgbClr val="E834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 PRODUIT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914400" y="1000125"/>
            <a:ext cx="18105120" cy="57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102"/>
              </a:lnSpc>
              <a:buNone/>
            </a:pPr>
            <a:r>
              <a:rPr lang="en-US" sz="4050" b="1" spc="-122" kern="0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 produit en une phrase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14400" y="1673498"/>
            <a:ext cx="1079182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957"/>
              </a:lnSpc>
              <a:buNone/>
            </a:pPr>
            <a:r>
              <a:rPr lang="en-US" sz="1575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 client choisit un restaurant de Nosy Be, compose sa commande, indique où se faire livrer, déclare son mode de paiement, valide, puis suit l'avancement jusqu'à la livraison — le paiement réel se faisant à la remise du repas.</a:t>
            </a:r>
            <a:endParaRPr lang="en-US" sz="1575" dirty="0"/>
          </a:p>
        </p:txBody>
      </p:sp>
      <p:sp>
        <p:nvSpPr>
          <p:cNvPr id="5" name="Shape 3"/>
          <p:cNvSpPr/>
          <p:nvPr/>
        </p:nvSpPr>
        <p:spPr>
          <a:xfrm>
            <a:off x="914400" y="2806973"/>
            <a:ext cx="8105775" cy="1396752"/>
          </a:xfrm>
          <a:prstGeom prst="roundRect">
            <a:avLst>
              <a:gd name="adj" fmla="val 190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8575" dir="5400000">
              <a:srgbClr val="1A1A1A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38250" y="3149873"/>
            <a:ext cx="8203883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474"/>
              </a:lnSpc>
              <a:buNone/>
            </a:pPr>
            <a:r>
              <a:rPr lang="en-US" sz="195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Connexion Google uniquement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38250" y="3580358"/>
            <a:ext cx="8203883" cy="318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659"/>
              </a:lnSpc>
              <a:buNone/>
            </a:pPr>
            <a:r>
              <a:rPr lang="en-US" sz="1425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Un seul bouton, aucun mot de passe. Le téléphone est demandé une fois, juste après.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9267825" y="2806973"/>
            <a:ext cx="8105775" cy="1396752"/>
          </a:xfrm>
          <a:prstGeom prst="roundRect">
            <a:avLst>
              <a:gd name="adj" fmla="val 190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8575" dir="5400000">
              <a:srgbClr val="1A1A1A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591675" y="3149873"/>
            <a:ext cx="8203883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474"/>
              </a:lnSpc>
              <a:buNone/>
            </a:pPr>
            <a:r>
              <a:rPr lang="en-US" sz="195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Marketplace multi-restaurants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591675" y="3580358"/>
            <a:ext cx="8203883" cy="318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659"/>
              </a:lnSpc>
              <a:buNone/>
            </a:pPr>
            <a:r>
              <a:rPr lang="en-US" sz="1425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Plusieurs enseignes listées, chacune avec son menu. Un panier = un seul restaurant.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914400" y="4451375"/>
            <a:ext cx="8105775" cy="1396752"/>
          </a:xfrm>
          <a:prstGeom prst="roundRect">
            <a:avLst>
              <a:gd name="adj" fmla="val 190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8575" dir="5400000">
              <a:srgbClr val="1A1A1A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238250" y="4794275"/>
            <a:ext cx="8203883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474"/>
              </a:lnSpc>
              <a:buNone/>
            </a:pPr>
            <a:r>
              <a:rPr lang="en-US" sz="195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Paiement déclaratif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38250" y="5224760"/>
            <a:ext cx="8203883" cy="318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659"/>
              </a:lnSpc>
              <a:buNone/>
            </a:pPr>
            <a:r>
              <a:rPr lang="en-US" sz="1425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CB, espèces ou Orange Money — encaissement à la livraison. Aucune passerelle en ligne.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9267825" y="4451375"/>
            <a:ext cx="8105775" cy="1396752"/>
          </a:xfrm>
          <a:prstGeom prst="roundRect">
            <a:avLst>
              <a:gd name="adj" fmla="val 190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8575" dir="5400000">
              <a:srgbClr val="1A1A1A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591675" y="4794275"/>
            <a:ext cx="8203883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474"/>
              </a:lnSpc>
              <a:buNone/>
            </a:pPr>
            <a:r>
              <a:rPr lang="en-US" sz="195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Suivi par statuts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591675" y="5224760"/>
            <a:ext cx="8203883" cy="318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659"/>
              </a:lnSpc>
              <a:buNone/>
            </a:pPr>
            <a:r>
              <a:rPr lang="en-US" sz="1425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Reçue → Confirmée → En préparation → En livraison → Livrée. Pas de carte GPS temps réel.</a:t>
            </a:r>
            <a:endParaRPr lang="en-US" sz="14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81051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1125" spc="225" kern="0" dirty="0">
                <a:solidFill>
                  <a:srgbClr val="E834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— CHARTE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914400" y="1000125"/>
            <a:ext cx="18105120" cy="57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102"/>
              </a:lnSpc>
              <a:buNone/>
            </a:pPr>
            <a:r>
              <a:rPr lang="en-US" sz="4050" b="1" spc="-122" kern="0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Palette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914400" y="1959248"/>
            <a:ext cx="2857500" cy="1447800"/>
          </a:xfrm>
          <a:prstGeom prst="roundRect">
            <a:avLst>
              <a:gd name="adj" fmla="val 13158"/>
            </a:avLst>
          </a:prstGeom>
          <a:gradFill rotWithShape="1">
            <a:gsLst>
              <a:gs pos="0">
                <a:srgbClr val="E8342A">
                  <a:alpha val="100000"/>
                </a:srgbClr>
              </a:gs>
              <a:gs pos="55000">
                <a:srgbClr val="FF8A1E">
                  <a:alpha val="100000"/>
                </a:srgbClr>
              </a:gs>
              <a:gs pos="100000">
                <a:srgbClr val="FFC72C">
                  <a:alpha val="100000"/>
                </a:srgbClr>
              </a:gs>
            </a:gsLst>
            <a:lin ang="2700000" scaled="0"/>
          </a:gradFill>
          <a:ln w="9525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540398"/>
            <a:ext cx="3143250" cy="255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220"/>
              </a:lnSpc>
              <a:buNone/>
            </a:pPr>
            <a:r>
              <a:rPr lang="en-US" sz="1425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Dégradé marque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914400" y="3805163"/>
            <a:ext cx="3143250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946"/>
              </a:lnSpc>
              <a:buNone/>
            </a:pPr>
            <a:r>
              <a:rPr lang="en-US" sz="1050" dirty="0">
                <a:solidFill>
                  <a:srgbClr val="8A8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135° E8342A → FFC72C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981450" y="1959248"/>
            <a:ext cx="2000250" cy="1447800"/>
          </a:xfrm>
          <a:prstGeom prst="roundRect">
            <a:avLst>
              <a:gd name="adj" fmla="val 13158"/>
            </a:avLst>
          </a:prstGeom>
          <a:solidFill>
            <a:srgbClr val="E8342A"/>
          </a:solidFill>
          <a:ln w="9525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81450" y="3540398"/>
            <a:ext cx="2200275" cy="255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220"/>
              </a:lnSpc>
              <a:buNone/>
            </a:pPr>
            <a:r>
              <a:rPr lang="en-US" sz="1425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Rouge / primaire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3981450" y="3805163"/>
            <a:ext cx="2200275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946"/>
              </a:lnSpc>
              <a:buNone/>
            </a:pPr>
            <a:r>
              <a:rPr lang="en-US" sz="1050" dirty="0">
                <a:solidFill>
                  <a:srgbClr val="8A8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#E8342A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91250" y="1959248"/>
            <a:ext cx="2000250" cy="1447800"/>
          </a:xfrm>
          <a:prstGeom prst="roundRect">
            <a:avLst>
              <a:gd name="adj" fmla="val 13158"/>
            </a:avLst>
          </a:prstGeom>
          <a:solidFill>
            <a:srgbClr val="C42419"/>
          </a:solidFill>
          <a:ln w="9525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91250" y="3540398"/>
            <a:ext cx="2200275" cy="255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220"/>
              </a:lnSpc>
              <a:buNone/>
            </a:pPr>
            <a:r>
              <a:rPr lang="en-US" sz="1425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Rouge pressé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6191250" y="3805163"/>
            <a:ext cx="2200275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946"/>
              </a:lnSpc>
              <a:buNone/>
            </a:pPr>
            <a:r>
              <a:rPr lang="en-US" sz="1050" dirty="0">
                <a:solidFill>
                  <a:srgbClr val="8A8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#C42419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401050" y="1959248"/>
            <a:ext cx="2000250" cy="1447800"/>
          </a:xfrm>
          <a:prstGeom prst="roundRect">
            <a:avLst>
              <a:gd name="adj" fmla="val 13158"/>
            </a:avLst>
          </a:prstGeom>
          <a:solidFill>
            <a:srgbClr val="FF8A1E"/>
          </a:solidFill>
          <a:ln w="9525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01050" y="3540398"/>
            <a:ext cx="2200275" cy="255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220"/>
              </a:lnSpc>
              <a:buNone/>
            </a:pPr>
            <a:r>
              <a:rPr lang="en-US" sz="1425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Orange / secondaire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8401050" y="3805163"/>
            <a:ext cx="2200275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946"/>
              </a:lnSpc>
              <a:buNone/>
            </a:pPr>
            <a:r>
              <a:rPr lang="en-US" sz="1050" dirty="0">
                <a:solidFill>
                  <a:srgbClr val="8A8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#FF8A1E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610850" y="1959248"/>
            <a:ext cx="2000250" cy="1447800"/>
          </a:xfrm>
          <a:prstGeom prst="roundRect">
            <a:avLst>
              <a:gd name="adj" fmla="val 13158"/>
            </a:avLst>
          </a:prstGeom>
          <a:solidFill>
            <a:srgbClr val="FFC72C"/>
          </a:solidFill>
          <a:ln w="9525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10850" y="3540398"/>
            <a:ext cx="2200275" cy="255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220"/>
              </a:lnSpc>
              <a:buNone/>
            </a:pPr>
            <a:r>
              <a:rPr lang="en-US" sz="1425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Jaune / accent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10610850" y="3805163"/>
            <a:ext cx="2200275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946"/>
              </a:lnSpc>
              <a:buNone/>
            </a:pPr>
            <a:r>
              <a:rPr lang="en-US" sz="1050" dirty="0">
                <a:solidFill>
                  <a:srgbClr val="8A8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#FFC72C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2820650" y="1959248"/>
            <a:ext cx="2000250" cy="1447800"/>
          </a:xfrm>
          <a:prstGeom prst="roundRect">
            <a:avLst>
              <a:gd name="adj" fmla="val 13158"/>
            </a:avLst>
          </a:prstGeom>
          <a:solidFill>
            <a:srgbClr val="FFF3E2"/>
          </a:solidFill>
          <a:ln w="9525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20650" y="3540398"/>
            <a:ext cx="2200275" cy="255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220"/>
              </a:lnSpc>
              <a:buNone/>
            </a:pPr>
            <a:r>
              <a:rPr lang="en-US" sz="1425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Crème / teinte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12820650" y="3805163"/>
            <a:ext cx="2200275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946"/>
              </a:lnSpc>
              <a:buNone/>
            </a:pPr>
            <a:r>
              <a:rPr lang="en-US" sz="1050" dirty="0">
                <a:solidFill>
                  <a:srgbClr val="8A8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#FFF3E2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14400" y="4372794"/>
            <a:ext cx="1771650" cy="933450"/>
          </a:xfrm>
          <a:prstGeom prst="roundRect">
            <a:avLst>
              <a:gd name="adj" fmla="val 16327"/>
            </a:avLst>
          </a:prstGeom>
          <a:solidFill>
            <a:srgbClr val="1A1A1A"/>
          </a:solidFill>
          <a:ln w="9525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420544"/>
            <a:ext cx="1948815" cy="23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70"/>
              </a:lnSpc>
              <a:buNone/>
            </a:pPr>
            <a:r>
              <a:rPr lang="en-US" sz="1275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Encre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914400" y="5652939"/>
            <a:ext cx="1948815" cy="211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75" dirty="0">
                <a:solidFill>
                  <a:srgbClr val="8A8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#1A1A1A</a:t>
            </a:r>
            <a:endParaRPr lang="en-US" sz="975" dirty="0"/>
          </a:p>
        </p:txBody>
      </p:sp>
      <p:sp>
        <p:nvSpPr>
          <p:cNvPr id="25" name="Shape 23"/>
          <p:cNvSpPr/>
          <p:nvPr/>
        </p:nvSpPr>
        <p:spPr>
          <a:xfrm>
            <a:off x="2895600" y="4372794"/>
            <a:ext cx="1771650" cy="933450"/>
          </a:xfrm>
          <a:prstGeom prst="roundRect">
            <a:avLst>
              <a:gd name="adj" fmla="val 16327"/>
            </a:avLst>
          </a:prstGeom>
          <a:solidFill>
            <a:srgbClr val="4A4744"/>
          </a:solidFill>
          <a:ln w="9525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95600" y="5420544"/>
            <a:ext cx="1948815" cy="23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70"/>
              </a:lnSpc>
              <a:buNone/>
            </a:pPr>
            <a:r>
              <a:rPr lang="en-US" sz="1275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Gris 600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2895600" y="5652939"/>
            <a:ext cx="1948815" cy="211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75" dirty="0">
                <a:solidFill>
                  <a:srgbClr val="8A8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#4A4744</a:t>
            </a:r>
            <a:endParaRPr lang="en-US" sz="975" dirty="0"/>
          </a:p>
        </p:txBody>
      </p:sp>
      <p:sp>
        <p:nvSpPr>
          <p:cNvPr id="28" name="Shape 26"/>
          <p:cNvSpPr/>
          <p:nvPr/>
        </p:nvSpPr>
        <p:spPr>
          <a:xfrm>
            <a:off x="4876800" y="4372794"/>
            <a:ext cx="1771650" cy="933450"/>
          </a:xfrm>
          <a:prstGeom prst="roundRect">
            <a:avLst>
              <a:gd name="adj" fmla="val 16327"/>
            </a:avLst>
          </a:prstGeom>
          <a:solidFill>
            <a:srgbClr val="8A8580"/>
          </a:solidFill>
          <a:ln w="9525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76800" y="5420544"/>
            <a:ext cx="1948815" cy="23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70"/>
              </a:lnSpc>
              <a:buNone/>
            </a:pPr>
            <a:r>
              <a:rPr lang="en-US" sz="1275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Gris 400</a:t>
            </a:r>
            <a:endParaRPr lang="en-US" sz="1275" dirty="0"/>
          </a:p>
        </p:txBody>
      </p:sp>
      <p:sp>
        <p:nvSpPr>
          <p:cNvPr id="30" name="Text 28"/>
          <p:cNvSpPr/>
          <p:nvPr/>
        </p:nvSpPr>
        <p:spPr>
          <a:xfrm>
            <a:off x="4876800" y="5652939"/>
            <a:ext cx="1948815" cy="211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75" dirty="0">
                <a:solidFill>
                  <a:srgbClr val="8A8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#8A8580</a:t>
            </a:r>
            <a:endParaRPr lang="en-US" sz="975" dirty="0"/>
          </a:p>
        </p:txBody>
      </p:sp>
      <p:sp>
        <p:nvSpPr>
          <p:cNvPr id="31" name="Shape 29"/>
          <p:cNvSpPr/>
          <p:nvPr/>
        </p:nvSpPr>
        <p:spPr>
          <a:xfrm>
            <a:off x="6858000" y="4372794"/>
            <a:ext cx="1771650" cy="933450"/>
          </a:xfrm>
          <a:prstGeom prst="roundRect">
            <a:avLst>
              <a:gd name="adj" fmla="val 16327"/>
            </a:avLst>
          </a:prstGeom>
          <a:solidFill>
            <a:srgbClr val="DCD8D3"/>
          </a:solidFill>
          <a:ln w="9525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5420544"/>
            <a:ext cx="1948815" cy="23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70"/>
              </a:lnSpc>
              <a:buNone/>
            </a:pPr>
            <a:r>
              <a:rPr lang="en-US" sz="1275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Bordure</a:t>
            </a:r>
            <a:endParaRPr lang="en-US" sz="1275" dirty="0"/>
          </a:p>
        </p:txBody>
      </p:sp>
      <p:sp>
        <p:nvSpPr>
          <p:cNvPr id="33" name="Text 31"/>
          <p:cNvSpPr/>
          <p:nvPr/>
        </p:nvSpPr>
        <p:spPr>
          <a:xfrm>
            <a:off x="6858000" y="5652939"/>
            <a:ext cx="1948815" cy="211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75" dirty="0">
                <a:solidFill>
                  <a:srgbClr val="8A8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#DCD8D3</a:t>
            </a:r>
            <a:endParaRPr lang="en-US" sz="975" dirty="0"/>
          </a:p>
        </p:txBody>
      </p:sp>
      <p:sp>
        <p:nvSpPr>
          <p:cNvPr id="34" name="Shape 32"/>
          <p:cNvSpPr/>
          <p:nvPr/>
        </p:nvSpPr>
        <p:spPr>
          <a:xfrm>
            <a:off x="8839200" y="4372794"/>
            <a:ext cx="1771650" cy="933450"/>
          </a:xfrm>
          <a:prstGeom prst="roundRect">
            <a:avLst>
              <a:gd name="adj" fmla="val 16327"/>
            </a:avLst>
          </a:prstGeom>
          <a:solidFill>
            <a:srgbClr val="F5F2EF"/>
          </a:solidFill>
          <a:ln w="9525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39200" y="5420544"/>
            <a:ext cx="1948815" cy="23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70"/>
              </a:lnSpc>
              <a:buNone/>
            </a:pPr>
            <a:r>
              <a:rPr lang="en-US" sz="1275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Fond appli</a:t>
            </a:r>
            <a:endParaRPr lang="en-US" sz="1275" dirty="0"/>
          </a:p>
        </p:txBody>
      </p:sp>
      <p:sp>
        <p:nvSpPr>
          <p:cNvPr id="36" name="Text 34"/>
          <p:cNvSpPr/>
          <p:nvPr/>
        </p:nvSpPr>
        <p:spPr>
          <a:xfrm>
            <a:off x="8839200" y="5652939"/>
            <a:ext cx="1948815" cy="211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75" dirty="0">
                <a:solidFill>
                  <a:srgbClr val="8A8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#F5F2EF</a:t>
            </a:r>
            <a:endParaRPr lang="en-US" sz="975" dirty="0"/>
          </a:p>
        </p:txBody>
      </p:sp>
      <p:sp>
        <p:nvSpPr>
          <p:cNvPr id="37" name="Shape 35"/>
          <p:cNvSpPr/>
          <p:nvPr/>
        </p:nvSpPr>
        <p:spPr>
          <a:xfrm>
            <a:off x="10820400" y="4372794"/>
            <a:ext cx="1771650" cy="933450"/>
          </a:xfrm>
          <a:prstGeom prst="roundRect">
            <a:avLst>
              <a:gd name="adj" fmla="val 16327"/>
            </a:avLst>
          </a:prstGeom>
          <a:solidFill>
            <a:srgbClr val="16A34A"/>
          </a:solidFill>
          <a:ln w="9525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820400" y="5420544"/>
            <a:ext cx="1948815" cy="23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70"/>
              </a:lnSpc>
              <a:buNone/>
            </a:pPr>
            <a:r>
              <a:rPr lang="en-US" sz="1275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Succès</a:t>
            </a:r>
            <a:endParaRPr lang="en-US" sz="1275" dirty="0"/>
          </a:p>
        </p:txBody>
      </p:sp>
      <p:sp>
        <p:nvSpPr>
          <p:cNvPr id="39" name="Text 37"/>
          <p:cNvSpPr/>
          <p:nvPr/>
        </p:nvSpPr>
        <p:spPr>
          <a:xfrm>
            <a:off x="10820400" y="5652939"/>
            <a:ext cx="1948815" cy="211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75" dirty="0">
                <a:solidFill>
                  <a:srgbClr val="8A8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#16A34A</a:t>
            </a:r>
            <a:endParaRPr lang="en-US" sz="975" dirty="0"/>
          </a:p>
        </p:txBody>
      </p:sp>
      <p:sp>
        <p:nvSpPr>
          <p:cNvPr id="40" name="Shape 38"/>
          <p:cNvSpPr/>
          <p:nvPr/>
        </p:nvSpPr>
        <p:spPr>
          <a:xfrm>
            <a:off x="12801600" y="4372794"/>
            <a:ext cx="1771650" cy="933450"/>
          </a:xfrm>
          <a:prstGeom prst="roundRect">
            <a:avLst>
              <a:gd name="adj" fmla="val 16327"/>
            </a:avLst>
          </a:prstGeom>
          <a:solidFill>
            <a:srgbClr val="DC2626"/>
          </a:solidFill>
          <a:ln w="9525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801600" y="5420544"/>
            <a:ext cx="1948815" cy="23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70"/>
              </a:lnSpc>
              <a:buNone/>
            </a:pPr>
            <a:r>
              <a:rPr lang="en-US" sz="1275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Erreur</a:t>
            </a:r>
            <a:endParaRPr lang="en-US" sz="1275" dirty="0"/>
          </a:p>
        </p:txBody>
      </p:sp>
      <p:sp>
        <p:nvSpPr>
          <p:cNvPr id="42" name="Text 40"/>
          <p:cNvSpPr/>
          <p:nvPr/>
        </p:nvSpPr>
        <p:spPr>
          <a:xfrm>
            <a:off x="12801600" y="5652939"/>
            <a:ext cx="1948815" cy="211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75" dirty="0">
                <a:solidFill>
                  <a:srgbClr val="8A8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#DC2626</a:t>
            </a:r>
            <a:endParaRPr lang="en-US" sz="975" dirty="0"/>
          </a:p>
        </p:txBody>
      </p:sp>
      <p:sp>
        <p:nvSpPr>
          <p:cNvPr id="43" name="Shape 41"/>
          <p:cNvSpPr/>
          <p:nvPr/>
        </p:nvSpPr>
        <p:spPr>
          <a:xfrm>
            <a:off x="14782800" y="4372794"/>
            <a:ext cx="1771650" cy="933450"/>
          </a:xfrm>
          <a:prstGeom prst="roundRect">
            <a:avLst>
              <a:gd name="adj" fmla="val 16327"/>
            </a:avLst>
          </a:prstGeom>
          <a:solidFill>
            <a:srgbClr val="2563EB"/>
          </a:solidFill>
          <a:ln w="9525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4782800" y="5420544"/>
            <a:ext cx="1948815" cy="23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70"/>
              </a:lnSpc>
              <a:buNone/>
            </a:pPr>
            <a:r>
              <a:rPr lang="en-US" sz="1275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Info</a:t>
            </a:r>
            <a:endParaRPr lang="en-US" sz="1275" dirty="0"/>
          </a:p>
        </p:txBody>
      </p:sp>
      <p:sp>
        <p:nvSpPr>
          <p:cNvPr id="45" name="Text 43"/>
          <p:cNvSpPr/>
          <p:nvPr/>
        </p:nvSpPr>
        <p:spPr>
          <a:xfrm>
            <a:off x="14782800" y="5652939"/>
            <a:ext cx="1948815" cy="211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75" dirty="0">
                <a:solidFill>
                  <a:srgbClr val="8A8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#2563EB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81051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1125" spc="225" kern="0" dirty="0">
                <a:solidFill>
                  <a:srgbClr val="E834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— CHARTE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914400" y="1000125"/>
            <a:ext cx="18105120" cy="57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102"/>
              </a:lnSpc>
              <a:buNone/>
            </a:pPr>
            <a:r>
              <a:rPr lang="en-US" sz="4050" b="1" spc="-122" kern="0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Typographie, grille &amp; formes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914400" y="2530748"/>
            <a:ext cx="9017496" cy="9525"/>
          </a:xfrm>
          <a:prstGeom prst="rect">
            <a:avLst/>
          </a:prstGeom>
          <a:solidFill>
            <a:srgbClr val="E4DED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21148"/>
            <a:ext cx="362963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632"/>
              </a:lnSpc>
              <a:buNone/>
            </a:pPr>
            <a:r>
              <a:rPr lang="en-US" sz="3300" b="1" spc="-99" kern="0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Pizza Margherita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7874496" y="2116410"/>
            <a:ext cx="2263140" cy="2381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25" dirty="0">
                <a:solidFill>
                  <a:srgbClr val="8A8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Display · 800 · 44 · -3%</a:t>
            </a:r>
            <a:endParaRPr lang="en-US" sz="1125" dirty="0"/>
          </a:p>
        </p:txBody>
      </p:sp>
      <p:sp>
        <p:nvSpPr>
          <p:cNvPr id="7" name="Shape 5"/>
          <p:cNvSpPr/>
          <p:nvPr/>
        </p:nvSpPr>
        <p:spPr>
          <a:xfrm>
            <a:off x="914400" y="3287985"/>
            <a:ext cx="9017496" cy="9525"/>
          </a:xfrm>
          <a:prstGeom prst="rect">
            <a:avLst/>
          </a:prstGeom>
          <a:solidFill>
            <a:srgbClr val="E4DED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768873"/>
            <a:ext cx="179108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45"/>
              </a:lnSpc>
              <a:buNone/>
            </a:pPr>
            <a:r>
              <a:rPr lang="en-US" sz="2250" b="1" spc="-45" kern="0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Titre d'écran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8303121" y="2873648"/>
            <a:ext cx="1791653" cy="2381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25" dirty="0">
                <a:solidFill>
                  <a:srgbClr val="8A8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H1 écran · 700 · 30</a:t>
            </a:r>
            <a:endParaRPr lang="en-US" sz="1125" dirty="0"/>
          </a:p>
        </p:txBody>
      </p:sp>
      <p:sp>
        <p:nvSpPr>
          <p:cNvPr id="10" name="Shape 8"/>
          <p:cNvSpPr/>
          <p:nvPr/>
        </p:nvSpPr>
        <p:spPr>
          <a:xfrm>
            <a:off x="914400" y="3988966"/>
            <a:ext cx="9017496" cy="9525"/>
          </a:xfrm>
          <a:prstGeom prst="rect">
            <a:avLst/>
          </a:prstGeom>
          <a:solidFill>
            <a:srgbClr val="E4DED8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26110"/>
            <a:ext cx="1949388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167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Nom de restaurant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817471" y="3578498"/>
            <a:ext cx="1190625" cy="2381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25" dirty="0">
                <a:solidFill>
                  <a:srgbClr val="8A8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H2 · 600 · 22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914400" y="4689053"/>
            <a:ext cx="9017496" cy="9525"/>
          </a:xfrm>
          <a:prstGeom prst="rect">
            <a:avLst/>
          </a:prstGeom>
          <a:solidFill>
            <a:srgbClr val="E4DED8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227091"/>
            <a:ext cx="3826579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024"/>
              </a:lnSpc>
              <a:buNone/>
            </a:pPr>
            <a:r>
              <a:rPr lang="en-US" sz="1425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Description courte du plat, deux lignes max.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8303121" y="4269953"/>
            <a:ext cx="1791653" cy="2381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25" dirty="0">
                <a:solidFill>
                  <a:srgbClr val="8A8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Corps · 400 · 19/29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914400" y="5317703"/>
            <a:ext cx="9017496" cy="9525"/>
          </a:xfrm>
          <a:prstGeom prst="rect">
            <a:avLst/>
          </a:prstGeom>
          <a:solidFill>
            <a:srgbClr val="E4DED8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960516"/>
            <a:ext cx="180867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50"/>
              </a:lnSpc>
              <a:buNone/>
            </a:pPr>
            <a:r>
              <a:rPr lang="en-US" sz="1125" b="1" spc="113" kern="0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LABEL / CATÉGORIE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7960221" y="4927178"/>
            <a:ext cx="2168843" cy="2381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25" dirty="0">
                <a:solidFill>
                  <a:srgbClr val="8A8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Label · 600 · 15 · +10%</a:t>
            </a:r>
            <a:endParaRPr lang="en-US" sz="1125" dirty="0"/>
          </a:p>
        </p:txBody>
      </p:sp>
      <p:sp>
        <p:nvSpPr>
          <p:cNvPr id="19" name="Shape 17"/>
          <p:cNvSpPr/>
          <p:nvPr/>
        </p:nvSpPr>
        <p:spPr>
          <a:xfrm>
            <a:off x="914400" y="5960641"/>
            <a:ext cx="9017496" cy="9525"/>
          </a:xfrm>
          <a:prstGeom prst="rect">
            <a:avLst/>
          </a:prstGeom>
          <a:solidFill>
            <a:srgbClr val="E4DED8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555828"/>
            <a:ext cx="191075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304"/>
              </a:lnSpc>
              <a:buNone/>
            </a:pPr>
            <a:r>
              <a:rPr lang="en-US" sz="1575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Ajouter · 25 000 Ar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7874496" y="5570116"/>
            <a:ext cx="2263140" cy="2381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25" dirty="0">
                <a:solidFill>
                  <a:srgbClr val="8A8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Bouton &amp; prix · 700 · 21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10693896" y="1921148"/>
            <a:ext cx="6679704" cy="4014788"/>
          </a:xfrm>
          <a:prstGeom prst="roundRect">
            <a:avLst>
              <a:gd name="adj" fmla="val 66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8575" dir="5400000">
              <a:srgbClr val="1A1A1A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1036796" y="2264048"/>
            <a:ext cx="65932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Grille &amp; formes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036796" y="2664098"/>
            <a:ext cx="659329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024"/>
              </a:lnSpc>
              <a:buNone/>
            </a:pPr>
            <a:r>
              <a:rPr lang="en-US" sz="1425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Base </a:t>
            </a:r>
            <a:pPr algn="l" indent="0" marL="0">
              <a:lnSpc>
                <a:spcPct val="139024"/>
              </a:lnSpc>
              <a:buNone/>
            </a:pPr>
            <a:r>
              <a:rPr lang="en-US" sz="1425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 px </a:t>
            </a:r>
            <a:pPr algn="l" indent="0" marL="0">
              <a:lnSpc>
                <a:spcPct val="139024"/>
              </a:lnSpc>
              <a:buNone/>
            </a:pPr>
            <a:r>
              <a:rPr lang="en-US" sz="1425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4 · 8 · 12 · 16 · 20 · 24 · 32 · 40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11036796" y="3107010"/>
            <a:ext cx="659329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024"/>
              </a:lnSpc>
              <a:buNone/>
            </a:pPr>
            <a:r>
              <a:rPr lang="en-US" sz="1425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Marges d'écran </a:t>
            </a:r>
            <a:pPr algn="l" indent="0" marL="0">
              <a:lnSpc>
                <a:spcPct val="139024"/>
              </a:lnSpc>
              <a:buNone/>
            </a:pPr>
            <a:r>
              <a:rPr lang="en-US" sz="1425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20 px</a:t>
            </a:r>
            <a:pPr algn="l" indent="0" marL="0">
              <a:lnSpc>
                <a:spcPct val="139024"/>
              </a:lnSpc>
              <a:buNone/>
            </a:pPr>
            <a:r>
              <a:rPr lang="en-US" sz="1425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gouttière </a:t>
            </a:r>
            <a:pPr algn="l" indent="0" marL="0">
              <a:lnSpc>
                <a:spcPct val="139024"/>
              </a:lnSpc>
              <a:buNone/>
            </a:pPr>
            <a:r>
              <a:rPr lang="en-US" sz="1425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12 px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11036796" y="3549923"/>
            <a:ext cx="659329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024"/>
              </a:lnSpc>
              <a:buNone/>
            </a:pPr>
            <a:r>
              <a:rPr lang="en-US" sz="1425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Rayons — champ 12, carte 20, feuille 28, bouton pilule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11036796" y="3992835"/>
            <a:ext cx="659329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024"/>
              </a:lnSpc>
              <a:buNone/>
            </a:pPr>
            <a:r>
              <a:rPr lang="en-US" sz="1425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Ombre carte </a:t>
            </a:r>
            <a:pPr algn="l" indent="0" marL="0">
              <a:lnSpc>
                <a:spcPct val="139024"/>
              </a:lnSpc>
              <a:buNone/>
            </a:pPr>
            <a:r>
              <a:rPr lang="en-US" sz="1200" dirty="0">
                <a:solidFill>
                  <a:srgbClr val="4A47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 2px 8px rgba(26,26,26,.06)</a:t>
            </a:r>
            <a:endParaRPr lang="en-US" sz="1425" dirty="0"/>
          </a:p>
        </p:txBody>
      </p:sp>
      <p:sp>
        <p:nvSpPr>
          <p:cNvPr id="28" name="Text 26"/>
          <p:cNvSpPr/>
          <p:nvPr/>
        </p:nvSpPr>
        <p:spPr>
          <a:xfrm>
            <a:off x="11036796" y="4435748"/>
            <a:ext cx="659329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024"/>
              </a:lnSpc>
              <a:buNone/>
            </a:pPr>
            <a:r>
              <a:rPr lang="en-US" sz="1425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Ombre flottante </a:t>
            </a:r>
            <a:pPr algn="l" indent="0" marL="0">
              <a:lnSpc>
                <a:spcPct val="139024"/>
              </a:lnSpc>
              <a:buNone/>
            </a:pPr>
            <a:r>
              <a:rPr lang="en-US" sz="1200" dirty="0">
                <a:solidFill>
                  <a:srgbClr val="4A47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 10px 28px rgba(232,52,42,.28)</a:t>
            </a:r>
            <a:endParaRPr lang="en-US" sz="1425" dirty="0"/>
          </a:p>
        </p:txBody>
      </p:sp>
      <p:sp>
        <p:nvSpPr>
          <p:cNvPr id="29" name="Text 27"/>
          <p:cNvSpPr/>
          <p:nvPr/>
        </p:nvSpPr>
        <p:spPr>
          <a:xfrm>
            <a:off x="11036796" y="4878660"/>
            <a:ext cx="659329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024"/>
              </a:lnSpc>
              <a:buNone/>
            </a:pPr>
            <a:r>
              <a:rPr lang="en-US" sz="1425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Icônes Material Symbols Rounded, 22–24 px</a:t>
            </a:r>
            <a:endParaRPr lang="en-US" sz="1425" dirty="0"/>
          </a:p>
        </p:txBody>
      </p:sp>
      <p:sp>
        <p:nvSpPr>
          <p:cNvPr id="30" name="Text 28"/>
          <p:cNvSpPr/>
          <p:nvPr/>
        </p:nvSpPr>
        <p:spPr>
          <a:xfrm>
            <a:off x="11036796" y="5321573"/>
            <a:ext cx="659329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024"/>
              </a:lnSpc>
              <a:buNone/>
            </a:pPr>
            <a:r>
              <a:rPr lang="en-US" sz="1425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Photos de plats : cadrage serré, lumière chaude, fond crème</a:t>
            </a:r>
            <a:endParaRPr lang="en-US" sz="14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81051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1125" spc="225" kern="0" dirty="0">
                <a:solidFill>
                  <a:srgbClr val="E834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— CHARTE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914400" y="1000125"/>
            <a:ext cx="18105120" cy="57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102"/>
              </a:lnSpc>
              <a:buNone/>
            </a:pPr>
            <a:r>
              <a:rPr lang="en-US" sz="4050" b="1" spc="-122" kern="0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Composants réutilisables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914400" y="1863998"/>
            <a:ext cx="3584257" cy="4017073"/>
          </a:xfrm>
          <a:prstGeom prst="roundRect">
            <a:avLst>
              <a:gd name="adj" fmla="val 7547"/>
            </a:avLst>
          </a:prstGeom>
          <a:solidFill>
            <a:srgbClr val="FCFAF8"/>
          </a:solidFill>
          <a:ln w="13526">
            <a:solidFill>
              <a:srgbClr val="DCD8D3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1198435" y="2148033"/>
            <a:ext cx="3317805" cy="1733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1065" spc="149" kern="0" dirty="0">
                <a:solidFill>
                  <a:srgbClr val="8A8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BOUTONS</a:t>
            </a:r>
            <a:endParaRPr lang="en-US" sz="1065" dirty="0"/>
          </a:p>
        </p:txBody>
      </p:sp>
      <p:sp>
        <p:nvSpPr>
          <p:cNvPr id="6" name="Shape 4"/>
          <p:cNvSpPr/>
          <p:nvPr/>
        </p:nvSpPr>
        <p:spPr>
          <a:xfrm>
            <a:off x="1198435" y="2445594"/>
            <a:ext cx="2975610" cy="703326"/>
          </a:xfrm>
          <a:prstGeom prst="roundRect">
            <a:avLst>
              <a:gd name="adj" fmla="val 50000"/>
            </a:avLst>
          </a:prstGeom>
          <a:solidFill>
            <a:srgbClr val="E8342A"/>
          </a:solidFill>
          <a:ln/>
          <a:effectLst>
            <a:outerShdw sx="100000" sy="100000" kx="0" ky="0" algn="bl" rotWithShape="0" blurRad="152400" dist="57150" dir="5400000">
              <a:srgbClr val="E8342A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53801" y="2445594"/>
            <a:ext cx="3064878" cy="7414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93750"/>
              </a:lnSpc>
              <a:buNone/>
            </a:pPr>
            <a:r>
              <a:rPr lang="en-US" sz="1597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Ajouter au panier</a:t>
            </a:r>
            <a:endParaRPr lang="en-US" sz="1597" dirty="0"/>
          </a:p>
        </p:txBody>
      </p:sp>
      <p:sp>
        <p:nvSpPr>
          <p:cNvPr id="8" name="Shape 6"/>
          <p:cNvSpPr/>
          <p:nvPr/>
        </p:nvSpPr>
        <p:spPr>
          <a:xfrm>
            <a:off x="1198435" y="3311226"/>
            <a:ext cx="3016186" cy="74390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288">
            <a:solidFill>
              <a:srgbClr val="DCD8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3481" y="3331515"/>
            <a:ext cx="3066095" cy="7414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93750"/>
              </a:lnSpc>
              <a:buNone/>
            </a:pPr>
            <a:r>
              <a:rPr lang="en-US" sz="1597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Secondaire</a:t>
            </a:r>
            <a:endParaRPr lang="en-US" sz="1597" dirty="0"/>
          </a:p>
        </p:txBody>
      </p:sp>
      <p:sp>
        <p:nvSpPr>
          <p:cNvPr id="10" name="Shape 8"/>
          <p:cNvSpPr/>
          <p:nvPr/>
        </p:nvSpPr>
        <p:spPr>
          <a:xfrm>
            <a:off x="1198435" y="4217435"/>
            <a:ext cx="2975610" cy="703326"/>
          </a:xfrm>
          <a:prstGeom prst="roundRect">
            <a:avLst>
              <a:gd name="adj" fmla="val 50000"/>
            </a:avLst>
          </a:prstGeom>
          <a:solidFill>
            <a:srgbClr val="F0EDE9"/>
          </a:solidFill>
          <a:ln/>
        </p:spPr>
      </p:sp>
      <p:sp>
        <p:nvSpPr>
          <p:cNvPr id="11" name="Text 9"/>
          <p:cNvSpPr/>
          <p:nvPr/>
        </p:nvSpPr>
        <p:spPr>
          <a:xfrm>
            <a:off x="1153801" y="4217435"/>
            <a:ext cx="3064878" cy="7414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93750"/>
              </a:lnSpc>
              <a:buNone/>
            </a:pPr>
            <a:r>
              <a:rPr lang="en-US" sz="1597" b="1" dirty="0">
                <a:solidFill>
                  <a:srgbClr val="B4AFA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Désactivé</a:t>
            </a:r>
            <a:endParaRPr lang="en-US" sz="1597" dirty="0"/>
          </a:p>
        </p:txBody>
      </p:sp>
      <p:sp>
        <p:nvSpPr>
          <p:cNvPr id="12" name="Shape 10"/>
          <p:cNvSpPr/>
          <p:nvPr/>
        </p:nvSpPr>
        <p:spPr>
          <a:xfrm>
            <a:off x="1198435" y="5083066"/>
            <a:ext cx="909273" cy="486918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1387792" y="5083066"/>
            <a:ext cx="606759" cy="5250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92857"/>
              </a:lnSpc>
              <a:buNone/>
            </a:pPr>
            <a:r>
              <a:rPr lang="en-US" sz="1385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Pizzas</a:t>
            </a:r>
            <a:endParaRPr lang="en-US" sz="1385" dirty="0"/>
          </a:p>
        </p:txBody>
      </p:sp>
      <p:sp>
        <p:nvSpPr>
          <p:cNvPr id="14" name="Shape 12"/>
          <p:cNvSpPr/>
          <p:nvPr/>
        </p:nvSpPr>
        <p:spPr>
          <a:xfrm>
            <a:off x="2215912" y="5083066"/>
            <a:ext cx="894796" cy="5139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526">
            <a:solidFill>
              <a:srgbClr val="DCD8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18795" y="5096592"/>
            <a:ext cx="565231" cy="5250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92857"/>
              </a:lnSpc>
              <a:buNone/>
            </a:pPr>
            <a:r>
              <a:rPr lang="en-US" sz="1385" b="1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Tacos</a:t>
            </a:r>
            <a:endParaRPr lang="en-US" sz="1385" dirty="0"/>
          </a:p>
        </p:txBody>
      </p:sp>
      <p:sp>
        <p:nvSpPr>
          <p:cNvPr id="16" name="Shape 14"/>
          <p:cNvSpPr/>
          <p:nvPr/>
        </p:nvSpPr>
        <p:spPr>
          <a:xfrm>
            <a:off x="4823269" y="1863998"/>
            <a:ext cx="4355211" cy="3990023"/>
          </a:xfrm>
          <a:prstGeom prst="roundRect">
            <a:avLst>
              <a:gd name="adj" fmla="val 6780"/>
            </a:avLst>
          </a:prstGeom>
          <a:solidFill>
            <a:srgbClr val="FCFAF8"/>
          </a:solidFill>
          <a:ln w="13526">
            <a:solidFill>
              <a:srgbClr val="DCD8D3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107305" y="2148033"/>
            <a:ext cx="4165854" cy="1733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1065" spc="149" kern="0" dirty="0">
                <a:solidFill>
                  <a:srgbClr val="8A8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BADGES DE STATUT</a:t>
            </a:r>
            <a:endParaRPr lang="en-US" sz="1065" dirty="0"/>
          </a:p>
        </p:txBody>
      </p:sp>
      <p:sp>
        <p:nvSpPr>
          <p:cNvPr id="18" name="Shape 16"/>
          <p:cNvSpPr/>
          <p:nvPr/>
        </p:nvSpPr>
        <p:spPr>
          <a:xfrm>
            <a:off x="5107305" y="2445594"/>
            <a:ext cx="885181" cy="351663"/>
          </a:xfrm>
          <a:prstGeom prst="roundRect">
            <a:avLst>
              <a:gd name="adj" fmla="val 50000"/>
            </a:avLst>
          </a:prstGeom>
          <a:solidFill>
            <a:srgbClr val="E7F6EC"/>
          </a:solidFill>
          <a:ln/>
        </p:spPr>
      </p:sp>
      <p:sp>
        <p:nvSpPr>
          <p:cNvPr id="19" name="Shape 17"/>
          <p:cNvSpPr/>
          <p:nvPr/>
        </p:nvSpPr>
        <p:spPr>
          <a:xfrm>
            <a:off x="5242560" y="2580849"/>
            <a:ext cx="81153" cy="81153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5391341" y="2540273"/>
            <a:ext cx="542090" cy="200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1172" b="1" dirty="0">
                <a:solidFill>
                  <a:srgbClr val="15803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Ouvert</a:t>
            </a:r>
            <a:endParaRPr lang="en-US" sz="1172" dirty="0"/>
          </a:p>
        </p:txBody>
      </p:sp>
      <p:sp>
        <p:nvSpPr>
          <p:cNvPr id="21" name="Shape 19"/>
          <p:cNvSpPr/>
          <p:nvPr/>
        </p:nvSpPr>
        <p:spPr>
          <a:xfrm>
            <a:off x="6100689" y="2445594"/>
            <a:ext cx="854326" cy="351663"/>
          </a:xfrm>
          <a:prstGeom prst="roundRect">
            <a:avLst>
              <a:gd name="adj" fmla="val 50000"/>
            </a:avLst>
          </a:prstGeom>
          <a:solidFill>
            <a:srgbClr val="F0EDE9"/>
          </a:solidFill>
          <a:ln/>
        </p:spPr>
      </p:sp>
      <p:sp>
        <p:nvSpPr>
          <p:cNvPr id="22" name="Shape 20"/>
          <p:cNvSpPr/>
          <p:nvPr/>
        </p:nvSpPr>
        <p:spPr>
          <a:xfrm>
            <a:off x="6235944" y="2580849"/>
            <a:ext cx="81153" cy="81153"/>
          </a:xfrm>
          <a:prstGeom prst="ellipse">
            <a:avLst/>
          </a:prstGeom>
          <a:solidFill>
            <a:srgbClr val="B4AFA9"/>
          </a:solidFill>
          <a:ln/>
        </p:spPr>
      </p:sp>
      <p:sp>
        <p:nvSpPr>
          <p:cNvPr id="23" name="Text 21"/>
          <p:cNvSpPr/>
          <p:nvPr/>
        </p:nvSpPr>
        <p:spPr>
          <a:xfrm>
            <a:off x="6384725" y="2540273"/>
            <a:ext cx="511235" cy="200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1172" b="1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Fermé</a:t>
            </a:r>
            <a:endParaRPr lang="en-US" sz="1172" dirty="0"/>
          </a:p>
        </p:txBody>
      </p:sp>
      <p:sp>
        <p:nvSpPr>
          <p:cNvPr id="24" name="Shape 22"/>
          <p:cNvSpPr/>
          <p:nvPr/>
        </p:nvSpPr>
        <p:spPr>
          <a:xfrm>
            <a:off x="7063219" y="2445594"/>
            <a:ext cx="1277103" cy="351663"/>
          </a:xfrm>
          <a:prstGeom prst="roundRect">
            <a:avLst>
              <a:gd name="adj" fmla="val 50000"/>
            </a:avLst>
          </a:prstGeom>
          <a:solidFill>
            <a:srgbClr val="FFF3E2"/>
          </a:solidFill>
          <a:ln/>
        </p:spPr>
      </p:sp>
      <p:sp>
        <p:nvSpPr>
          <p:cNvPr id="25" name="Text 23"/>
          <p:cNvSpPr/>
          <p:nvPr/>
        </p:nvSpPr>
        <p:spPr>
          <a:xfrm>
            <a:off x="7198474" y="2445594"/>
            <a:ext cx="1082793" cy="389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1172" b="1" dirty="0">
                <a:solidFill>
                  <a:srgbClr val="B4620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 préparation</a:t>
            </a:r>
            <a:endParaRPr lang="en-US" sz="1172" dirty="0"/>
          </a:p>
        </p:txBody>
      </p:sp>
      <p:sp>
        <p:nvSpPr>
          <p:cNvPr id="26" name="Shape 24"/>
          <p:cNvSpPr/>
          <p:nvPr/>
        </p:nvSpPr>
        <p:spPr>
          <a:xfrm>
            <a:off x="5107305" y="2905461"/>
            <a:ext cx="1115960" cy="351663"/>
          </a:xfrm>
          <a:prstGeom prst="roundRect">
            <a:avLst>
              <a:gd name="adj" fmla="val 50000"/>
            </a:avLst>
          </a:prstGeom>
          <a:solidFill>
            <a:srgbClr val="FDECEB"/>
          </a:solidFill>
          <a:ln/>
        </p:spPr>
      </p:sp>
      <p:sp>
        <p:nvSpPr>
          <p:cNvPr id="27" name="Text 25"/>
          <p:cNvSpPr/>
          <p:nvPr/>
        </p:nvSpPr>
        <p:spPr>
          <a:xfrm>
            <a:off x="5242560" y="2905461"/>
            <a:ext cx="921650" cy="389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1172" b="1" dirty="0">
                <a:solidFill>
                  <a:srgbClr val="C4241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Indisponible</a:t>
            </a:r>
            <a:endParaRPr lang="en-US" sz="1172" dirty="0"/>
          </a:p>
        </p:txBody>
      </p:sp>
      <p:sp>
        <p:nvSpPr>
          <p:cNvPr id="28" name="Shape 26"/>
          <p:cNvSpPr/>
          <p:nvPr/>
        </p:nvSpPr>
        <p:spPr>
          <a:xfrm>
            <a:off x="6331468" y="2905461"/>
            <a:ext cx="690857" cy="351663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/>
        </p:spPr>
      </p:sp>
      <p:sp>
        <p:nvSpPr>
          <p:cNvPr id="29" name="Text 27"/>
          <p:cNvSpPr/>
          <p:nvPr/>
        </p:nvSpPr>
        <p:spPr>
          <a:xfrm>
            <a:off x="6466723" y="2905461"/>
            <a:ext cx="496547" cy="389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1172" b="1" dirty="0">
                <a:solidFill>
                  <a:srgbClr val="FFC72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Livrée</a:t>
            </a:r>
            <a:endParaRPr lang="en-US" sz="1172" dirty="0"/>
          </a:p>
        </p:txBody>
      </p:sp>
      <p:sp>
        <p:nvSpPr>
          <p:cNvPr id="30" name="Text 28"/>
          <p:cNvSpPr/>
          <p:nvPr/>
        </p:nvSpPr>
        <p:spPr>
          <a:xfrm>
            <a:off x="5107305" y="3527634"/>
            <a:ext cx="4165854" cy="1733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1065" spc="149" kern="0" dirty="0">
                <a:solidFill>
                  <a:srgbClr val="8A8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CHAMP DE SAISIE</a:t>
            </a:r>
            <a:endParaRPr lang="en-US" sz="1065" dirty="0"/>
          </a:p>
        </p:txBody>
      </p:sp>
      <p:sp>
        <p:nvSpPr>
          <p:cNvPr id="31" name="Text 29"/>
          <p:cNvSpPr/>
          <p:nvPr/>
        </p:nvSpPr>
        <p:spPr>
          <a:xfrm>
            <a:off x="5107305" y="3825195"/>
            <a:ext cx="4165854" cy="186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1172" b="1" spc="70" kern="0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QUARTIER / ZONE</a:t>
            </a:r>
            <a:endParaRPr lang="en-US" sz="1172" dirty="0"/>
          </a:p>
        </p:txBody>
      </p:sp>
      <p:sp>
        <p:nvSpPr>
          <p:cNvPr id="32" name="Shape 30"/>
          <p:cNvSpPr/>
          <p:nvPr/>
        </p:nvSpPr>
        <p:spPr>
          <a:xfrm>
            <a:off x="5107305" y="4055129"/>
            <a:ext cx="3787140" cy="716852"/>
          </a:xfrm>
          <a:prstGeom prst="roundRect">
            <a:avLst>
              <a:gd name="adj" fmla="val 22641"/>
            </a:avLst>
          </a:prstGeom>
          <a:solidFill>
            <a:srgbClr val="FFFFFF"/>
          </a:solidFill>
          <a:ln w="20288">
            <a:solidFill>
              <a:srgbClr val="E834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16950" y="4075417"/>
            <a:ext cx="3481464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93750"/>
              </a:lnSpc>
              <a:buNone/>
            </a:pPr>
            <a:r>
              <a:rPr lang="en-US" sz="1597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Ambondrona</a:t>
            </a:r>
            <a:endParaRPr lang="en-US" sz="1597" dirty="0"/>
          </a:p>
        </p:txBody>
      </p:sp>
      <p:sp>
        <p:nvSpPr>
          <p:cNvPr id="34" name="Shape 32"/>
          <p:cNvSpPr/>
          <p:nvPr/>
        </p:nvSpPr>
        <p:spPr>
          <a:xfrm>
            <a:off x="5107305" y="4853133"/>
            <a:ext cx="3787140" cy="716851"/>
          </a:xfrm>
          <a:prstGeom prst="roundRect">
            <a:avLst>
              <a:gd name="adj" fmla="val 22642"/>
            </a:avLst>
          </a:prstGeom>
          <a:solidFill>
            <a:srgbClr val="FFFFFF"/>
          </a:solidFill>
          <a:ln w="20288">
            <a:solidFill>
              <a:srgbClr val="DCD8D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16950" y="4873421"/>
            <a:ext cx="3481464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93750"/>
              </a:lnSpc>
              <a:buNone/>
            </a:pPr>
            <a:r>
              <a:rPr lang="en-US" sz="1597" dirty="0">
                <a:solidFill>
                  <a:srgbClr val="B4AFA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Point de repère…</a:t>
            </a:r>
            <a:endParaRPr lang="en-US" sz="1597" dirty="0"/>
          </a:p>
        </p:txBody>
      </p:sp>
      <p:sp>
        <p:nvSpPr>
          <p:cNvPr id="36" name="Shape 34"/>
          <p:cNvSpPr/>
          <p:nvPr/>
        </p:nvSpPr>
        <p:spPr>
          <a:xfrm>
            <a:off x="9503092" y="1863998"/>
            <a:ext cx="5220843" cy="5429009"/>
          </a:xfrm>
          <a:prstGeom prst="roundRect">
            <a:avLst>
              <a:gd name="adj" fmla="val 5181"/>
            </a:avLst>
          </a:prstGeom>
          <a:solidFill>
            <a:srgbClr val="FCFAF8"/>
          </a:solidFill>
          <a:ln w="13526">
            <a:solidFill>
              <a:srgbClr val="DCD8D3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9787128" y="2148033"/>
            <a:ext cx="5118049" cy="1733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1065" spc="149" kern="0" dirty="0">
                <a:solidFill>
                  <a:srgbClr val="8A8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CARTE RESTAURANT · CARTE PRODUIT</a:t>
            </a:r>
            <a:endParaRPr lang="en-US" sz="1065" dirty="0"/>
          </a:p>
        </p:txBody>
      </p:sp>
      <p:sp>
        <p:nvSpPr>
          <p:cNvPr id="38" name="Shape 36"/>
          <p:cNvSpPr/>
          <p:nvPr/>
        </p:nvSpPr>
        <p:spPr>
          <a:xfrm>
            <a:off x="9787128" y="2445594"/>
            <a:ext cx="4328159" cy="3048521"/>
          </a:xfrm>
          <a:prstGeom prst="roundRect">
            <a:avLst>
              <a:gd name="adj" fmla="val 88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A1A1A">
                <a:alpha val="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787128" y="2445594"/>
            <a:ext cx="4328159" cy="1758315"/>
          </a:xfrm>
          <a:prstGeom prst="rect">
            <a:avLst/>
          </a:prstGeom>
          <a:solidFill>
            <a:srgbClr val="FFE9CF"/>
          </a:solidFill>
          <a:ln/>
        </p:spPr>
      </p:sp>
      <p:sp>
        <p:nvSpPr>
          <p:cNvPr id="40" name="Text 38"/>
          <p:cNvSpPr/>
          <p:nvPr/>
        </p:nvSpPr>
        <p:spPr>
          <a:xfrm>
            <a:off x="9922383" y="3933399"/>
            <a:ext cx="968883" cy="1733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1065" dirty="0">
                <a:solidFill>
                  <a:srgbClr val="A974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photo resto</a:t>
            </a:r>
            <a:endParaRPr lang="en-US" sz="1065" dirty="0"/>
          </a:p>
        </p:txBody>
      </p:sp>
      <p:sp>
        <p:nvSpPr>
          <p:cNvPr id="41" name="Shape 39"/>
          <p:cNvSpPr/>
          <p:nvPr/>
        </p:nvSpPr>
        <p:spPr>
          <a:xfrm>
            <a:off x="13094852" y="3716991"/>
            <a:ext cx="885181" cy="35166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13230108" y="3852246"/>
            <a:ext cx="81152" cy="81153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3" name="Text 41"/>
          <p:cNvSpPr/>
          <p:nvPr/>
        </p:nvSpPr>
        <p:spPr>
          <a:xfrm>
            <a:off x="13378888" y="3811670"/>
            <a:ext cx="542090" cy="200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1172" b="1" dirty="0">
                <a:solidFill>
                  <a:srgbClr val="15803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Ouvert</a:t>
            </a:r>
            <a:endParaRPr lang="en-US" sz="1172" dirty="0"/>
          </a:p>
        </p:txBody>
      </p:sp>
      <p:sp>
        <p:nvSpPr>
          <p:cNvPr id="44" name="Text 42"/>
          <p:cNvSpPr/>
          <p:nvPr/>
        </p:nvSpPr>
        <p:spPr>
          <a:xfrm>
            <a:off x="10003536" y="4393266"/>
            <a:ext cx="4284878" cy="2977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14"/>
              </a:lnSpc>
              <a:buNone/>
            </a:pPr>
            <a:r>
              <a:rPr lang="en-US" sz="1704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Pizzeria Papillon</a:t>
            </a:r>
            <a:endParaRPr lang="en-US" sz="1704" dirty="0"/>
          </a:p>
        </p:txBody>
      </p:sp>
      <p:sp>
        <p:nvSpPr>
          <p:cNvPr id="45" name="Text 43"/>
          <p:cNvSpPr/>
          <p:nvPr/>
        </p:nvSpPr>
        <p:spPr>
          <a:xfrm>
            <a:off x="10003536" y="4693469"/>
            <a:ext cx="4284878" cy="28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85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Pizza · Italien — Hell-Ville</a:t>
            </a:r>
            <a:endParaRPr lang="en-US" sz="1385" dirty="0"/>
          </a:p>
        </p:txBody>
      </p:sp>
      <p:sp>
        <p:nvSpPr>
          <p:cNvPr id="46" name="Text 44"/>
          <p:cNvSpPr/>
          <p:nvPr/>
        </p:nvSpPr>
        <p:spPr>
          <a:xfrm>
            <a:off x="10003536" y="5074825"/>
            <a:ext cx="279083" cy="24098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1597" dirty="0">
                <a:solidFill>
                  <a:srgbClr val="FF8A1E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schedule</a:t>
            </a:r>
            <a:endParaRPr lang="en-US" sz="1597" dirty="0"/>
          </a:p>
        </p:txBody>
      </p:sp>
      <p:sp>
        <p:nvSpPr>
          <p:cNvPr id="47" name="Text 45"/>
          <p:cNvSpPr/>
          <p:nvPr/>
        </p:nvSpPr>
        <p:spPr>
          <a:xfrm>
            <a:off x="10260520" y="5088350"/>
            <a:ext cx="851908" cy="213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1278" b="1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25–35 min</a:t>
            </a:r>
            <a:endParaRPr lang="en-US" sz="1278" dirty="0"/>
          </a:p>
        </p:txBody>
      </p:sp>
      <p:sp>
        <p:nvSpPr>
          <p:cNvPr id="48" name="Text 46"/>
          <p:cNvSpPr/>
          <p:nvPr/>
        </p:nvSpPr>
        <p:spPr>
          <a:xfrm>
            <a:off x="11225586" y="5074825"/>
            <a:ext cx="279083" cy="24098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1597" dirty="0">
                <a:solidFill>
                  <a:srgbClr val="FF8A1E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two_wheeler</a:t>
            </a:r>
            <a:endParaRPr lang="en-US" sz="1597" dirty="0"/>
          </a:p>
        </p:txBody>
      </p:sp>
      <p:sp>
        <p:nvSpPr>
          <p:cNvPr id="49" name="Text 47"/>
          <p:cNvSpPr/>
          <p:nvPr/>
        </p:nvSpPr>
        <p:spPr>
          <a:xfrm>
            <a:off x="11482570" y="5088350"/>
            <a:ext cx="688335" cy="213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1278" b="1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5 000 Ar</a:t>
            </a:r>
            <a:endParaRPr lang="en-US" sz="1278" dirty="0"/>
          </a:p>
        </p:txBody>
      </p:sp>
      <p:sp>
        <p:nvSpPr>
          <p:cNvPr id="50" name="Shape 48"/>
          <p:cNvSpPr/>
          <p:nvPr/>
        </p:nvSpPr>
        <p:spPr>
          <a:xfrm>
            <a:off x="9787128" y="5656421"/>
            <a:ext cx="4652772" cy="13525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A1A1A">
                <a:alpha val="6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9949435" y="5818727"/>
            <a:ext cx="1027937" cy="1027938"/>
          </a:xfrm>
          <a:prstGeom prst="roundRect">
            <a:avLst>
              <a:gd name="adj" fmla="val 18421"/>
            </a:avLst>
          </a:prstGeom>
          <a:solidFill>
            <a:srgbClr val="FFE9CF"/>
          </a:solidFill>
          <a:ln/>
        </p:spPr>
      </p:sp>
      <p:sp>
        <p:nvSpPr>
          <p:cNvPr id="52" name="Text 50"/>
          <p:cNvSpPr/>
          <p:nvPr/>
        </p:nvSpPr>
        <p:spPr>
          <a:xfrm>
            <a:off x="9911335" y="5818727"/>
            <a:ext cx="1104137" cy="1066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78261"/>
              </a:lnSpc>
              <a:buNone/>
            </a:pPr>
            <a:r>
              <a:rPr lang="en-US" sz="958" dirty="0">
                <a:solidFill>
                  <a:srgbClr val="A974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plat</a:t>
            </a:r>
            <a:endParaRPr lang="en-US" sz="958" dirty="0"/>
          </a:p>
        </p:txBody>
      </p:sp>
      <p:sp>
        <p:nvSpPr>
          <p:cNvPr id="53" name="Text 51"/>
          <p:cNvSpPr/>
          <p:nvPr/>
        </p:nvSpPr>
        <p:spPr>
          <a:xfrm>
            <a:off x="11139678" y="5928304"/>
            <a:ext cx="2707804" cy="28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597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Pizza Margherita</a:t>
            </a:r>
            <a:endParaRPr lang="en-US" sz="1597" dirty="0"/>
          </a:p>
        </p:txBody>
      </p:sp>
      <p:sp>
        <p:nvSpPr>
          <p:cNvPr id="54" name="Text 52"/>
          <p:cNvSpPr/>
          <p:nvPr/>
        </p:nvSpPr>
        <p:spPr>
          <a:xfrm>
            <a:off x="11139678" y="6198815"/>
            <a:ext cx="2707804" cy="265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1278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Tomate, mozzarella, basilic frais</a:t>
            </a:r>
            <a:endParaRPr lang="en-US" sz="1278" dirty="0"/>
          </a:p>
        </p:txBody>
      </p:sp>
      <p:sp>
        <p:nvSpPr>
          <p:cNvPr id="55" name="Text 53"/>
          <p:cNvSpPr/>
          <p:nvPr/>
        </p:nvSpPr>
        <p:spPr>
          <a:xfrm>
            <a:off x="11139678" y="6534205"/>
            <a:ext cx="2707804" cy="240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50"/>
              </a:lnSpc>
              <a:buNone/>
            </a:pPr>
            <a:r>
              <a:rPr lang="en-US" sz="1597" b="1" dirty="0">
                <a:solidFill>
                  <a:srgbClr val="E8342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25 000 Ar</a:t>
            </a:r>
            <a:endParaRPr lang="en-US" sz="1597" dirty="0"/>
          </a:p>
        </p:txBody>
      </p:sp>
      <p:sp>
        <p:nvSpPr>
          <p:cNvPr id="56" name="Shape 54"/>
          <p:cNvSpPr/>
          <p:nvPr/>
        </p:nvSpPr>
        <p:spPr>
          <a:xfrm>
            <a:off x="13763625" y="6075712"/>
            <a:ext cx="513969" cy="513969"/>
          </a:xfrm>
          <a:prstGeom prst="roundRect">
            <a:avLst>
              <a:gd name="adj" fmla="val 31579"/>
            </a:avLst>
          </a:prstGeom>
          <a:solidFill>
            <a:srgbClr val="E8342A"/>
          </a:solidFill>
          <a:ln/>
          <a:effectLst>
            <a:outerShdw sx="100000" sy="100000" kx="0" ky="0" algn="bl" rotWithShape="0" blurRad="114300" dist="38100" dir="5400000">
              <a:srgbClr val="E8342A">
                <a:alpha val="2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13871829" y="6183916"/>
            <a:ext cx="373761" cy="3356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615"/>
              </a:lnSpc>
              <a:buNone/>
            </a:pPr>
            <a:r>
              <a:rPr lang="en-US" sz="2343" dirty="0">
                <a:solidFill>
                  <a:srgbClr val="FFFFFF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add</a:t>
            </a:r>
            <a:endParaRPr lang="en-US" sz="2343" dirty="0"/>
          </a:p>
        </p:txBody>
      </p:sp>
      <p:sp>
        <p:nvSpPr>
          <p:cNvPr id="58" name="Shape 56"/>
          <p:cNvSpPr/>
          <p:nvPr/>
        </p:nvSpPr>
        <p:spPr>
          <a:xfrm>
            <a:off x="914400" y="7617619"/>
            <a:ext cx="4977384" cy="3935920"/>
          </a:xfrm>
          <a:prstGeom prst="roundRect">
            <a:avLst>
              <a:gd name="adj" fmla="val 6873"/>
            </a:avLst>
          </a:prstGeom>
          <a:solidFill>
            <a:srgbClr val="FCFAF8"/>
          </a:solidFill>
          <a:ln w="13526">
            <a:solidFill>
              <a:srgbClr val="DCD8D3"/>
            </a:solidFill>
            <a:prstDash val="dash"/>
          </a:ln>
        </p:spPr>
      </p:sp>
      <p:sp>
        <p:nvSpPr>
          <p:cNvPr id="59" name="Text 57"/>
          <p:cNvSpPr/>
          <p:nvPr/>
        </p:nvSpPr>
        <p:spPr>
          <a:xfrm>
            <a:off x="1198435" y="7901654"/>
            <a:ext cx="4850244" cy="1733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1065" spc="149" kern="0" dirty="0">
                <a:solidFill>
                  <a:srgbClr val="8A8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PANIER FLOTTANT · NAV</a:t>
            </a:r>
            <a:endParaRPr lang="en-US" sz="1065" dirty="0"/>
          </a:p>
        </p:txBody>
      </p:sp>
      <p:sp>
        <p:nvSpPr>
          <p:cNvPr id="60" name="Shape 58"/>
          <p:cNvSpPr/>
          <p:nvPr/>
        </p:nvSpPr>
        <p:spPr>
          <a:xfrm>
            <a:off x="1198435" y="8199215"/>
            <a:ext cx="4409313" cy="757428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/>
          <a:effectLst>
            <a:outerShdw sx="100000" sy="100000" kx="0" ky="0" algn="bl" rotWithShape="0" blurRad="266700" dist="95250" dir="5400000">
              <a:srgbClr val="1A1A1A">
                <a:alpha val="28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1441895" y="8429148"/>
            <a:ext cx="373761" cy="3356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615"/>
              </a:lnSpc>
              <a:buNone/>
            </a:pPr>
            <a:r>
              <a:rPr lang="en-US" sz="2343" dirty="0">
                <a:solidFill>
                  <a:srgbClr val="FFC72C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shopping_bag</a:t>
            </a:r>
            <a:endParaRPr lang="en-US" sz="2343" dirty="0"/>
          </a:p>
        </p:txBody>
      </p:sp>
      <p:sp>
        <p:nvSpPr>
          <p:cNvPr id="62" name="Text 60"/>
          <p:cNvSpPr/>
          <p:nvPr/>
        </p:nvSpPr>
        <p:spPr>
          <a:xfrm>
            <a:off x="1874711" y="8469725"/>
            <a:ext cx="898085" cy="247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323"/>
              </a:lnSpc>
              <a:buNone/>
            </a:pPr>
            <a:r>
              <a:rPr lang="en-US" sz="1491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 articles</a:t>
            </a:r>
            <a:endParaRPr lang="en-US" sz="1491" dirty="0"/>
          </a:p>
        </p:txBody>
      </p:sp>
      <p:sp>
        <p:nvSpPr>
          <p:cNvPr id="63" name="Shape 61"/>
          <p:cNvSpPr/>
          <p:nvPr/>
        </p:nvSpPr>
        <p:spPr>
          <a:xfrm>
            <a:off x="4219905" y="8307419"/>
            <a:ext cx="1279639" cy="541020"/>
          </a:xfrm>
          <a:prstGeom prst="roundRect">
            <a:avLst>
              <a:gd name="adj" fmla="val 50000"/>
            </a:avLst>
          </a:prstGeom>
          <a:solidFill>
            <a:srgbClr val="E8342A"/>
          </a:solidFill>
          <a:ln/>
        </p:spPr>
      </p:sp>
      <p:sp>
        <p:nvSpPr>
          <p:cNvPr id="64" name="Text 62"/>
          <p:cNvSpPr/>
          <p:nvPr/>
        </p:nvSpPr>
        <p:spPr>
          <a:xfrm>
            <a:off x="4436313" y="8307419"/>
            <a:ext cx="923023" cy="579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90323"/>
              </a:lnSpc>
              <a:buNone/>
            </a:pPr>
            <a:r>
              <a:rPr lang="en-US" sz="1491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73 000 Ar</a:t>
            </a:r>
            <a:endParaRPr lang="en-US" sz="1491" dirty="0"/>
          </a:p>
        </p:txBody>
      </p:sp>
      <p:sp>
        <p:nvSpPr>
          <p:cNvPr id="65" name="Shape 63"/>
          <p:cNvSpPr/>
          <p:nvPr/>
        </p:nvSpPr>
        <p:spPr>
          <a:xfrm>
            <a:off x="1198435" y="9118949"/>
            <a:ext cx="4084701" cy="892683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13526">
            <a:solidFill>
              <a:srgbClr val="E9E5E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541117" y="9315069"/>
            <a:ext cx="400812" cy="36271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2759"/>
              </a:lnSpc>
              <a:buNone/>
            </a:pPr>
            <a:r>
              <a:rPr lang="en-US" sz="2556" dirty="0">
                <a:solidFill>
                  <a:srgbClr val="E8342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storefront</a:t>
            </a:r>
            <a:endParaRPr lang="en-US" sz="2556" dirty="0"/>
          </a:p>
        </p:txBody>
      </p:sp>
      <p:sp>
        <p:nvSpPr>
          <p:cNvPr id="67" name="Text 65"/>
          <p:cNvSpPr/>
          <p:nvPr/>
        </p:nvSpPr>
        <p:spPr>
          <a:xfrm>
            <a:off x="1470002" y="9680257"/>
            <a:ext cx="543041" cy="1733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9"/>
              </a:lnSpc>
              <a:buNone/>
            </a:pPr>
            <a:r>
              <a:rPr lang="en-US" sz="1065" b="1" dirty="0">
                <a:solidFill>
                  <a:srgbClr val="E8342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Accueil</a:t>
            </a:r>
            <a:endParaRPr lang="en-US" sz="1065" dirty="0"/>
          </a:p>
        </p:txBody>
      </p:sp>
      <p:sp>
        <p:nvSpPr>
          <p:cNvPr id="68" name="Text 66"/>
          <p:cNvSpPr/>
          <p:nvPr/>
        </p:nvSpPr>
        <p:spPr>
          <a:xfrm>
            <a:off x="2688142" y="9315069"/>
            <a:ext cx="400812" cy="36271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2759"/>
              </a:lnSpc>
              <a:buNone/>
            </a:pPr>
            <a:r>
              <a:rPr lang="en-US" sz="2556" dirty="0">
                <a:solidFill>
                  <a:srgbClr val="B4AFA9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receipt_long</a:t>
            </a:r>
            <a:endParaRPr lang="en-US" sz="2556" dirty="0"/>
          </a:p>
        </p:txBody>
      </p:sp>
      <p:sp>
        <p:nvSpPr>
          <p:cNvPr id="69" name="Text 67"/>
          <p:cNvSpPr/>
          <p:nvPr/>
        </p:nvSpPr>
        <p:spPr>
          <a:xfrm>
            <a:off x="2453137" y="9680257"/>
            <a:ext cx="870823" cy="1733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9"/>
              </a:lnSpc>
              <a:buNone/>
            </a:pPr>
            <a:r>
              <a:rPr lang="en-US" sz="1065" b="1" dirty="0">
                <a:solidFill>
                  <a:srgbClr val="B4AFA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Commandes</a:t>
            </a:r>
            <a:endParaRPr lang="en-US" sz="1065" dirty="0"/>
          </a:p>
        </p:txBody>
      </p:sp>
      <p:sp>
        <p:nvSpPr>
          <p:cNvPr id="70" name="Text 68"/>
          <p:cNvSpPr/>
          <p:nvPr/>
        </p:nvSpPr>
        <p:spPr>
          <a:xfrm>
            <a:off x="3802834" y="9315069"/>
            <a:ext cx="400812" cy="36271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2759"/>
              </a:lnSpc>
              <a:buNone/>
            </a:pPr>
            <a:r>
              <a:rPr lang="en-US" sz="2556" dirty="0">
                <a:solidFill>
                  <a:srgbClr val="B4AFA9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shopping_bag</a:t>
            </a:r>
            <a:endParaRPr lang="en-US" sz="2556" dirty="0"/>
          </a:p>
        </p:txBody>
      </p:sp>
      <p:sp>
        <p:nvSpPr>
          <p:cNvPr id="71" name="Text 69"/>
          <p:cNvSpPr/>
          <p:nvPr/>
        </p:nvSpPr>
        <p:spPr>
          <a:xfrm>
            <a:off x="3763948" y="9680257"/>
            <a:ext cx="478584" cy="1733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9"/>
              </a:lnSpc>
              <a:buNone/>
            </a:pPr>
            <a:r>
              <a:rPr lang="en-US" sz="1065" b="1" dirty="0">
                <a:solidFill>
                  <a:srgbClr val="B4AFA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Panier</a:t>
            </a:r>
            <a:endParaRPr lang="en-US" sz="1065" dirty="0"/>
          </a:p>
        </p:txBody>
      </p:sp>
      <p:sp>
        <p:nvSpPr>
          <p:cNvPr id="72" name="Text 70"/>
          <p:cNvSpPr/>
          <p:nvPr/>
        </p:nvSpPr>
        <p:spPr>
          <a:xfrm>
            <a:off x="4684739" y="9315069"/>
            <a:ext cx="400812" cy="36271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2759"/>
              </a:lnSpc>
              <a:buNone/>
            </a:pPr>
            <a:r>
              <a:rPr lang="en-US" sz="2556" dirty="0">
                <a:solidFill>
                  <a:srgbClr val="B4AFA9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person</a:t>
            </a:r>
            <a:endParaRPr lang="en-US" sz="2556" dirty="0"/>
          </a:p>
        </p:txBody>
      </p:sp>
      <p:sp>
        <p:nvSpPr>
          <p:cNvPr id="73" name="Text 71"/>
          <p:cNvSpPr/>
          <p:nvPr/>
        </p:nvSpPr>
        <p:spPr>
          <a:xfrm>
            <a:off x="4682625" y="9680257"/>
            <a:ext cx="405039" cy="1733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9"/>
              </a:lnSpc>
              <a:buNone/>
            </a:pPr>
            <a:r>
              <a:rPr lang="en-US" sz="1065" b="1" dirty="0">
                <a:solidFill>
                  <a:srgbClr val="B4AFA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Profil</a:t>
            </a:r>
            <a:endParaRPr lang="en-US" sz="1065" dirty="0"/>
          </a:p>
        </p:txBody>
      </p:sp>
      <p:sp>
        <p:nvSpPr>
          <p:cNvPr id="74" name="Text 72"/>
          <p:cNvSpPr/>
          <p:nvPr/>
        </p:nvSpPr>
        <p:spPr>
          <a:xfrm>
            <a:off x="1198435" y="10282142"/>
            <a:ext cx="4850244" cy="1733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1065" spc="149" kern="0" dirty="0">
                <a:solidFill>
                  <a:srgbClr val="8A8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QUANTITÉ</a:t>
            </a:r>
            <a:endParaRPr lang="en-US" sz="1065" dirty="0"/>
          </a:p>
        </p:txBody>
      </p:sp>
      <p:sp>
        <p:nvSpPr>
          <p:cNvPr id="75" name="Shape 73"/>
          <p:cNvSpPr/>
          <p:nvPr/>
        </p:nvSpPr>
        <p:spPr>
          <a:xfrm>
            <a:off x="1198435" y="10579703"/>
            <a:ext cx="2231707" cy="689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288">
            <a:solidFill>
              <a:srgbClr val="DCD8D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299877" y="10681143"/>
            <a:ext cx="486918" cy="486919"/>
          </a:xfrm>
          <a:prstGeom prst="ellipse">
            <a:avLst/>
          </a:prstGeom>
          <a:solidFill>
            <a:srgbClr val="F5F2EF"/>
          </a:solidFill>
          <a:ln/>
        </p:spPr>
      </p:sp>
      <p:sp>
        <p:nvSpPr>
          <p:cNvPr id="77" name="Text 75"/>
          <p:cNvSpPr/>
          <p:nvPr/>
        </p:nvSpPr>
        <p:spPr>
          <a:xfrm>
            <a:off x="1408081" y="10789348"/>
            <a:ext cx="346710" cy="30860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2130" dirty="0">
                <a:solidFill>
                  <a:srgbClr val="4A4744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remove</a:t>
            </a:r>
            <a:endParaRPr lang="en-US" sz="2130" dirty="0"/>
          </a:p>
        </p:txBody>
      </p:sp>
      <p:sp>
        <p:nvSpPr>
          <p:cNvPr id="78" name="Text 76"/>
          <p:cNvSpPr/>
          <p:nvPr/>
        </p:nvSpPr>
        <p:spPr>
          <a:xfrm>
            <a:off x="2245816" y="10809637"/>
            <a:ext cx="213251" cy="268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892"/>
              </a:lnSpc>
              <a:buNone/>
            </a:pPr>
            <a:r>
              <a:rPr lang="en-US" sz="1811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</a:t>
            </a:r>
            <a:endParaRPr lang="en-US" sz="1811" dirty="0"/>
          </a:p>
        </p:txBody>
      </p:sp>
      <p:sp>
        <p:nvSpPr>
          <p:cNvPr id="79" name="Shape 77"/>
          <p:cNvSpPr/>
          <p:nvPr/>
        </p:nvSpPr>
        <p:spPr>
          <a:xfrm>
            <a:off x="2841784" y="10681143"/>
            <a:ext cx="486918" cy="486919"/>
          </a:xfrm>
          <a:prstGeom prst="ellipse">
            <a:avLst/>
          </a:prstGeom>
          <a:solidFill>
            <a:srgbClr val="E8342A"/>
          </a:solidFill>
          <a:ln/>
        </p:spPr>
      </p:sp>
      <p:sp>
        <p:nvSpPr>
          <p:cNvPr id="80" name="Text 78"/>
          <p:cNvSpPr/>
          <p:nvPr/>
        </p:nvSpPr>
        <p:spPr>
          <a:xfrm>
            <a:off x="2949988" y="10789348"/>
            <a:ext cx="346710" cy="30860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2130" dirty="0">
                <a:solidFill>
                  <a:srgbClr val="FFFFFF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add</a:t>
            </a:r>
            <a:endParaRPr lang="en-US" sz="21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81051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1125" spc="225" kern="0" dirty="0">
                <a:solidFill>
                  <a:srgbClr val="E834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— LES ÉCRANS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914400" y="1000125"/>
            <a:ext cx="18105120" cy="57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102"/>
              </a:lnSpc>
              <a:buNone/>
            </a:pPr>
            <a:r>
              <a:rPr lang="en-US" sz="4050" b="1" spc="-122" kern="0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Connexion, accueil &amp; menu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914400" y="1959248"/>
            <a:ext cx="229076" cy="158591"/>
          </a:xfrm>
          <a:prstGeom prst="roundRect">
            <a:avLst>
              <a:gd name="adj" fmla="val 27778"/>
            </a:avLst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976074" y="1994490"/>
            <a:ext cx="181928" cy="126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694" dirty="0">
                <a:solidFill>
                  <a:srgbClr val="FFC7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694" dirty="0"/>
          </a:p>
        </p:txBody>
      </p:sp>
      <p:sp>
        <p:nvSpPr>
          <p:cNvPr id="6" name="Text 4"/>
          <p:cNvSpPr/>
          <p:nvPr/>
        </p:nvSpPr>
        <p:spPr>
          <a:xfrm>
            <a:off x="1213961" y="1972464"/>
            <a:ext cx="651575" cy="152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57"/>
              </a:lnSpc>
              <a:buNone/>
            </a:pPr>
            <a:r>
              <a:rPr lang="en-US" sz="902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Connexion</a:t>
            </a:r>
            <a:endParaRPr lang="en-US" sz="902" dirty="0"/>
          </a:p>
        </p:txBody>
      </p:sp>
      <p:sp>
        <p:nvSpPr>
          <p:cNvPr id="7" name="Shape 5"/>
          <p:cNvSpPr/>
          <p:nvPr/>
        </p:nvSpPr>
        <p:spPr>
          <a:xfrm>
            <a:off x="914400" y="2117839"/>
            <a:ext cx="3436144" cy="7436168"/>
          </a:xfrm>
          <a:prstGeom prst="roundRect">
            <a:avLst>
              <a:gd name="adj" fmla="val 112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0" dist="133350" dir="5400000">
              <a:srgbClr val="1A1A1A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117839"/>
            <a:ext cx="3436144" cy="1762125"/>
          </a:xfrm>
          <a:prstGeom prst="rect">
            <a:avLst/>
          </a:prstGeom>
          <a:gradFill rotWithShape="1">
            <a:gsLst>
              <a:gs pos="0">
                <a:srgbClr val="E8342A">
                  <a:alpha val="100000"/>
                </a:srgbClr>
              </a:gs>
              <a:gs pos="58000">
                <a:srgbClr val="FF8A1E">
                  <a:alpha val="100000"/>
                </a:srgbClr>
              </a:gs>
              <a:gs pos="100000">
                <a:srgbClr val="FFC72C">
                  <a:alpha val="100000"/>
                </a:srgbClr>
              </a:gs>
            </a:gsLst>
            <a:lin ang="3600000" scaled="0"/>
          </a:gradFill>
          <a:ln/>
        </p:spPr>
      </p:sp>
      <p:sp>
        <p:nvSpPr>
          <p:cNvPr id="9" name="Text 7"/>
          <p:cNvSpPr/>
          <p:nvPr/>
        </p:nvSpPr>
        <p:spPr>
          <a:xfrm>
            <a:off x="1125855" y="2254404"/>
            <a:ext cx="312641" cy="152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57"/>
              </a:lnSpc>
              <a:buNone/>
            </a:pPr>
            <a:r>
              <a:rPr lang="en-US" sz="902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9:41</a:t>
            </a:r>
            <a:endParaRPr lang="en-US" sz="902" dirty="0"/>
          </a:p>
        </p:txBody>
      </p:sp>
      <p:sp>
        <p:nvSpPr>
          <p:cNvPr id="10" name="Text 8"/>
          <p:cNvSpPr/>
          <p:nvPr/>
        </p:nvSpPr>
        <p:spPr>
          <a:xfrm>
            <a:off x="3628072" y="2241188"/>
            <a:ext cx="217170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FFFFFF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signal_cellular_alt</a:t>
            </a:r>
            <a:endParaRPr lang="en-US" sz="1110" dirty="0"/>
          </a:p>
        </p:txBody>
      </p:sp>
      <p:sp>
        <p:nvSpPr>
          <p:cNvPr id="11" name="Text 9"/>
          <p:cNvSpPr/>
          <p:nvPr/>
        </p:nvSpPr>
        <p:spPr>
          <a:xfrm>
            <a:off x="3813096" y="2241188"/>
            <a:ext cx="217170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FFFFFF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wifi</a:t>
            </a:r>
            <a:endParaRPr lang="en-US" sz="1110" dirty="0"/>
          </a:p>
        </p:txBody>
      </p:sp>
      <p:sp>
        <p:nvSpPr>
          <p:cNvPr id="12" name="Text 10"/>
          <p:cNvSpPr/>
          <p:nvPr/>
        </p:nvSpPr>
        <p:spPr>
          <a:xfrm>
            <a:off x="3998119" y="2241188"/>
            <a:ext cx="217170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FFFFFF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battery_full</a:t>
            </a:r>
            <a:endParaRPr lang="en-US" sz="1110" dirty="0"/>
          </a:p>
        </p:txBody>
      </p:sp>
      <p:sp>
        <p:nvSpPr>
          <p:cNvPr id="13" name="Shape 11"/>
          <p:cNvSpPr/>
          <p:nvPr/>
        </p:nvSpPr>
        <p:spPr>
          <a:xfrm>
            <a:off x="2103834" y="3245599"/>
            <a:ext cx="1057275" cy="1057275"/>
          </a:xfrm>
          <a:prstGeom prst="roundRect">
            <a:avLst>
              <a:gd name="adj" fmla="val 25000"/>
            </a:avLst>
          </a:prstGeom>
          <a:ln/>
          <a:effectLst>
            <a:outerShdw sx="100000" sy="100000" kx="0" ky="0" algn="bl" rotWithShape="0" blurRad="285750" dist="114300" dir="5400000">
              <a:srgbClr val="E8342A">
                <a:alpha val="30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834" y="3245599"/>
            <a:ext cx="1057275" cy="1057275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696549" y="4496708"/>
            <a:ext cx="205895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954"/>
              </a:lnSpc>
              <a:buNone/>
            </a:pPr>
            <a:r>
              <a:rPr lang="en-US" sz="2775" b="1" spc="-83" kern="0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TAXI FOOD</a:t>
            </a:r>
            <a:endParaRPr lang="en-US" sz="2775" dirty="0"/>
          </a:p>
        </p:txBody>
      </p:sp>
      <p:sp>
        <p:nvSpPr>
          <p:cNvPr id="16" name="Text 13"/>
          <p:cNvSpPr/>
          <p:nvPr/>
        </p:nvSpPr>
        <p:spPr>
          <a:xfrm>
            <a:off x="2043192" y="4919618"/>
            <a:ext cx="1254759" cy="1350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862"/>
              </a:lnSpc>
              <a:buNone/>
            </a:pPr>
            <a:r>
              <a:rPr lang="en-US" sz="763" spc="122" kern="0" dirty="0">
                <a:solidFill>
                  <a:srgbClr val="E834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NOSY BE DELIVERY</a:t>
            </a:r>
            <a:endParaRPr lang="en-US" sz="763" dirty="0"/>
          </a:p>
        </p:txBody>
      </p:sp>
      <p:sp>
        <p:nvSpPr>
          <p:cNvPr id="17" name="Text 14"/>
          <p:cNvSpPr/>
          <p:nvPr/>
        </p:nvSpPr>
        <p:spPr>
          <a:xfrm>
            <a:off x="1404938" y="5245611"/>
            <a:ext cx="2455069" cy="461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41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Pizzas, tacos, burgers — livrés chaud à Hell-Ville et dans tout Nosy Be.</a:t>
            </a:r>
            <a:endParaRPr lang="en-US" sz="1041" dirty="0"/>
          </a:p>
        </p:txBody>
      </p:sp>
      <p:sp>
        <p:nvSpPr>
          <p:cNvPr id="18" name="Shape 15"/>
          <p:cNvSpPr/>
          <p:nvPr/>
        </p:nvSpPr>
        <p:spPr>
          <a:xfrm>
            <a:off x="1147882" y="8250034"/>
            <a:ext cx="2969181" cy="51982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216">
            <a:solidFill>
              <a:srgbClr val="DCD8D3"/>
            </a:solidFill>
            <a:prstDash val="solid"/>
          </a:ln>
          <a:effectLst>
            <a:outerShdw sx="100000" sy="100000" kx="0" ky="0" algn="bl" rotWithShape="0" blurRad="76200" dist="19050" dir="5400000">
              <a:srgbClr val="1A1A1A">
                <a:alpha val="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764625" y="8413031"/>
            <a:ext cx="193834" cy="19383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20" name="Text 17"/>
          <p:cNvSpPr/>
          <p:nvPr/>
        </p:nvSpPr>
        <p:spPr>
          <a:xfrm>
            <a:off x="2064187" y="8439463"/>
            <a:ext cx="1512332" cy="179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750"/>
              </a:lnSpc>
              <a:buNone/>
            </a:pPr>
            <a:r>
              <a:rPr lang="en-US" sz="1041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Continuer avec Google</a:t>
            </a:r>
            <a:endParaRPr lang="en-US" sz="1041" dirty="0"/>
          </a:p>
        </p:txBody>
      </p:sp>
      <p:sp>
        <p:nvSpPr>
          <p:cNvPr id="21" name="Text 18"/>
          <p:cNvSpPr/>
          <p:nvPr/>
        </p:nvSpPr>
        <p:spPr>
          <a:xfrm>
            <a:off x="1448991" y="8910831"/>
            <a:ext cx="2366963" cy="328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7500"/>
              </a:lnSpc>
              <a:buNone/>
            </a:pPr>
            <a:r>
              <a:rPr lang="en-US" sz="763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 continuant, vous acceptez les conditions d'utilisation de Taxi Food.</a:t>
            </a:r>
            <a:endParaRPr lang="en-US" sz="763" dirty="0"/>
          </a:p>
        </p:txBody>
      </p:sp>
      <p:sp>
        <p:nvSpPr>
          <p:cNvPr id="22" name="Shape 19"/>
          <p:cNvSpPr/>
          <p:nvPr/>
        </p:nvSpPr>
        <p:spPr>
          <a:xfrm>
            <a:off x="4857750" y="1959248"/>
            <a:ext cx="281940" cy="158591"/>
          </a:xfrm>
          <a:prstGeom prst="roundRect">
            <a:avLst>
              <a:gd name="adj" fmla="val 27778"/>
            </a:avLst>
          </a:prstGeom>
          <a:solidFill>
            <a:srgbClr val="1A1A1A"/>
          </a:solidFill>
          <a:ln/>
        </p:spPr>
      </p:sp>
      <p:sp>
        <p:nvSpPr>
          <p:cNvPr id="23" name="Text 20"/>
          <p:cNvSpPr/>
          <p:nvPr/>
        </p:nvSpPr>
        <p:spPr>
          <a:xfrm>
            <a:off x="4919424" y="1994490"/>
            <a:ext cx="234791" cy="126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694" dirty="0">
                <a:solidFill>
                  <a:srgbClr val="FFC7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01b</a:t>
            </a:r>
            <a:endParaRPr lang="en-US" sz="694" dirty="0"/>
          </a:p>
        </p:txBody>
      </p:sp>
      <p:sp>
        <p:nvSpPr>
          <p:cNvPr id="24" name="Text 21"/>
          <p:cNvSpPr/>
          <p:nvPr/>
        </p:nvSpPr>
        <p:spPr>
          <a:xfrm>
            <a:off x="5210175" y="1972464"/>
            <a:ext cx="2179569" cy="152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57"/>
              </a:lnSpc>
              <a:buNone/>
            </a:pPr>
            <a:r>
              <a:rPr lang="en-US" sz="902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Numéro de téléphone (1re connexion)</a:t>
            </a:r>
            <a:endParaRPr lang="en-US" sz="902" dirty="0"/>
          </a:p>
        </p:txBody>
      </p:sp>
      <p:sp>
        <p:nvSpPr>
          <p:cNvPr id="25" name="Shape 22"/>
          <p:cNvSpPr/>
          <p:nvPr/>
        </p:nvSpPr>
        <p:spPr>
          <a:xfrm>
            <a:off x="4857750" y="2117839"/>
            <a:ext cx="3436144" cy="7436168"/>
          </a:xfrm>
          <a:prstGeom prst="roundRect">
            <a:avLst>
              <a:gd name="adj" fmla="val 11282"/>
            </a:avLst>
          </a:prstGeom>
          <a:solidFill>
            <a:srgbClr val="F5F2EF"/>
          </a:solidFill>
          <a:ln/>
          <a:effectLst>
            <a:outerShdw sx="100000" sy="100000" kx="0" ky="0" algn="bl" rotWithShape="0" blurRad="381000" dist="133350" dir="5400000">
              <a:srgbClr val="1A1A1A">
                <a:alpha val="14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069205" y="2254404"/>
            <a:ext cx="312641" cy="152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57"/>
              </a:lnSpc>
              <a:buNone/>
            </a:pPr>
            <a:r>
              <a:rPr lang="en-US" sz="902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9:41</a:t>
            </a:r>
            <a:endParaRPr lang="en-US" sz="902" dirty="0"/>
          </a:p>
        </p:txBody>
      </p:sp>
      <p:sp>
        <p:nvSpPr>
          <p:cNvPr id="27" name="Text 24"/>
          <p:cNvSpPr/>
          <p:nvPr/>
        </p:nvSpPr>
        <p:spPr>
          <a:xfrm>
            <a:off x="7571423" y="2241188"/>
            <a:ext cx="217170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1A1A1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signal_cellular_alt</a:t>
            </a:r>
            <a:endParaRPr lang="en-US" sz="1110" dirty="0"/>
          </a:p>
        </p:txBody>
      </p:sp>
      <p:sp>
        <p:nvSpPr>
          <p:cNvPr id="28" name="Text 25"/>
          <p:cNvSpPr/>
          <p:nvPr/>
        </p:nvSpPr>
        <p:spPr>
          <a:xfrm>
            <a:off x="7756446" y="2241188"/>
            <a:ext cx="217170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1A1A1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wifi</a:t>
            </a:r>
            <a:endParaRPr lang="en-US" sz="1110" dirty="0"/>
          </a:p>
        </p:txBody>
      </p:sp>
      <p:sp>
        <p:nvSpPr>
          <p:cNvPr id="29" name="Text 26"/>
          <p:cNvSpPr/>
          <p:nvPr/>
        </p:nvSpPr>
        <p:spPr>
          <a:xfrm>
            <a:off x="7941469" y="2241188"/>
            <a:ext cx="217170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1A1A1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battery_full</a:t>
            </a:r>
            <a:endParaRPr lang="en-US" sz="1110" dirty="0"/>
          </a:p>
        </p:txBody>
      </p:sp>
      <p:sp>
        <p:nvSpPr>
          <p:cNvPr id="30" name="Shape 27"/>
          <p:cNvSpPr/>
          <p:nvPr/>
        </p:nvSpPr>
        <p:spPr>
          <a:xfrm>
            <a:off x="5033963" y="2523128"/>
            <a:ext cx="370046" cy="370046"/>
          </a:xfrm>
          <a:prstGeom prst="ellipse">
            <a:avLst/>
          </a:prstGeom>
          <a:solidFill>
            <a:srgbClr val="FFFFFF"/>
          </a:solidFill>
          <a:ln w="8811">
            <a:solidFill>
              <a:srgbClr val="E9E5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22069" y="2611234"/>
            <a:ext cx="270034" cy="2319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615"/>
              </a:lnSpc>
              <a:buNone/>
            </a:pPr>
            <a:r>
              <a:rPr lang="en-US" sz="1526" dirty="0">
                <a:solidFill>
                  <a:srgbClr val="1A1A1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arrow_back</a:t>
            </a:r>
            <a:endParaRPr lang="en-US" sz="1526" dirty="0"/>
          </a:p>
        </p:txBody>
      </p:sp>
      <p:sp>
        <p:nvSpPr>
          <p:cNvPr id="32" name="Shape 29"/>
          <p:cNvSpPr/>
          <p:nvPr/>
        </p:nvSpPr>
        <p:spPr>
          <a:xfrm>
            <a:off x="5033963" y="3104629"/>
            <a:ext cx="493395" cy="493395"/>
          </a:xfrm>
          <a:prstGeom prst="roundRect">
            <a:avLst>
              <a:gd name="adj" fmla="val 32143"/>
            </a:avLst>
          </a:prstGeom>
          <a:solidFill>
            <a:srgbClr val="FFF3E2"/>
          </a:solidFill>
          <a:ln/>
        </p:spPr>
      </p:sp>
      <p:sp>
        <p:nvSpPr>
          <p:cNvPr id="33" name="Text 30"/>
          <p:cNvSpPr/>
          <p:nvPr/>
        </p:nvSpPr>
        <p:spPr>
          <a:xfrm>
            <a:off x="5157311" y="3227978"/>
            <a:ext cx="322897" cy="28479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2353"/>
              </a:lnSpc>
              <a:buNone/>
            </a:pPr>
            <a:r>
              <a:rPr lang="en-US" sz="1943" dirty="0">
                <a:solidFill>
                  <a:srgbClr val="E8342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smartphone</a:t>
            </a:r>
            <a:endParaRPr lang="en-US" sz="1943" dirty="0"/>
          </a:p>
        </p:txBody>
      </p:sp>
      <p:sp>
        <p:nvSpPr>
          <p:cNvPr id="34" name="Text 31"/>
          <p:cNvSpPr/>
          <p:nvPr/>
        </p:nvSpPr>
        <p:spPr>
          <a:xfrm>
            <a:off x="5033963" y="3756615"/>
            <a:ext cx="3176230" cy="564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912"/>
              </a:lnSpc>
              <a:buNone/>
            </a:pPr>
            <a:r>
              <a:rPr lang="en-US" sz="1804" b="1" spc="-36" kern="0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Votre numéro de téléphone</a:t>
            </a:r>
            <a:endParaRPr lang="en-US" sz="1804" dirty="0"/>
          </a:p>
        </p:txBody>
      </p:sp>
      <p:sp>
        <p:nvSpPr>
          <p:cNvPr id="35" name="Text 32"/>
          <p:cNvSpPr/>
          <p:nvPr/>
        </p:nvSpPr>
        <p:spPr>
          <a:xfrm>
            <a:off x="5033963" y="4371570"/>
            <a:ext cx="3176230" cy="432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4516"/>
              </a:lnSpc>
              <a:buNone/>
            </a:pPr>
            <a:r>
              <a:rPr lang="en-US" sz="971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 livreur en a besoin pour vous joindre à l'arrivée. Demandé une seule fois.</a:t>
            </a:r>
            <a:endParaRPr lang="en-US" sz="971" dirty="0"/>
          </a:p>
        </p:txBody>
      </p:sp>
      <p:sp>
        <p:nvSpPr>
          <p:cNvPr id="36" name="Text 33"/>
          <p:cNvSpPr/>
          <p:nvPr/>
        </p:nvSpPr>
        <p:spPr>
          <a:xfrm>
            <a:off x="5033963" y="4995335"/>
            <a:ext cx="3392091" cy="1350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763" b="1" spc="46" kern="0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TÉLÉPHONE</a:t>
            </a:r>
            <a:endParaRPr lang="en-US" sz="763" dirty="0"/>
          </a:p>
        </p:txBody>
      </p:sp>
      <p:sp>
        <p:nvSpPr>
          <p:cNvPr id="37" name="Shape 34"/>
          <p:cNvSpPr/>
          <p:nvPr/>
        </p:nvSpPr>
        <p:spPr>
          <a:xfrm>
            <a:off x="5033963" y="5145115"/>
            <a:ext cx="3083719" cy="519826"/>
          </a:xfrm>
          <a:prstGeom prst="roundRect">
            <a:avLst>
              <a:gd name="adj" fmla="val 20339"/>
            </a:avLst>
          </a:prstGeom>
          <a:solidFill>
            <a:srgbClr val="FFFFFF"/>
          </a:solidFill>
          <a:ln w="13216">
            <a:solidFill>
              <a:srgbClr val="E8342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571066" y="5338949"/>
            <a:ext cx="9525" cy="132159"/>
          </a:xfrm>
          <a:prstGeom prst="rect">
            <a:avLst/>
          </a:prstGeom>
          <a:solidFill>
            <a:srgbClr val="DCD8D3"/>
          </a:solidFill>
          <a:ln/>
        </p:spPr>
      </p:sp>
      <p:sp>
        <p:nvSpPr>
          <p:cNvPr id="39" name="Text 36"/>
          <p:cNvSpPr/>
          <p:nvPr/>
        </p:nvSpPr>
        <p:spPr>
          <a:xfrm>
            <a:off x="5170527" y="5338949"/>
            <a:ext cx="353368" cy="170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50"/>
              </a:lnSpc>
              <a:buNone/>
            </a:pPr>
            <a:r>
              <a:rPr lang="en-US" sz="1041" b="1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+261</a:t>
            </a:r>
            <a:endParaRPr lang="en-US" sz="1041" dirty="0"/>
          </a:p>
        </p:txBody>
      </p:sp>
      <p:sp>
        <p:nvSpPr>
          <p:cNvPr id="40" name="Text 37"/>
          <p:cNvSpPr/>
          <p:nvPr/>
        </p:nvSpPr>
        <p:spPr>
          <a:xfrm>
            <a:off x="5667983" y="5330138"/>
            <a:ext cx="1014188" cy="187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892"/>
              </a:lnSpc>
              <a:buNone/>
            </a:pPr>
            <a:r>
              <a:rPr lang="en-US" sz="1179" b="1" spc="47" kern="0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32 45 678 90</a:t>
            </a:r>
            <a:endParaRPr lang="en-US" sz="1179" dirty="0"/>
          </a:p>
        </p:txBody>
      </p:sp>
      <p:sp>
        <p:nvSpPr>
          <p:cNvPr id="41" name="Text 38"/>
          <p:cNvSpPr/>
          <p:nvPr/>
        </p:nvSpPr>
        <p:spPr>
          <a:xfrm>
            <a:off x="7804904" y="5316922"/>
            <a:ext cx="252413" cy="2143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1388" dirty="0">
                <a:solidFill>
                  <a:srgbClr val="16A34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check_circle</a:t>
            </a:r>
            <a:endParaRPr lang="en-US" sz="1388" dirty="0"/>
          </a:p>
        </p:txBody>
      </p:sp>
      <p:sp>
        <p:nvSpPr>
          <p:cNvPr id="42" name="Text 39"/>
          <p:cNvSpPr/>
          <p:nvPr/>
        </p:nvSpPr>
        <p:spPr>
          <a:xfrm>
            <a:off x="5033963" y="5717806"/>
            <a:ext cx="3392091" cy="196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462"/>
              </a:lnSpc>
              <a:buNone/>
            </a:pPr>
            <a:r>
              <a:rPr lang="en-US" sz="833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Format Telma, Orange ou Airtel.</a:t>
            </a:r>
            <a:endParaRPr lang="en-US" sz="833" dirty="0"/>
          </a:p>
        </p:txBody>
      </p:sp>
      <p:sp>
        <p:nvSpPr>
          <p:cNvPr id="43" name="Shape 40"/>
          <p:cNvSpPr/>
          <p:nvPr/>
        </p:nvSpPr>
        <p:spPr>
          <a:xfrm>
            <a:off x="5033963" y="6052610"/>
            <a:ext cx="3083719" cy="563880"/>
          </a:xfrm>
          <a:prstGeom prst="roundRect">
            <a:avLst>
              <a:gd name="adj" fmla="val 25000"/>
            </a:avLst>
          </a:prstGeom>
          <a:solidFill>
            <a:srgbClr val="FFF3E2"/>
          </a:solidFill>
          <a:ln/>
        </p:spPr>
      </p:sp>
      <p:sp>
        <p:nvSpPr>
          <p:cNvPr id="44" name="Text 41"/>
          <p:cNvSpPr/>
          <p:nvPr/>
        </p:nvSpPr>
        <p:spPr>
          <a:xfrm>
            <a:off x="5157311" y="6175958"/>
            <a:ext cx="252413" cy="3552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1388" dirty="0">
                <a:solidFill>
                  <a:srgbClr val="FF8A1E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info</a:t>
            </a:r>
            <a:endParaRPr lang="en-US" sz="1388" dirty="0"/>
          </a:p>
        </p:txBody>
      </p:sp>
      <p:sp>
        <p:nvSpPr>
          <p:cNvPr id="45" name="Text 42"/>
          <p:cNvSpPr/>
          <p:nvPr/>
        </p:nvSpPr>
        <p:spPr>
          <a:xfrm>
            <a:off x="5421630" y="6175958"/>
            <a:ext cx="2649884" cy="355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462"/>
              </a:lnSpc>
              <a:buNone/>
            </a:pPr>
            <a:r>
              <a:rPr lang="en-US" sz="833" dirty="0">
                <a:solidFill>
                  <a:srgbClr val="8A5A1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Connecté en tant que </a:t>
            </a:r>
            <a:pPr algn="l" indent="0" marL="0">
              <a:lnSpc>
                <a:spcPct val="138462"/>
              </a:lnSpc>
              <a:buNone/>
            </a:pPr>
            <a:r>
              <a:rPr lang="en-US" sz="833" b="1" dirty="0">
                <a:solidFill>
                  <a:srgbClr val="8A5A1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Rasoa Andriamana </a:t>
            </a:r>
            <a:pPr algn="l" indent="0" marL="0">
              <a:lnSpc>
                <a:spcPct val="138462"/>
              </a:lnSpc>
              <a:buNone/>
            </a:pPr>
            <a:r>
              <a:rPr lang="en-US" sz="833" dirty="0">
                <a:solidFill>
                  <a:srgbClr val="8A5A1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· rasoa.a@gmail.com</a:t>
            </a:r>
            <a:endParaRPr lang="en-US" sz="833" dirty="0"/>
          </a:p>
        </p:txBody>
      </p:sp>
      <p:sp>
        <p:nvSpPr>
          <p:cNvPr id="46" name="Shape 43"/>
          <p:cNvSpPr/>
          <p:nvPr/>
        </p:nvSpPr>
        <p:spPr>
          <a:xfrm>
            <a:off x="5033963" y="8761051"/>
            <a:ext cx="3083719" cy="493395"/>
          </a:xfrm>
          <a:prstGeom prst="roundRect">
            <a:avLst>
              <a:gd name="adj" fmla="val 50000"/>
            </a:avLst>
          </a:prstGeom>
          <a:solidFill>
            <a:srgbClr val="E8342A"/>
          </a:solidFill>
          <a:ln/>
          <a:effectLst>
            <a:outerShdw sx="100000" sy="100000" kx="0" ky="0" algn="bl" rotWithShape="0" blurRad="190500" dist="76200" dir="5400000">
              <a:srgbClr val="E8342A">
                <a:alpha val="30000"/>
              </a:srgbClr>
            </a:outerShdw>
          </a:effectLst>
        </p:spPr>
      </p:sp>
      <p:sp>
        <p:nvSpPr>
          <p:cNvPr id="47" name="Text 44"/>
          <p:cNvSpPr/>
          <p:nvPr/>
        </p:nvSpPr>
        <p:spPr>
          <a:xfrm>
            <a:off x="4987707" y="8761051"/>
            <a:ext cx="3176230" cy="531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93750"/>
              </a:lnSpc>
              <a:buNone/>
            </a:pPr>
            <a:r>
              <a:rPr lang="en-US" sz="1041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Continuer</a:t>
            </a:r>
            <a:endParaRPr lang="en-US" sz="1041" dirty="0"/>
          </a:p>
        </p:txBody>
      </p:sp>
      <p:sp>
        <p:nvSpPr>
          <p:cNvPr id="48" name="Shape 45"/>
          <p:cNvSpPr/>
          <p:nvPr/>
        </p:nvSpPr>
        <p:spPr>
          <a:xfrm>
            <a:off x="8801100" y="1959248"/>
            <a:ext cx="229076" cy="158591"/>
          </a:xfrm>
          <a:prstGeom prst="roundRect">
            <a:avLst>
              <a:gd name="adj" fmla="val 27778"/>
            </a:avLst>
          </a:prstGeom>
          <a:solidFill>
            <a:srgbClr val="1A1A1A"/>
          </a:solidFill>
          <a:ln/>
        </p:spPr>
      </p:sp>
      <p:sp>
        <p:nvSpPr>
          <p:cNvPr id="49" name="Text 46"/>
          <p:cNvSpPr/>
          <p:nvPr/>
        </p:nvSpPr>
        <p:spPr>
          <a:xfrm>
            <a:off x="8862774" y="1994490"/>
            <a:ext cx="181927" cy="126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694" dirty="0">
                <a:solidFill>
                  <a:srgbClr val="FFC7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694" dirty="0"/>
          </a:p>
        </p:txBody>
      </p:sp>
      <p:sp>
        <p:nvSpPr>
          <p:cNvPr id="50" name="Text 47"/>
          <p:cNvSpPr/>
          <p:nvPr/>
        </p:nvSpPr>
        <p:spPr>
          <a:xfrm>
            <a:off x="9100661" y="1972464"/>
            <a:ext cx="1956055" cy="152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57"/>
              </a:lnSpc>
              <a:buNone/>
            </a:pPr>
            <a:r>
              <a:rPr lang="en-US" sz="902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Accueil — restaurants de Nosy Be</a:t>
            </a:r>
            <a:endParaRPr lang="en-US" sz="902" dirty="0"/>
          </a:p>
        </p:txBody>
      </p:sp>
      <p:sp>
        <p:nvSpPr>
          <p:cNvPr id="51" name="Shape 48"/>
          <p:cNvSpPr/>
          <p:nvPr/>
        </p:nvSpPr>
        <p:spPr>
          <a:xfrm>
            <a:off x="8801100" y="2117839"/>
            <a:ext cx="3436144" cy="7436168"/>
          </a:xfrm>
          <a:prstGeom prst="roundRect">
            <a:avLst>
              <a:gd name="adj" fmla="val 11282"/>
            </a:avLst>
          </a:prstGeom>
          <a:solidFill>
            <a:srgbClr val="F5F2EF"/>
          </a:solidFill>
          <a:ln/>
          <a:effectLst>
            <a:outerShdw sx="100000" sy="100000" kx="0" ky="0" algn="bl" rotWithShape="0" blurRad="381000" dist="133350" dir="5400000">
              <a:srgbClr val="1A1A1A">
                <a:alpha val="14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8801100" y="2117839"/>
            <a:ext cx="3436144" cy="1427321"/>
          </a:xfrm>
          <a:custGeom>
            <a:avLst/>
            <a:gdLst/>
            <a:ahLst/>
            <a:cxnLst/>
            <a:rect l="l" t="t" r="r" b="b"/>
            <a:pathLst>
              <a:path w="3436144" h="1427321">
                <a:moveTo>
                  <a:pt x="0" y="0"/>
                </a:moveTo>
                <a:lnTo>
                  <a:pt x="3436144" y="0"/>
                </a:lnTo>
                <a:lnTo>
                  <a:pt x="3436144" y="1198245"/>
                </a:lnTo>
                <a:arcTo hR="229076" wR="229076" stAng="0" swAng="5400000"/>
                <a:lnTo>
                  <a:pt x="229076" y="1427321"/>
                </a:lnTo>
                <a:arcTo hR="229076" wR="229076" stAng="5400000" swAng="5400000"/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E8342A">
                  <a:alpha val="100000"/>
                </a:srgbClr>
              </a:gs>
              <a:gs pos="100000">
                <a:srgbClr val="FF8A1E">
                  <a:alpha val="100000"/>
                </a:srgbClr>
              </a:gs>
            </a:gsLst>
            <a:lin ang="3600000" scaled="0"/>
          </a:gradFill>
          <a:ln/>
        </p:spPr>
      </p:sp>
      <p:sp>
        <p:nvSpPr>
          <p:cNvPr id="53" name="Text 50"/>
          <p:cNvSpPr/>
          <p:nvPr/>
        </p:nvSpPr>
        <p:spPr>
          <a:xfrm>
            <a:off x="8977313" y="2254404"/>
            <a:ext cx="312641" cy="152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57"/>
              </a:lnSpc>
              <a:buNone/>
            </a:pPr>
            <a:r>
              <a:rPr lang="en-US" sz="902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9:41</a:t>
            </a:r>
            <a:endParaRPr lang="en-US" sz="902" dirty="0"/>
          </a:p>
        </p:txBody>
      </p:sp>
      <p:sp>
        <p:nvSpPr>
          <p:cNvPr id="54" name="Text 51"/>
          <p:cNvSpPr/>
          <p:nvPr/>
        </p:nvSpPr>
        <p:spPr>
          <a:xfrm>
            <a:off x="11550015" y="2241188"/>
            <a:ext cx="217170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FFFFFF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signal_cellular_alt</a:t>
            </a:r>
            <a:endParaRPr lang="en-US" sz="1110" dirty="0"/>
          </a:p>
        </p:txBody>
      </p:sp>
      <p:sp>
        <p:nvSpPr>
          <p:cNvPr id="55" name="Text 52"/>
          <p:cNvSpPr/>
          <p:nvPr/>
        </p:nvSpPr>
        <p:spPr>
          <a:xfrm>
            <a:off x="11735038" y="2241188"/>
            <a:ext cx="217169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FFFFFF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wifi</a:t>
            </a:r>
            <a:endParaRPr lang="en-US" sz="1110" dirty="0"/>
          </a:p>
        </p:txBody>
      </p:sp>
      <p:sp>
        <p:nvSpPr>
          <p:cNvPr id="56" name="Text 53"/>
          <p:cNvSpPr/>
          <p:nvPr/>
        </p:nvSpPr>
        <p:spPr>
          <a:xfrm>
            <a:off x="11920061" y="2241188"/>
            <a:ext cx="217170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FFFFFF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battery_full</a:t>
            </a:r>
            <a:endParaRPr lang="en-US" sz="1110" dirty="0"/>
          </a:p>
        </p:txBody>
      </p:sp>
      <p:sp>
        <p:nvSpPr>
          <p:cNvPr id="57" name="Text 54"/>
          <p:cNvSpPr/>
          <p:nvPr/>
        </p:nvSpPr>
        <p:spPr>
          <a:xfrm>
            <a:off x="8977313" y="2536344"/>
            <a:ext cx="2423830" cy="126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9"/>
              </a:lnSpc>
              <a:buNone/>
            </a:pPr>
            <a:r>
              <a:rPr lang="en-US" sz="694" b="1" spc="97" kern="0" dirty="0">
                <a:solidFill>
                  <a:srgbClr val="FFFFFF">
                    <a:alpha val="7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LIVRER À</a:t>
            </a:r>
            <a:endParaRPr lang="en-US" sz="694" dirty="0"/>
          </a:p>
        </p:txBody>
      </p:sp>
      <p:sp>
        <p:nvSpPr>
          <p:cNvPr id="58" name="Text 55"/>
          <p:cNvSpPr/>
          <p:nvPr/>
        </p:nvSpPr>
        <p:spPr>
          <a:xfrm>
            <a:off x="8977313" y="2668503"/>
            <a:ext cx="252413" cy="2143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1388" dirty="0">
                <a:solidFill>
                  <a:srgbClr val="FFC72C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location_on</a:t>
            </a:r>
            <a:endParaRPr lang="en-US" sz="1388" dirty="0"/>
          </a:p>
        </p:txBody>
      </p:sp>
      <p:sp>
        <p:nvSpPr>
          <p:cNvPr id="59" name="Text 56"/>
          <p:cNvSpPr/>
          <p:nvPr/>
        </p:nvSpPr>
        <p:spPr>
          <a:xfrm>
            <a:off x="9197578" y="2686124"/>
            <a:ext cx="1958630" cy="179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29"/>
              </a:lnSpc>
              <a:buNone/>
            </a:pPr>
            <a:r>
              <a:rPr lang="en-US" sz="111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Ambondrona — Villa Bleue</a:t>
            </a:r>
            <a:endParaRPr lang="en-US" sz="1110" dirty="0"/>
          </a:p>
        </p:txBody>
      </p:sp>
      <p:sp>
        <p:nvSpPr>
          <p:cNvPr id="60" name="Text 57"/>
          <p:cNvSpPr/>
          <p:nvPr/>
        </p:nvSpPr>
        <p:spPr>
          <a:xfrm>
            <a:off x="11022204" y="2677314"/>
            <a:ext cx="234790" cy="19669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1818"/>
              </a:lnSpc>
              <a:buNone/>
            </a:pPr>
            <a:r>
              <a:rPr lang="en-US" sz="1249" dirty="0">
                <a:solidFill>
                  <a:srgbClr val="FFFFFF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expand_more</a:t>
            </a:r>
            <a:endParaRPr lang="en-US" sz="1249" dirty="0"/>
          </a:p>
        </p:txBody>
      </p:sp>
      <p:pic>
        <p:nvPicPr>
          <p:cNvPr id="6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6227" y="2523128"/>
            <a:ext cx="334804" cy="334804"/>
          </a:xfrm>
          <a:prstGeom prst="rect">
            <a:avLst/>
          </a:prstGeom>
        </p:spPr>
      </p:pic>
      <p:sp>
        <p:nvSpPr>
          <p:cNvPr id="62" name="Shape 58"/>
          <p:cNvSpPr/>
          <p:nvPr/>
        </p:nvSpPr>
        <p:spPr>
          <a:xfrm>
            <a:off x="8977313" y="2998902"/>
            <a:ext cx="3083719" cy="387668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63" name="Text 59"/>
          <p:cNvSpPr/>
          <p:nvPr/>
        </p:nvSpPr>
        <p:spPr>
          <a:xfrm>
            <a:off x="9100661" y="3104629"/>
            <a:ext cx="252413" cy="2143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1388" dirty="0">
                <a:solidFill>
                  <a:srgbClr val="8A8580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search</a:t>
            </a:r>
            <a:endParaRPr lang="en-US" sz="1388" dirty="0"/>
          </a:p>
        </p:txBody>
      </p:sp>
      <p:sp>
        <p:nvSpPr>
          <p:cNvPr id="64" name="Text 60"/>
          <p:cNvSpPr/>
          <p:nvPr/>
        </p:nvSpPr>
        <p:spPr>
          <a:xfrm>
            <a:off x="9347359" y="3131061"/>
            <a:ext cx="1798262" cy="1614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323"/>
              </a:lnSpc>
              <a:buNone/>
            </a:pPr>
            <a:r>
              <a:rPr lang="en-US" sz="971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Chercher un resto ou un plat…</a:t>
            </a:r>
            <a:endParaRPr lang="en-US" sz="971" dirty="0"/>
          </a:p>
        </p:txBody>
      </p:sp>
      <p:sp>
        <p:nvSpPr>
          <p:cNvPr id="65" name="Shape 61"/>
          <p:cNvSpPr/>
          <p:nvPr/>
        </p:nvSpPr>
        <p:spPr>
          <a:xfrm>
            <a:off x="8977313" y="3703752"/>
            <a:ext cx="461801" cy="299561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/>
        </p:spPr>
      </p:sp>
      <p:sp>
        <p:nvSpPr>
          <p:cNvPr id="66" name="Text 62"/>
          <p:cNvSpPr/>
          <p:nvPr/>
        </p:nvSpPr>
        <p:spPr>
          <a:xfrm>
            <a:off x="9100661" y="3703752"/>
            <a:ext cx="291303" cy="337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833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Tout</a:t>
            </a:r>
            <a:endParaRPr lang="en-US" sz="833" dirty="0"/>
          </a:p>
        </p:txBody>
      </p:sp>
      <p:sp>
        <p:nvSpPr>
          <p:cNvPr id="67" name="Shape 63"/>
          <p:cNvSpPr/>
          <p:nvPr/>
        </p:nvSpPr>
        <p:spPr>
          <a:xfrm>
            <a:off x="9509598" y="3703752"/>
            <a:ext cx="526159" cy="31718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11">
            <a:solidFill>
              <a:srgbClr val="E9E5E0"/>
            </a:solidFill>
            <a:prstDash val="solid"/>
          </a:ln>
        </p:spPr>
      </p:sp>
      <p:sp>
        <p:nvSpPr>
          <p:cNvPr id="68" name="Text 64"/>
          <p:cNvSpPr/>
          <p:nvPr/>
        </p:nvSpPr>
        <p:spPr>
          <a:xfrm>
            <a:off x="9641757" y="3712562"/>
            <a:ext cx="338040" cy="337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833" b="1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Pizza</a:t>
            </a:r>
            <a:endParaRPr lang="en-US" sz="833" dirty="0"/>
          </a:p>
        </p:txBody>
      </p:sp>
      <p:sp>
        <p:nvSpPr>
          <p:cNvPr id="69" name="Shape 65"/>
          <p:cNvSpPr/>
          <p:nvPr/>
        </p:nvSpPr>
        <p:spPr>
          <a:xfrm>
            <a:off x="10106242" y="3703752"/>
            <a:ext cx="558374" cy="31718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11">
            <a:solidFill>
              <a:srgbClr val="E9E5E0"/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10238402" y="3712562"/>
            <a:ext cx="370255" cy="337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833" b="1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Tacos</a:t>
            </a:r>
            <a:endParaRPr lang="en-US" sz="833" dirty="0"/>
          </a:p>
        </p:txBody>
      </p:sp>
      <p:sp>
        <p:nvSpPr>
          <p:cNvPr id="71" name="Shape 67"/>
          <p:cNvSpPr/>
          <p:nvPr/>
        </p:nvSpPr>
        <p:spPr>
          <a:xfrm>
            <a:off x="10735101" y="3703752"/>
            <a:ext cx="656186" cy="31718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11">
            <a:solidFill>
              <a:srgbClr val="E9E5E0"/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10867260" y="3712562"/>
            <a:ext cx="468067" cy="337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833" b="1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Burgers</a:t>
            </a:r>
            <a:endParaRPr lang="en-US" sz="833" dirty="0"/>
          </a:p>
        </p:txBody>
      </p:sp>
      <p:sp>
        <p:nvSpPr>
          <p:cNvPr id="73" name="Text 69"/>
          <p:cNvSpPr/>
          <p:nvPr/>
        </p:nvSpPr>
        <p:spPr>
          <a:xfrm>
            <a:off x="8977313" y="4161904"/>
            <a:ext cx="3392091" cy="13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763" b="1" spc="76" kern="0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12 RESTAURANTS OUVERTS</a:t>
            </a:r>
            <a:endParaRPr lang="en-US" sz="763" dirty="0"/>
          </a:p>
        </p:txBody>
      </p:sp>
      <p:sp>
        <p:nvSpPr>
          <p:cNvPr id="74" name="Shape 70"/>
          <p:cNvSpPr/>
          <p:nvPr/>
        </p:nvSpPr>
        <p:spPr>
          <a:xfrm>
            <a:off x="8977313" y="4346927"/>
            <a:ext cx="3083719" cy="1858973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A1A1A">
                <a:alpha val="6000"/>
              </a:srgbClr>
            </a:outerShdw>
          </a:effectLst>
        </p:spPr>
      </p:sp>
      <p:sp>
        <p:nvSpPr>
          <p:cNvPr id="75" name="Shape 71"/>
          <p:cNvSpPr/>
          <p:nvPr/>
        </p:nvSpPr>
        <p:spPr>
          <a:xfrm>
            <a:off x="8977313" y="4346927"/>
            <a:ext cx="3083719" cy="1092518"/>
          </a:xfrm>
          <a:prstGeom prst="rect">
            <a:avLst/>
          </a:prstGeom>
          <a:solidFill>
            <a:srgbClr val="FFE9CF"/>
          </a:solidFill>
          <a:ln/>
        </p:spPr>
      </p:sp>
      <p:sp>
        <p:nvSpPr>
          <p:cNvPr id="76" name="Shape 72"/>
          <p:cNvSpPr/>
          <p:nvPr/>
        </p:nvSpPr>
        <p:spPr>
          <a:xfrm>
            <a:off x="9065419" y="4435034"/>
            <a:ext cx="558993" cy="21145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7" name="Shape 73"/>
          <p:cNvSpPr/>
          <p:nvPr/>
        </p:nvSpPr>
        <p:spPr>
          <a:xfrm>
            <a:off x="9144714" y="4514329"/>
            <a:ext cx="52864" cy="5286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78" name="Text 74"/>
          <p:cNvSpPr/>
          <p:nvPr/>
        </p:nvSpPr>
        <p:spPr>
          <a:xfrm>
            <a:off x="9241631" y="4487897"/>
            <a:ext cx="379685" cy="143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763" b="1" dirty="0">
                <a:solidFill>
                  <a:srgbClr val="15803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Ouvert</a:t>
            </a:r>
            <a:endParaRPr lang="en-US" sz="763" dirty="0"/>
          </a:p>
        </p:txBody>
      </p:sp>
      <p:sp>
        <p:nvSpPr>
          <p:cNvPr id="79" name="Shape 75"/>
          <p:cNvSpPr/>
          <p:nvPr/>
        </p:nvSpPr>
        <p:spPr>
          <a:xfrm>
            <a:off x="11372494" y="4435034"/>
            <a:ext cx="600431" cy="211455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/>
        </p:spPr>
      </p:sp>
      <p:sp>
        <p:nvSpPr>
          <p:cNvPr id="80" name="Text 76"/>
          <p:cNvSpPr/>
          <p:nvPr/>
        </p:nvSpPr>
        <p:spPr>
          <a:xfrm>
            <a:off x="11451790" y="4435034"/>
            <a:ext cx="518040" cy="24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763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Populaire</a:t>
            </a:r>
            <a:endParaRPr lang="en-US" sz="763" dirty="0"/>
          </a:p>
        </p:txBody>
      </p:sp>
      <p:sp>
        <p:nvSpPr>
          <p:cNvPr id="81" name="Shape 77"/>
          <p:cNvSpPr/>
          <p:nvPr/>
        </p:nvSpPr>
        <p:spPr>
          <a:xfrm>
            <a:off x="9100661" y="5280853"/>
            <a:ext cx="422910" cy="42291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7621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9050" dir="5400000">
              <a:srgbClr val="1A1A1A">
                <a:alpha val="12000"/>
              </a:srgbClr>
            </a:outerShdw>
          </a:effectLst>
        </p:spPr>
      </p:sp>
      <p:sp>
        <p:nvSpPr>
          <p:cNvPr id="82" name="Text 78"/>
          <p:cNvSpPr/>
          <p:nvPr/>
        </p:nvSpPr>
        <p:spPr>
          <a:xfrm>
            <a:off x="9080183" y="5298474"/>
            <a:ext cx="463867" cy="4257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93750"/>
              </a:lnSpc>
              <a:buNone/>
            </a:pPr>
            <a:r>
              <a:rPr lang="en-US" sz="1041" b="1" dirty="0">
                <a:solidFill>
                  <a:srgbClr val="E8342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PP</a:t>
            </a:r>
            <a:endParaRPr lang="en-US" sz="1041" dirty="0"/>
          </a:p>
        </p:txBody>
      </p:sp>
      <p:sp>
        <p:nvSpPr>
          <p:cNvPr id="83" name="Text 79"/>
          <p:cNvSpPr/>
          <p:nvPr/>
        </p:nvSpPr>
        <p:spPr>
          <a:xfrm>
            <a:off x="9629299" y="5545172"/>
            <a:ext cx="2539223" cy="207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14"/>
              </a:lnSpc>
              <a:buNone/>
            </a:pPr>
            <a:r>
              <a:rPr lang="en-US" sz="111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Pizzeria Papillon</a:t>
            </a:r>
            <a:endParaRPr lang="en-US" sz="1110" dirty="0"/>
          </a:p>
        </p:txBody>
      </p:sp>
      <p:sp>
        <p:nvSpPr>
          <p:cNvPr id="84" name="Text 80"/>
          <p:cNvSpPr/>
          <p:nvPr/>
        </p:nvSpPr>
        <p:spPr>
          <a:xfrm>
            <a:off x="9629299" y="5731916"/>
            <a:ext cx="2539223" cy="186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833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Pizza · Italien — Hell-Ville</a:t>
            </a:r>
            <a:endParaRPr lang="en-US" sz="833" dirty="0"/>
          </a:p>
        </p:txBody>
      </p:sp>
      <p:sp>
        <p:nvSpPr>
          <p:cNvPr id="85" name="Text 81"/>
          <p:cNvSpPr/>
          <p:nvPr/>
        </p:nvSpPr>
        <p:spPr>
          <a:xfrm>
            <a:off x="9629299" y="5950393"/>
            <a:ext cx="208359" cy="17025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1041" dirty="0">
                <a:solidFill>
                  <a:srgbClr val="FF8A1E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schedule</a:t>
            </a:r>
            <a:endParaRPr lang="en-US" sz="1041" dirty="0"/>
          </a:p>
        </p:txBody>
      </p:sp>
      <p:sp>
        <p:nvSpPr>
          <p:cNvPr id="86" name="Text 82"/>
          <p:cNvSpPr/>
          <p:nvPr/>
        </p:nvSpPr>
        <p:spPr>
          <a:xfrm>
            <a:off x="9796701" y="5959203"/>
            <a:ext cx="581503" cy="152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833" b="1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25–35 min</a:t>
            </a:r>
            <a:endParaRPr lang="en-US" sz="833" dirty="0"/>
          </a:p>
        </p:txBody>
      </p:sp>
      <p:sp>
        <p:nvSpPr>
          <p:cNvPr id="87" name="Text 83"/>
          <p:cNvSpPr/>
          <p:nvPr/>
        </p:nvSpPr>
        <p:spPr>
          <a:xfrm>
            <a:off x="10407731" y="5950393"/>
            <a:ext cx="208359" cy="17025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1041" dirty="0">
                <a:solidFill>
                  <a:srgbClr val="FF8A1E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two_wheeler</a:t>
            </a:r>
            <a:endParaRPr lang="en-US" sz="1041" dirty="0"/>
          </a:p>
        </p:txBody>
      </p:sp>
      <p:sp>
        <p:nvSpPr>
          <p:cNvPr id="88" name="Text 84"/>
          <p:cNvSpPr/>
          <p:nvPr/>
        </p:nvSpPr>
        <p:spPr>
          <a:xfrm>
            <a:off x="10575134" y="5959203"/>
            <a:ext cx="474949" cy="152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833" b="1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5 000 Ar</a:t>
            </a:r>
            <a:endParaRPr lang="en-US" sz="833" dirty="0"/>
          </a:p>
        </p:txBody>
      </p:sp>
      <p:sp>
        <p:nvSpPr>
          <p:cNvPr id="89" name="Shape 85"/>
          <p:cNvSpPr/>
          <p:nvPr/>
        </p:nvSpPr>
        <p:spPr>
          <a:xfrm>
            <a:off x="8977313" y="6311628"/>
            <a:ext cx="3083719" cy="775335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A1A1A">
                <a:alpha val="6000"/>
              </a:srgbClr>
            </a:outerShdw>
          </a:effectLst>
        </p:spPr>
      </p:sp>
      <p:sp>
        <p:nvSpPr>
          <p:cNvPr id="90" name="Shape 86"/>
          <p:cNvSpPr/>
          <p:nvPr/>
        </p:nvSpPr>
        <p:spPr>
          <a:xfrm>
            <a:off x="9083040" y="6417355"/>
            <a:ext cx="563880" cy="563880"/>
          </a:xfrm>
          <a:prstGeom prst="roundRect">
            <a:avLst>
              <a:gd name="adj" fmla="val 21875"/>
            </a:avLst>
          </a:prstGeom>
          <a:solidFill>
            <a:srgbClr val="FFE9CF"/>
          </a:solidFill>
          <a:ln/>
        </p:spPr>
      </p:sp>
      <p:sp>
        <p:nvSpPr>
          <p:cNvPr id="91" name="Text 87"/>
          <p:cNvSpPr/>
          <p:nvPr/>
        </p:nvSpPr>
        <p:spPr>
          <a:xfrm>
            <a:off x="9752648" y="6440277"/>
            <a:ext cx="1320038" cy="196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041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Tacos du Boulevard</a:t>
            </a:r>
            <a:endParaRPr lang="en-US" sz="1041" dirty="0"/>
          </a:p>
        </p:txBody>
      </p:sp>
      <p:sp>
        <p:nvSpPr>
          <p:cNvPr id="92" name="Shape 88"/>
          <p:cNvSpPr/>
          <p:nvPr/>
        </p:nvSpPr>
        <p:spPr>
          <a:xfrm>
            <a:off x="11023167" y="6422656"/>
            <a:ext cx="496149" cy="193834"/>
          </a:xfrm>
          <a:prstGeom prst="roundRect">
            <a:avLst>
              <a:gd name="adj" fmla="val 50000"/>
            </a:avLst>
          </a:prstGeom>
          <a:solidFill>
            <a:srgbClr val="E7F6EC"/>
          </a:solidFill>
          <a:ln/>
        </p:spPr>
      </p:sp>
      <p:sp>
        <p:nvSpPr>
          <p:cNvPr id="93" name="Shape 89"/>
          <p:cNvSpPr/>
          <p:nvPr/>
        </p:nvSpPr>
        <p:spPr>
          <a:xfrm>
            <a:off x="11093652" y="6497546"/>
            <a:ext cx="44053" cy="44053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94" name="Text 90"/>
          <p:cNvSpPr/>
          <p:nvPr/>
        </p:nvSpPr>
        <p:spPr>
          <a:xfrm>
            <a:off x="11172948" y="6471114"/>
            <a:ext cx="352082" cy="135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909"/>
              </a:lnSpc>
              <a:buNone/>
            </a:pPr>
            <a:r>
              <a:rPr lang="en-US" sz="694" b="1" dirty="0">
                <a:solidFill>
                  <a:srgbClr val="15803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Ouvert</a:t>
            </a:r>
            <a:endParaRPr lang="en-US" sz="694" dirty="0"/>
          </a:p>
        </p:txBody>
      </p:sp>
      <p:sp>
        <p:nvSpPr>
          <p:cNvPr id="95" name="Text 91"/>
          <p:cNvSpPr/>
          <p:nvPr/>
        </p:nvSpPr>
        <p:spPr>
          <a:xfrm>
            <a:off x="9752648" y="6634110"/>
            <a:ext cx="2422922" cy="186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833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Tacos · Grillades — Ambatoloaka</a:t>
            </a:r>
            <a:endParaRPr lang="en-US" sz="833" dirty="0"/>
          </a:p>
        </p:txBody>
      </p:sp>
      <p:sp>
        <p:nvSpPr>
          <p:cNvPr id="96" name="Text 92"/>
          <p:cNvSpPr/>
          <p:nvPr/>
        </p:nvSpPr>
        <p:spPr>
          <a:xfrm>
            <a:off x="9752648" y="6843776"/>
            <a:ext cx="208359" cy="17025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1041" dirty="0">
                <a:solidFill>
                  <a:srgbClr val="FF8A1E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schedule</a:t>
            </a:r>
            <a:endParaRPr lang="en-US" sz="1041" dirty="0"/>
          </a:p>
        </p:txBody>
      </p:sp>
      <p:sp>
        <p:nvSpPr>
          <p:cNvPr id="97" name="Text 93"/>
          <p:cNvSpPr/>
          <p:nvPr/>
        </p:nvSpPr>
        <p:spPr>
          <a:xfrm>
            <a:off x="9920049" y="6852586"/>
            <a:ext cx="581503" cy="152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833" b="1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20–30 min</a:t>
            </a:r>
            <a:endParaRPr lang="en-US" sz="833" dirty="0"/>
          </a:p>
        </p:txBody>
      </p:sp>
      <p:sp>
        <p:nvSpPr>
          <p:cNvPr id="98" name="Text 94"/>
          <p:cNvSpPr/>
          <p:nvPr/>
        </p:nvSpPr>
        <p:spPr>
          <a:xfrm>
            <a:off x="10531080" y="6843776"/>
            <a:ext cx="208359" cy="17025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1041" dirty="0">
                <a:solidFill>
                  <a:srgbClr val="FF8A1E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two_wheeler</a:t>
            </a:r>
            <a:endParaRPr lang="en-US" sz="1041" dirty="0"/>
          </a:p>
        </p:txBody>
      </p:sp>
      <p:sp>
        <p:nvSpPr>
          <p:cNvPr id="99" name="Text 95"/>
          <p:cNvSpPr/>
          <p:nvPr/>
        </p:nvSpPr>
        <p:spPr>
          <a:xfrm>
            <a:off x="10698482" y="6852586"/>
            <a:ext cx="475156" cy="152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833" b="1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4 000 Ar</a:t>
            </a:r>
            <a:endParaRPr lang="en-US" sz="833" dirty="0"/>
          </a:p>
        </p:txBody>
      </p:sp>
      <p:sp>
        <p:nvSpPr>
          <p:cNvPr id="100" name="Shape 96"/>
          <p:cNvSpPr/>
          <p:nvPr/>
        </p:nvSpPr>
        <p:spPr>
          <a:xfrm>
            <a:off x="8977313" y="7192691"/>
            <a:ext cx="3083719" cy="775335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A1A1A">
                <a:alpha val="6000"/>
              </a:srgbClr>
            </a:outerShdw>
          </a:effectLst>
        </p:spPr>
      </p:sp>
      <p:sp>
        <p:nvSpPr>
          <p:cNvPr id="101" name="Shape 97"/>
          <p:cNvSpPr/>
          <p:nvPr/>
        </p:nvSpPr>
        <p:spPr>
          <a:xfrm>
            <a:off x="9083040" y="7298418"/>
            <a:ext cx="563880" cy="563880"/>
          </a:xfrm>
          <a:prstGeom prst="roundRect">
            <a:avLst>
              <a:gd name="adj" fmla="val 21875"/>
            </a:avLst>
          </a:prstGeom>
          <a:solidFill>
            <a:srgbClr val="FFE9CF"/>
          </a:solidFill>
          <a:ln/>
        </p:spPr>
      </p:sp>
      <p:sp>
        <p:nvSpPr>
          <p:cNvPr id="102" name="Text 98"/>
          <p:cNvSpPr/>
          <p:nvPr/>
        </p:nvSpPr>
        <p:spPr>
          <a:xfrm>
            <a:off x="9752648" y="7321339"/>
            <a:ext cx="994088" cy="196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041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Burger Baobab</a:t>
            </a:r>
            <a:endParaRPr lang="en-US" sz="1041" dirty="0"/>
          </a:p>
        </p:txBody>
      </p:sp>
      <p:sp>
        <p:nvSpPr>
          <p:cNvPr id="103" name="Shape 99"/>
          <p:cNvSpPr/>
          <p:nvPr/>
        </p:nvSpPr>
        <p:spPr>
          <a:xfrm>
            <a:off x="10741021" y="7303718"/>
            <a:ext cx="496148" cy="193834"/>
          </a:xfrm>
          <a:prstGeom prst="roundRect">
            <a:avLst>
              <a:gd name="adj" fmla="val 50000"/>
            </a:avLst>
          </a:prstGeom>
          <a:solidFill>
            <a:srgbClr val="E7F6EC"/>
          </a:solidFill>
          <a:ln/>
        </p:spPr>
      </p:sp>
      <p:sp>
        <p:nvSpPr>
          <p:cNvPr id="104" name="Shape 100"/>
          <p:cNvSpPr/>
          <p:nvPr/>
        </p:nvSpPr>
        <p:spPr>
          <a:xfrm>
            <a:off x="10811505" y="7378608"/>
            <a:ext cx="44053" cy="44053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5" name="Text 101"/>
          <p:cNvSpPr/>
          <p:nvPr/>
        </p:nvSpPr>
        <p:spPr>
          <a:xfrm>
            <a:off x="10890802" y="7352176"/>
            <a:ext cx="352082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909"/>
              </a:lnSpc>
              <a:buNone/>
            </a:pPr>
            <a:r>
              <a:rPr lang="en-US" sz="694" b="1" dirty="0">
                <a:solidFill>
                  <a:srgbClr val="15803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Ouvert</a:t>
            </a:r>
            <a:endParaRPr lang="en-US" sz="694" dirty="0"/>
          </a:p>
        </p:txBody>
      </p:sp>
      <p:sp>
        <p:nvSpPr>
          <p:cNvPr id="106" name="Text 102"/>
          <p:cNvSpPr/>
          <p:nvPr/>
        </p:nvSpPr>
        <p:spPr>
          <a:xfrm>
            <a:off x="9752648" y="7515173"/>
            <a:ext cx="2422922" cy="186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833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Burgers · Street-food — Madirokely</a:t>
            </a:r>
            <a:endParaRPr lang="en-US" sz="833" dirty="0"/>
          </a:p>
        </p:txBody>
      </p:sp>
      <p:sp>
        <p:nvSpPr>
          <p:cNvPr id="107" name="Text 103"/>
          <p:cNvSpPr/>
          <p:nvPr/>
        </p:nvSpPr>
        <p:spPr>
          <a:xfrm>
            <a:off x="9752648" y="7724838"/>
            <a:ext cx="208359" cy="17025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1041" dirty="0">
                <a:solidFill>
                  <a:srgbClr val="FF8A1E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schedule</a:t>
            </a:r>
            <a:endParaRPr lang="en-US" sz="1041" dirty="0"/>
          </a:p>
        </p:txBody>
      </p:sp>
      <p:sp>
        <p:nvSpPr>
          <p:cNvPr id="108" name="Text 104"/>
          <p:cNvSpPr/>
          <p:nvPr/>
        </p:nvSpPr>
        <p:spPr>
          <a:xfrm>
            <a:off x="9920049" y="7733649"/>
            <a:ext cx="581641" cy="152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833" b="1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30–40 min</a:t>
            </a:r>
            <a:endParaRPr lang="en-US" sz="833" dirty="0"/>
          </a:p>
        </p:txBody>
      </p:sp>
      <p:sp>
        <p:nvSpPr>
          <p:cNvPr id="109" name="Text 105"/>
          <p:cNvSpPr/>
          <p:nvPr/>
        </p:nvSpPr>
        <p:spPr>
          <a:xfrm>
            <a:off x="10531218" y="7724838"/>
            <a:ext cx="208359" cy="17025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1041" dirty="0">
                <a:solidFill>
                  <a:srgbClr val="FF8A1E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two_wheeler</a:t>
            </a:r>
            <a:endParaRPr lang="en-US" sz="1041" dirty="0"/>
          </a:p>
        </p:txBody>
      </p:sp>
      <p:sp>
        <p:nvSpPr>
          <p:cNvPr id="110" name="Text 106"/>
          <p:cNvSpPr/>
          <p:nvPr/>
        </p:nvSpPr>
        <p:spPr>
          <a:xfrm>
            <a:off x="10698619" y="7733649"/>
            <a:ext cx="475019" cy="152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833" b="1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6 000 Ar</a:t>
            </a:r>
            <a:endParaRPr lang="en-US" sz="833" dirty="0"/>
          </a:p>
        </p:txBody>
      </p:sp>
      <p:sp>
        <p:nvSpPr>
          <p:cNvPr id="111" name="Shape 107"/>
          <p:cNvSpPr/>
          <p:nvPr/>
        </p:nvSpPr>
        <p:spPr>
          <a:xfrm>
            <a:off x="8977313" y="8073753"/>
            <a:ext cx="3083719" cy="775335"/>
          </a:xfrm>
          <a:prstGeom prst="roundRect">
            <a:avLst>
              <a:gd name="adj" fmla="val 22727"/>
            </a:avLst>
          </a:prstGeom>
          <a:solidFill>
            <a:srgbClr val="FFFFFF">
              <a:alpha val="55000"/>
            </a:srgbClr>
          </a:solidFill>
          <a:ln/>
          <a:effectLst>
            <a:outerShdw sx="100000" sy="100000" kx="0" ky="0" algn="bl" rotWithShape="0" blurRad="76200" dist="19050" dir="5400000">
              <a:srgbClr val="1A1A1A">
                <a:alpha val="2200"/>
              </a:srgbClr>
            </a:outerShdw>
          </a:effectLst>
        </p:spPr>
      </p:sp>
      <p:sp>
        <p:nvSpPr>
          <p:cNvPr id="112" name="Shape 108"/>
          <p:cNvSpPr/>
          <p:nvPr/>
        </p:nvSpPr>
        <p:spPr>
          <a:xfrm>
            <a:off x="9083040" y="8179480"/>
            <a:ext cx="563880" cy="563880"/>
          </a:xfrm>
          <a:prstGeom prst="roundRect">
            <a:avLst>
              <a:gd name="adj" fmla="val 21875"/>
            </a:avLst>
          </a:prstGeom>
          <a:solidFill>
            <a:srgbClr val="EEE9E4">
              <a:alpha val="55000"/>
            </a:srgbClr>
          </a:solidFill>
          <a:ln/>
        </p:spPr>
      </p:sp>
      <p:sp>
        <p:nvSpPr>
          <p:cNvPr id="113" name="Text 109"/>
          <p:cNvSpPr/>
          <p:nvPr/>
        </p:nvSpPr>
        <p:spPr>
          <a:xfrm>
            <a:off x="9752648" y="8215618"/>
            <a:ext cx="837355" cy="196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041" b="1" dirty="0">
                <a:solidFill>
                  <a:srgbClr val="4A4744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Chez Loulou</a:t>
            </a:r>
            <a:endParaRPr lang="en-US" sz="1041" dirty="0"/>
          </a:p>
        </p:txBody>
      </p:sp>
      <p:sp>
        <p:nvSpPr>
          <p:cNvPr id="114" name="Shape 110"/>
          <p:cNvSpPr/>
          <p:nvPr/>
        </p:nvSpPr>
        <p:spPr>
          <a:xfrm>
            <a:off x="10584288" y="8197997"/>
            <a:ext cx="477908" cy="193834"/>
          </a:xfrm>
          <a:prstGeom prst="roundRect">
            <a:avLst>
              <a:gd name="adj" fmla="val 50000"/>
            </a:avLst>
          </a:prstGeom>
          <a:solidFill>
            <a:srgbClr val="F0EDE9">
              <a:alpha val="55000"/>
            </a:srgbClr>
          </a:solidFill>
          <a:ln/>
        </p:spPr>
      </p:sp>
      <p:sp>
        <p:nvSpPr>
          <p:cNvPr id="115" name="Shape 111"/>
          <p:cNvSpPr/>
          <p:nvPr/>
        </p:nvSpPr>
        <p:spPr>
          <a:xfrm>
            <a:off x="10654773" y="8272887"/>
            <a:ext cx="44053" cy="44053"/>
          </a:xfrm>
          <a:prstGeom prst="ellipse">
            <a:avLst/>
          </a:prstGeom>
          <a:solidFill>
            <a:srgbClr val="B4AFA9">
              <a:alpha val="55000"/>
            </a:srgbClr>
          </a:solidFill>
          <a:ln/>
        </p:spPr>
      </p:sp>
      <p:sp>
        <p:nvSpPr>
          <p:cNvPr id="116" name="Text 112"/>
          <p:cNvSpPr/>
          <p:nvPr/>
        </p:nvSpPr>
        <p:spPr>
          <a:xfrm>
            <a:off x="10734068" y="8246455"/>
            <a:ext cx="333842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909"/>
              </a:lnSpc>
              <a:buNone/>
            </a:pPr>
            <a:r>
              <a:rPr lang="en-US" sz="694" b="1" dirty="0">
                <a:solidFill>
                  <a:srgbClr val="8A8580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Fermé</a:t>
            </a:r>
            <a:endParaRPr lang="en-US" sz="694" dirty="0"/>
          </a:p>
        </p:txBody>
      </p:sp>
      <p:sp>
        <p:nvSpPr>
          <p:cNvPr id="117" name="Text 113"/>
          <p:cNvSpPr/>
          <p:nvPr/>
        </p:nvSpPr>
        <p:spPr>
          <a:xfrm>
            <a:off x="9752648" y="8409451"/>
            <a:ext cx="2422922" cy="186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833" dirty="0">
                <a:solidFill>
                  <a:srgbClr val="8A8580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Malgache · Poissons — Hell-Ville</a:t>
            </a:r>
            <a:endParaRPr lang="en-US" sz="833" dirty="0"/>
          </a:p>
        </p:txBody>
      </p:sp>
      <p:sp>
        <p:nvSpPr>
          <p:cNvPr id="118" name="Text 114"/>
          <p:cNvSpPr/>
          <p:nvPr/>
        </p:nvSpPr>
        <p:spPr>
          <a:xfrm>
            <a:off x="9752648" y="8619117"/>
            <a:ext cx="2422922" cy="143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833" b="1" dirty="0">
                <a:solidFill>
                  <a:srgbClr val="8A8580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Ouvre demain à 11h00</a:t>
            </a:r>
            <a:endParaRPr lang="en-US" sz="833" dirty="0"/>
          </a:p>
        </p:txBody>
      </p:sp>
      <p:sp>
        <p:nvSpPr>
          <p:cNvPr id="119" name="Shape 115"/>
          <p:cNvSpPr/>
          <p:nvPr/>
        </p:nvSpPr>
        <p:spPr>
          <a:xfrm>
            <a:off x="8801100" y="8734619"/>
            <a:ext cx="3436144" cy="8193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0" name="Shape 116"/>
          <p:cNvSpPr/>
          <p:nvPr/>
        </p:nvSpPr>
        <p:spPr>
          <a:xfrm>
            <a:off x="8801100" y="8734619"/>
            <a:ext cx="3436144" cy="9525"/>
          </a:xfrm>
          <a:prstGeom prst="rect">
            <a:avLst/>
          </a:prstGeom>
          <a:solidFill>
            <a:srgbClr val="E9E5E0"/>
          </a:solidFill>
          <a:ln/>
        </p:spPr>
      </p:sp>
      <p:sp>
        <p:nvSpPr>
          <p:cNvPr id="121" name="Text 117"/>
          <p:cNvSpPr/>
          <p:nvPr/>
        </p:nvSpPr>
        <p:spPr>
          <a:xfrm>
            <a:off x="9114634" y="8831535"/>
            <a:ext cx="287655" cy="24955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2759"/>
              </a:lnSpc>
              <a:buNone/>
            </a:pPr>
            <a:r>
              <a:rPr lang="en-US" sz="1665" dirty="0">
                <a:solidFill>
                  <a:srgbClr val="E8342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storefront</a:t>
            </a:r>
            <a:endParaRPr lang="en-US" sz="1665" dirty="0"/>
          </a:p>
        </p:txBody>
      </p:sp>
      <p:sp>
        <p:nvSpPr>
          <p:cNvPr id="122" name="Text 118"/>
          <p:cNvSpPr/>
          <p:nvPr/>
        </p:nvSpPr>
        <p:spPr>
          <a:xfrm>
            <a:off x="9068310" y="9069423"/>
            <a:ext cx="380304" cy="126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9"/>
              </a:lnSpc>
              <a:buNone/>
            </a:pPr>
            <a:r>
              <a:rPr lang="en-US" sz="694" b="1" dirty="0">
                <a:solidFill>
                  <a:srgbClr val="E8342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Accueil</a:t>
            </a:r>
            <a:endParaRPr lang="en-US" sz="694" dirty="0"/>
          </a:p>
        </p:txBody>
      </p:sp>
      <p:sp>
        <p:nvSpPr>
          <p:cNvPr id="123" name="Text 119"/>
          <p:cNvSpPr/>
          <p:nvPr/>
        </p:nvSpPr>
        <p:spPr>
          <a:xfrm>
            <a:off x="10060056" y="8831535"/>
            <a:ext cx="287655" cy="24955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2759"/>
              </a:lnSpc>
              <a:buNone/>
            </a:pPr>
            <a:r>
              <a:rPr lang="en-US" sz="1665" dirty="0">
                <a:solidFill>
                  <a:srgbClr val="B4AFA9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receipt_long</a:t>
            </a:r>
            <a:endParaRPr lang="en-US" sz="1665" dirty="0"/>
          </a:p>
        </p:txBody>
      </p:sp>
      <p:sp>
        <p:nvSpPr>
          <p:cNvPr id="124" name="Text 120"/>
          <p:cNvSpPr/>
          <p:nvPr/>
        </p:nvSpPr>
        <p:spPr>
          <a:xfrm>
            <a:off x="9906971" y="9069423"/>
            <a:ext cx="593824" cy="126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9"/>
              </a:lnSpc>
              <a:buNone/>
            </a:pPr>
            <a:r>
              <a:rPr lang="en-US" sz="694" b="1" dirty="0">
                <a:solidFill>
                  <a:srgbClr val="B4AFA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Commandes</a:t>
            </a:r>
            <a:endParaRPr lang="en-US" sz="694" dirty="0"/>
          </a:p>
        </p:txBody>
      </p:sp>
      <p:sp>
        <p:nvSpPr>
          <p:cNvPr id="125" name="Text 121"/>
          <p:cNvSpPr/>
          <p:nvPr/>
        </p:nvSpPr>
        <p:spPr>
          <a:xfrm>
            <a:off x="10984414" y="8831535"/>
            <a:ext cx="287655" cy="24955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2759"/>
              </a:lnSpc>
              <a:buNone/>
            </a:pPr>
            <a:r>
              <a:rPr lang="en-US" sz="1665" dirty="0">
                <a:solidFill>
                  <a:srgbClr val="B4AFA9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shopping_bag</a:t>
            </a:r>
            <a:endParaRPr lang="en-US" sz="1665" dirty="0"/>
          </a:p>
        </p:txBody>
      </p:sp>
      <p:sp>
        <p:nvSpPr>
          <p:cNvPr id="126" name="Text 122"/>
          <p:cNvSpPr/>
          <p:nvPr/>
        </p:nvSpPr>
        <p:spPr>
          <a:xfrm>
            <a:off x="10959083" y="9069423"/>
            <a:ext cx="338317" cy="126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9"/>
              </a:lnSpc>
              <a:buNone/>
            </a:pPr>
            <a:r>
              <a:rPr lang="en-US" sz="694" b="1" dirty="0">
                <a:solidFill>
                  <a:srgbClr val="B4AFA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Panier</a:t>
            </a:r>
            <a:endParaRPr lang="en-US" sz="694" dirty="0"/>
          </a:p>
        </p:txBody>
      </p:sp>
      <p:sp>
        <p:nvSpPr>
          <p:cNvPr id="127" name="Text 123"/>
          <p:cNvSpPr/>
          <p:nvPr/>
        </p:nvSpPr>
        <p:spPr>
          <a:xfrm>
            <a:off x="11757134" y="8831535"/>
            <a:ext cx="287655" cy="24955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2759"/>
              </a:lnSpc>
              <a:buNone/>
            </a:pPr>
            <a:r>
              <a:rPr lang="en-US" sz="1665" dirty="0">
                <a:solidFill>
                  <a:srgbClr val="B4AFA9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person</a:t>
            </a:r>
            <a:endParaRPr lang="en-US" sz="1665" dirty="0"/>
          </a:p>
        </p:txBody>
      </p:sp>
      <p:sp>
        <p:nvSpPr>
          <p:cNvPr id="128" name="Text 124"/>
          <p:cNvSpPr/>
          <p:nvPr/>
        </p:nvSpPr>
        <p:spPr>
          <a:xfrm>
            <a:off x="11755757" y="9069423"/>
            <a:ext cx="290408" cy="126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9"/>
              </a:lnSpc>
              <a:buNone/>
            </a:pPr>
            <a:r>
              <a:rPr lang="en-US" sz="694" b="1" dirty="0">
                <a:solidFill>
                  <a:srgbClr val="B4AFA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Profil</a:t>
            </a:r>
            <a:endParaRPr lang="en-US" sz="694" dirty="0"/>
          </a:p>
        </p:txBody>
      </p:sp>
      <p:sp>
        <p:nvSpPr>
          <p:cNvPr id="129" name="Shape 125"/>
          <p:cNvSpPr/>
          <p:nvPr/>
        </p:nvSpPr>
        <p:spPr>
          <a:xfrm>
            <a:off x="12744450" y="1959248"/>
            <a:ext cx="229077" cy="158591"/>
          </a:xfrm>
          <a:prstGeom prst="roundRect">
            <a:avLst>
              <a:gd name="adj" fmla="val 27778"/>
            </a:avLst>
          </a:prstGeom>
          <a:solidFill>
            <a:srgbClr val="1A1A1A"/>
          </a:solidFill>
          <a:ln/>
        </p:spPr>
      </p:sp>
      <p:sp>
        <p:nvSpPr>
          <p:cNvPr id="130" name="Text 126"/>
          <p:cNvSpPr/>
          <p:nvPr/>
        </p:nvSpPr>
        <p:spPr>
          <a:xfrm>
            <a:off x="12806124" y="1994490"/>
            <a:ext cx="181928" cy="126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694" dirty="0">
                <a:solidFill>
                  <a:srgbClr val="FFC7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694" dirty="0"/>
          </a:p>
        </p:txBody>
      </p:sp>
      <p:sp>
        <p:nvSpPr>
          <p:cNvPr id="131" name="Text 127"/>
          <p:cNvSpPr/>
          <p:nvPr/>
        </p:nvSpPr>
        <p:spPr>
          <a:xfrm>
            <a:off x="13044011" y="1972464"/>
            <a:ext cx="1091074" cy="152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57"/>
              </a:lnSpc>
              <a:buNone/>
            </a:pPr>
            <a:r>
              <a:rPr lang="en-US" sz="902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Menu du restaurant</a:t>
            </a:r>
            <a:endParaRPr lang="en-US" sz="902" dirty="0"/>
          </a:p>
        </p:txBody>
      </p:sp>
      <p:sp>
        <p:nvSpPr>
          <p:cNvPr id="132" name="Shape 128"/>
          <p:cNvSpPr/>
          <p:nvPr/>
        </p:nvSpPr>
        <p:spPr>
          <a:xfrm>
            <a:off x="12744450" y="2117839"/>
            <a:ext cx="3436144" cy="7436168"/>
          </a:xfrm>
          <a:prstGeom prst="roundRect">
            <a:avLst>
              <a:gd name="adj" fmla="val 11282"/>
            </a:avLst>
          </a:prstGeom>
          <a:solidFill>
            <a:srgbClr val="F5F2EF"/>
          </a:solidFill>
          <a:ln/>
          <a:effectLst>
            <a:outerShdw sx="100000" sy="100000" kx="0" ky="0" algn="bl" rotWithShape="0" blurRad="381000" dist="133350" dir="5400000">
              <a:srgbClr val="1A1A1A">
                <a:alpha val="14000"/>
              </a:srgbClr>
            </a:outerShdw>
          </a:effectLst>
        </p:spPr>
      </p:sp>
      <p:sp>
        <p:nvSpPr>
          <p:cNvPr id="133" name="Shape 129"/>
          <p:cNvSpPr/>
          <p:nvPr/>
        </p:nvSpPr>
        <p:spPr>
          <a:xfrm>
            <a:off x="12744450" y="2117839"/>
            <a:ext cx="3436144" cy="1762125"/>
          </a:xfrm>
          <a:prstGeom prst="rect">
            <a:avLst/>
          </a:prstGeom>
          <a:solidFill>
            <a:srgbClr val="FFE9CF"/>
          </a:solidFill>
          <a:ln/>
        </p:spPr>
      </p:sp>
      <p:sp>
        <p:nvSpPr>
          <p:cNvPr id="134" name="Text 130"/>
          <p:cNvSpPr/>
          <p:nvPr/>
        </p:nvSpPr>
        <p:spPr>
          <a:xfrm>
            <a:off x="12955905" y="2254404"/>
            <a:ext cx="312641" cy="152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57"/>
              </a:lnSpc>
              <a:buNone/>
            </a:pPr>
            <a:r>
              <a:rPr lang="en-US" sz="902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9:41</a:t>
            </a:r>
            <a:endParaRPr lang="en-US" sz="902" dirty="0"/>
          </a:p>
        </p:txBody>
      </p:sp>
      <p:sp>
        <p:nvSpPr>
          <p:cNvPr id="135" name="Text 131"/>
          <p:cNvSpPr/>
          <p:nvPr/>
        </p:nvSpPr>
        <p:spPr>
          <a:xfrm>
            <a:off x="15458123" y="2241188"/>
            <a:ext cx="217169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1A1A1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signal_cellular_alt</a:t>
            </a:r>
            <a:endParaRPr lang="en-US" sz="1110" dirty="0"/>
          </a:p>
        </p:txBody>
      </p:sp>
      <p:sp>
        <p:nvSpPr>
          <p:cNvPr id="136" name="Text 132"/>
          <p:cNvSpPr/>
          <p:nvPr/>
        </p:nvSpPr>
        <p:spPr>
          <a:xfrm>
            <a:off x="15643145" y="2241188"/>
            <a:ext cx="217170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1A1A1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wifi</a:t>
            </a:r>
            <a:endParaRPr lang="en-US" sz="1110" dirty="0"/>
          </a:p>
        </p:txBody>
      </p:sp>
      <p:sp>
        <p:nvSpPr>
          <p:cNvPr id="137" name="Text 133"/>
          <p:cNvSpPr/>
          <p:nvPr/>
        </p:nvSpPr>
        <p:spPr>
          <a:xfrm>
            <a:off x="15828169" y="2241188"/>
            <a:ext cx="217170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1A1A1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battery_full</a:t>
            </a:r>
            <a:endParaRPr lang="en-US" sz="1110" dirty="0"/>
          </a:p>
        </p:txBody>
      </p:sp>
      <p:sp>
        <p:nvSpPr>
          <p:cNvPr id="138" name="Shape 134"/>
          <p:cNvSpPr/>
          <p:nvPr/>
        </p:nvSpPr>
        <p:spPr>
          <a:xfrm>
            <a:off x="12920663" y="2487885"/>
            <a:ext cx="352425" cy="352425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A1A1A">
                <a:alpha val="12000"/>
              </a:srgbClr>
            </a:outerShdw>
          </a:effectLst>
        </p:spPr>
      </p:sp>
      <p:sp>
        <p:nvSpPr>
          <p:cNvPr id="139" name="Text 135"/>
          <p:cNvSpPr/>
          <p:nvPr/>
        </p:nvSpPr>
        <p:spPr>
          <a:xfrm>
            <a:off x="12999958" y="2567181"/>
            <a:ext cx="270035" cy="2319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615"/>
              </a:lnSpc>
              <a:buNone/>
            </a:pPr>
            <a:r>
              <a:rPr lang="en-US" sz="1526" dirty="0">
                <a:solidFill>
                  <a:srgbClr val="1A1A1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arrow_back</a:t>
            </a:r>
            <a:endParaRPr lang="en-US" sz="1526" dirty="0"/>
          </a:p>
        </p:txBody>
      </p:sp>
      <p:sp>
        <p:nvSpPr>
          <p:cNvPr id="140" name="Shape 136"/>
          <p:cNvSpPr/>
          <p:nvPr/>
        </p:nvSpPr>
        <p:spPr>
          <a:xfrm>
            <a:off x="15651956" y="2487885"/>
            <a:ext cx="352425" cy="352425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A1A1A">
                <a:alpha val="12000"/>
              </a:srgbClr>
            </a:outerShdw>
          </a:effectLst>
        </p:spPr>
      </p:sp>
      <p:sp>
        <p:nvSpPr>
          <p:cNvPr id="141" name="Text 137"/>
          <p:cNvSpPr/>
          <p:nvPr/>
        </p:nvSpPr>
        <p:spPr>
          <a:xfrm>
            <a:off x="15731251" y="2567181"/>
            <a:ext cx="270035" cy="2319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615"/>
              </a:lnSpc>
              <a:buNone/>
            </a:pPr>
            <a:r>
              <a:rPr lang="en-US" sz="1526" dirty="0">
                <a:solidFill>
                  <a:srgbClr val="1A1A1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favorite</a:t>
            </a:r>
            <a:endParaRPr lang="en-US" sz="1526" dirty="0"/>
          </a:p>
        </p:txBody>
      </p:sp>
      <p:sp>
        <p:nvSpPr>
          <p:cNvPr id="142" name="Text 138"/>
          <p:cNvSpPr/>
          <p:nvPr/>
        </p:nvSpPr>
        <p:spPr>
          <a:xfrm>
            <a:off x="12920663" y="3703752"/>
            <a:ext cx="1133475" cy="126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694" dirty="0">
                <a:solidFill>
                  <a:srgbClr val="A974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photo bannière resto</a:t>
            </a:r>
            <a:endParaRPr lang="en-US" sz="694" dirty="0"/>
          </a:p>
        </p:txBody>
      </p:sp>
      <p:sp>
        <p:nvSpPr>
          <p:cNvPr id="143" name="Shape 139"/>
          <p:cNvSpPr/>
          <p:nvPr/>
        </p:nvSpPr>
        <p:spPr>
          <a:xfrm>
            <a:off x="12744450" y="3650888"/>
            <a:ext cx="3436144" cy="5903119"/>
          </a:xfrm>
          <a:custGeom>
            <a:avLst/>
            <a:gdLst/>
            <a:ahLst/>
            <a:cxnLst/>
            <a:rect l="l" t="t" r="r" b="b"/>
            <a:pathLst>
              <a:path w="3436144" h="5903119">
                <a:moveTo>
                  <a:pt x="229076" y="0"/>
                </a:moveTo>
                <a:lnTo>
                  <a:pt x="3207068" y="0"/>
                </a:lnTo>
                <a:arcTo hR="229076" wR="229076" stAng="16200000" swAng="5400000"/>
                <a:lnTo>
                  <a:pt x="3436144" y="5903119"/>
                </a:lnTo>
                <a:lnTo>
                  <a:pt x="0" y="5903119"/>
                </a:lnTo>
                <a:lnTo>
                  <a:pt x="0" y="229076"/>
                </a:lnTo>
                <a:arcTo hR="229076" wR="229076" stAng="10800000" swAng="5400000"/>
                <a:close/>
              </a:path>
            </a:pathLst>
          </a:custGeom>
          <a:solidFill>
            <a:srgbClr val="F5F2EF"/>
          </a:solidFill>
          <a:ln/>
        </p:spPr>
      </p:sp>
      <p:sp>
        <p:nvSpPr>
          <p:cNvPr id="144" name="Shape 140"/>
          <p:cNvSpPr/>
          <p:nvPr/>
        </p:nvSpPr>
        <p:spPr>
          <a:xfrm>
            <a:off x="12744450" y="3650888"/>
            <a:ext cx="3436144" cy="1154192"/>
          </a:xfrm>
          <a:custGeom>
            <a:avLst/>
            <a:gdLst/>
            <a:ahLst/>
            <a:cxnLst/>
            <a:rect l="l" t="t" r="r" b="b"/>
            <a:pathLst>
              <a:path w="3436144" h="1154192">
                <a:moveTo>
                  <a:pt x="229076" y="0"/>
                </a:moveTo>
                <a:lnTo>
                  <a:pt x="3207068" y="0"/>
                </a:lnTo>
                <a:arcTo hR="229076" wR="229076" stAng="16200000" swAng="5400000"/>
                <a:lnTo>
                  <a:pt x="3436144" y="1154192"/>
                </a:lnTo>
                <a:lnTo>
                  <a:pt x="0" y="1154192"/>
                </a:lnTo>
                <a:lnTo>
                  <a:pt x="0" y="229076"/>
                </a:lnTo>
                <a:arcTo hR="229076" wR="229076" stAng="10800000" swAng="5400000"/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5" name="Shape 141"/>
          <p:cNvSpPr/>
          <p:nvPr/>
        </p:nvSpPr>
        <p:spPr>
          <a:xfrm>
            <a:off x="12920663" y="3809479"/>
            <a:ext cx="458152" cy="458153"/>
          </a:xfrm>
          <a:prstGeom prst="roundRect">
            <a:avLst>
              <a:gd name="adj" fmla="val 26923"/>
            </a:avLst>
          </a:prstGeom>
          <a:solidFill>
            <a:srgbClr val="FFF3E2"/>
          </a:solidFill>
          <a:ln/>
        </p:spPr>
      </p:sp>
      <p:sp>
        <p:nvSpPr>
          <p:cNvPr id="146" name="Text 142"/>
          <p:cNvSpPr/>
          <p:nvPr/>
        </p:nvSpPr>
        <p:spPr>
          <a:xfrm>
            <a:off x="12882563" y="3809479"/>
            <a:ext cx="534352" cy="4962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49" b="1" dirty="0">
                <a:solidFill>
                  <a:srgbClr val="E8342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PP</a:t>
            </a:r>
            <a:endParaRPr lang="en-US" sz="1249" dirty="0"/>
          </a:p>
        </p:txBody>
      </p:sp>
      <p:sp>
        <p:nvSpPr>
          <p:cNvPr id="147" name="Text 143"/>
          <p:cNvSpPr/>
          <p:nvPr/>
        </p:nvSpPr>
        <p:spPr>
          <a:xfrm>
            <a:off x="13484542" y="3809479"/>
            <a:ext cx="2021247" cy="250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7" b="1" spc="-29" kern="0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Pizzeria Papillon</a:t>
            </a:r>
            <a:endParaRPr lang="en-US" sz="1457" dirty="0"/>
          </a:p>
        </p:txBody>
      </p:sp>
      <p:sp>
        <p:nvSpPr>
          <p:cNvPr id="148" name="Text 144"/>
          <p:cNvSpPr/>
          <p:nvPr/>
        </p:nvSpPr>
        <p:spPr>
          <a:xfrm>
            <a:off x="13484542" y="4048674"/>
            <a:ext cx="2021247" cy="198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2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Pizza · Italien — Hell-Ville</a:t>
            </a:r>
            <a:endParaRPr lang="en-US" sz="902" dirty="0"/>
          </a:p>
        </p:txBody>
      </p:sp>
      <p:sp>
        <p:nvSpPr>
          <p:cNvPr id="149" name="Shape 145"/>
          <p:cNvSpPr/>
          <p:nvPr/>
        </p:nvSpPr>
        <p:spPr>
          <a:xfrm>
            <a:off x="15427768" y="3809479"/>
            <a:ext cx="576614" cy="229076"/>
          </a:xfrm>
          <a:prstGeom prst="roundRect">
            <a:avLst>
              <a:gd name="adj" fmla="val 50000"/>
            </a:avLst>
          </a:prstGeom>
          <a:solidFill>
            <a:srgbClr val="E7F6EC"/>
          </a:solidFill>
          <a:ln/>
        </p:spPr>
      </p:sp>
      <p:sp>
        <p:nvSpPr>
          <p:cNvPr id="150" name="Shape 146"/>
          <p:cNvSpPr/>
          <p:nvPr/>
        </p:nvSpPr>
        <p:spPr>
          <a:xfrm>
            <a:off x="15515874" y="3897585"/>
            <a:ext cx="52863" cy="5286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51" name="Text 147"/>
          <p:cNvSpPr/>
          <p:nvPr/>
        </p:nvSpPr>
        <p:spPr>
          <a:xfrm>
            <a:off x="15612790" y="3871154"/>
            <a:ext cx="379685" cy="143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763" b="1" dirty="0">
                <a:solidFill>
                  <a:srgbClr val="15803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Ouvert</a:t>
            </a:r>
            <a:endParaRPr lang="en-US" sz="763" dirty="0"/>
          </a:p>
        </p:txBody>
      </p:sp>
      <p:sp>
        <p:nvSpPr>
          <p:cNvPr id="152" name="Shape 148"/>
          <p:cNvSpPr/>
          <p:nvPr/>
        </p:nvSpPr>
        <p:spPr>
          <a:xfrm>
            <a:off x="12920663" y="4390980"/>
            <a:ext cx="3083719" cy="9525"/>
          </a:xfrm>
          <a:prstGeom prst="rect">
            <a:avLst/>
          </a:prstGeom>
          <a:solidFill>
            <a:srgbClr val="F0EDE9"/>
          </a:solidFill>
          <a:ln/>
        </p:spPr>
      </p:sp>
      <p:sp>
        <p:nvSpPr>
          <p:cNvPr id="153" name="Text 149"/>
          <p:cNvSpPr/>
          <p:nvPr/>
        </p:nvSpPr>
        <p:spPr>
          <a:xfrm>
            <a:off x="12920663" y="4523140"/>
            <a:ext cx="217170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FF8A1E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schedule</a:t>
            </a:r>
            <a:endParaRPr lang="en-US" sz="1110" dirty="0"/>
          </a:p>
        </p:txBody>
      </p:sp>
      <p:sp>
        <p:nvSpPr>
          <p:cNvPr id="154" name="Text 150"/>
          <p:cNvSpPr/>
          <p:nvPr/>
        </p:nvSpPr>
        <p:spPr>
          <a:xfrm>
            <a:off x="13105686" y="4536356"/>
            <a:ext cx="660178" cy="152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833" b="1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11h – 22h30</a:t>
            </a:r>
            <a:endParaRPr lang="en-US" sz="833" dirty="0"/>
          </a:p>
        </p:txBody>
      </p:sp>
      <p:sp>
        <p:nvSpPr>
          <p:cNvPr id="155" name="Text 151"/>
          <p:cNvSpPr/>
          <p:nvPr/>
        </p:nvSpPr>
        <p:spPr>
          <a:xfrm>
            <a:off x="13830635" y="4523140"/>
            <a:ext cx="217170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FF8A1E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two_wheeler</a:t>
            </a:r>
            <a:endParaRPr lang="en-US" sz="1110" dirty="0"/>
          </a:p>
        </p:txBody>
      </p:sp>
      <p:sp>
        <p:nvSpPr>
          <p:cNvPr id="156" name="Text 152"/>
          <p:cNvSpPr/>
          <p:nvPr/>
        </p:nvSpPr>
        <p:spPr>
          <a:xfrm>
            <a:off x="14015658" y="4536356"/>
            <a:ext cx="474949" cy="152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833" b="1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5 000 Ar</a:t>
            </a:r>
            <a:endParaRPr lang="en-US" sz="833" dirty="0"/>
          </a:p>
        </p:txBody>
      </p:sp>
      <p:sp>
        <p:nvSpPr>
          <p:cNvPr id="157" name="Text 153"/>
          <p:cNvSpPr/>
          <p:nvPr/>
        </p:nvSpPr>
        <p:spPr>
          <a:xfrm>
            <a:off x="14555378" y="4523140"/>
            <a:ext cx="217169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FF8A1E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shopping_basket</a:t>
            </a:r>
            <a:endParaRPr lang="en-US" sz="1110" dirty="0"/>
          </a:p>
        </p:txBody>
      </p:sp>
      <p:sp>
        <p:nvSpPr>
          <p:cNvPr id="158" name="Text 154"/>
          <p:cNvSpPr/>
          <p:nvPr/>
        </p:nvSpPr>
        <p:spPr>
          <a:xfrm>
            <a:off x="14740400" y="4536356"/>
            <a:ext cx="766321" cy="152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833" b="1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Min. 15 000 Ar</a:t>
            </a:r>
            <a:endParaRPr lang="en-US" sz="833" dirty="0"/>
          </a:p>
        </p:txBody>
      </p:sp>
      <p:sp>
        <p:nvSpPr>
          <p:cNvPr id="159" name="Shape 155"/>
          <p:cNvSpPr/>
          <p:nvPr/>
        </p:nvSpPr>
        <p:spPr>
          <a:xfrm>
            <a:off x="12744450" y="4805080"/>
            <a:ext cx="3436144" cy="4140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0" name="Shape 156"/>
          <p:cNvSpPr/>
          <p:nvPr/>
        </p:nvSpPr>
        <p:spPr>
          <a:xfrm>
            <a:off x="12744450" y="5210368"/>
            <a:ext cx="3436144" cy="9525"/>
          </a:xfrm>
          <a:prstGeom prst="rect">
            <a:avLst/>
          </a:prstGeom>
          <a:solidFill>
            <a:srgbClr val="E9E5E0"/>
          </a:solidFill>
          <a:ln/>
        </p:spPr>
      </p:sp>
      <p:sp>
        <p:nvSpPr>
          <p:cNvPr id="161" name="Shape 157"/>
          <p:cNvSpPr/>
          <p:nvPr/>
        </p:nvSpPr>
        <p:spPr>
          <a:xfrm>
            <a:off x="12920663" y="4805080"/>
            <a:ext cx="565739" cy="299561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/>
        </p:spPr>
      </p:sp>
      <p:sp>
        <p:nvSpPr>
          <p:cNvPr id="162" name="Text 158"/>
          <p:cNvSpPr/>
          <p:nvPr/>
        </p:nvSpPr>
        <p:spPr>
          <a:xfrm>
            <a:off x="13044011" y="4805080"/>
            <a:ext cx="395241" cy="337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833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Pizzas</a:t>
            </a:r>
            <a:endParaRPr lang="en-US" sz="833" dirty="0"/>
          </a:p>
        </p:txBody>
      </p:sp>
      <p:sp>
        <p:nvSpPr>
          <p:cNvPr id="163" name="Shape 159"/>
          <p:cNvSpPr/>
          <p:nvPr/>
        </p:nvSpPr>
        <p:spPr>
          <a:xfrm>
            <a:off x="13556886" y="4805080"/>
            <a:ext cx="540752" cy="299561"/>
          </a:xfrm>
          <a:prstGeom prst="roundRect">
            <a:avLst>
              <a:gd name="adj" fmla="val 50000"/>
            </a:avLst>
          </a:prstGeom>
          <a:solidFill>
            <a:srgbClr val="F5F2EF"/>
          </a:solidFill>
          <a:ln/>
        </p:spPr>
      </p:sp>
      <p:sp>
        <p:nvSpPr>
          <p:cNvPr id="164" name="Text 160"/>
          <p:cNvSpPr/>
          <p:nvPr/>
        </p:nvSpPr>
        <p:spPr>
          <a:xfrm>
            <a:off x="13680235" y="4805080"/>
            <a:ext cx="370254" cy="337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833" b="1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Tacos</a:t>
            </a:r>
            <a:endParaRPr lang="en-US" sz="833" dirty="0"/>
          </a:p>
        </p:txBody>
      </p:sp>
      <p:sp>
        <p:nvSpPr>
          <p:cNvPr id="165" name="Shape 161"/>
          <p:cNvSpPr/>
          <p:nvPr/>
        </p:nvSpPr>
        <p:spPr>
          <a:xfrm>
            <a:off x="14168124" y="4805080"/>
            <a:ext cx="638563" cy="299561"/>
          </a:xfrm>
          <a:prstGeom prst="roundRect">
            <a:avLst>
              <a:gd name="adj" fmla="val 50000"/>
            </a:avLst>
          </a:prstGeom>
          <a:solidFill>
            <a:srgbClr val="F5F2EF"/>
          </a:solidFill>
          <a:ln/>
        </p:spPr>
      </p:sp>
      <p:sp>
        <p:nvSpPr>
          <p:cNvPr id="166" name="Text 162"/>
          <p:cNvSpPr/>
          <p:nvPr/>
        </p:nvSpPr>
        <p:spPr>
          <a:xfrm>
            <a:off x="14291472" y="4805080"/>
            <a:ext cx="468066" cy="337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833" b="1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Burgers</a:t>
            </a:r>
            <a:endParaRPr lang="en-US" sz="833" dirty="0"/>
          </a:p>
        </p:txBody>
      </p:sp>
      <p:sp>
        <p:nvSpPr>
          <p:cNvPr id="167" name="Shape 163"/>
          <p:cNvSpPr/>
          <p:nvPr/>
        </p:nvSpPr>
        <p:spPr>
          <a:xfrm>
            <a:off x="14877172" y="4805080"/>
            <a:ext cx="707809" cy="299561"/>
          </a:xfrm>
          <a:prstGeom prst="roundRect">
            <a:avLst>
              <a:gd name="adj" fmla="val 50000"/>
            </a:avLst>
          </a:prstGeom>
          <a:solidFill>
            <a:srgbClr val="F5F2EF"/>
          </a:solidFill>
          <a:ln/>
        </p:spPr>
      </p:sp>
      <p:sp>
        <p:nvSpPr>
          <p:cNvPr id="168" name="Text 164"/>
          <p:cNvSpPr/>
          <p:nvPr/>
        </p:nvSpPr>
        <p:spPr>
          <a:xfrm>
            <a:off x="15000521" y="4805080"/>
            <a:ext cx="537312" cy="337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833" b="1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Boissons</a:t>
            </a:r>
            <a:endParaRPr lang="en-US" sz="833" dirty="0"/>
          </a:p>
        </p:txBody>
      </p:sp>
      <p:sp>
        <p:nvSpPr>
          <p:cNvPr id="169" name="Text 165"/>
          <p:cNvSpPr/>
          <p:nvPr/>
        </p:nvSpPr>
        <p:spPr>
          <a:xfrm>
            <a:off x="12920663" y="5360150"/>
            <a:ext cx="3392091" cy="17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29"/>
              </a:lnSpc>
              <a:buNone/>
            </a:pPr>
            <a:r>
              <a:rPr lang="en-US" sz="111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Pizzas </a:t>
            </a:r>
            <a:pPr algn="l" indent="0" marL="0">
              <a:lnSpc>
                <a:spcPct val="91429"/>
              </a:lnSpc>
              <a:buNone/>
            </a:pPr>
            <a:r>
              <a:rPr lang="en-US" sz="833" b="1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· 8 produits</a:t>
            </a:r>
            <a:endParaRPr lang="en-US" sz="1110" dirty="0"/>
          </a:p>
        </p:txBody>
      </p:sp>
      <p:sp>
        <p:nvSpPr>
          <p:cNvPr id="170" name="Shape 166"/>
          <p:cNvSpPr/>
          <p:nvPr/>
        </p:nvSpPr>
        <p:spPr>
          <a:xfrm>
            <a:off x="12920663" y="5606847"/>
            <a:ext cx="3083719" cy="881063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A1A1A">
                <a:alpha val="6000"/>
              </a:srgbClr>
            </a:outerShdw>
          </a:effectLst>
        </p:spPr>
      </p:sp>
      <p:sp>
        <p:nvSpPr>
          <p:cNvPr id="171" name="Shape 167"/>
          <p:cNvSpPr/>
          <p:nvPr/>
        </p:nvSpPr>
        <p:spPr>
          <a:xfrm>
            <a:off x="13026390" y="5712575"/>
            <a:ext cx="669608" cy="669607"/>
          </a:xfrm>
          <a:prstGeom prst="roundRect">
            <a:avLst>
              <a:gd name="adj" fmla="val 18421"/>
            </a:avLst>
          </a:prstGeom>
          <a:solidFill>
            <a:srgbClr val="FFE9CF"/>
          </a:solidFill>
          <a:ln/>
        </p:spPr>
      </p:sp>
      <p:sp>
        <p:nvSpPr>
          <p:cNvPr id="172" name="Text 168"/>
          <p:cNvSpPr/>
          <p:nvPr/>
        </p:nvSpPr>
        <p:spPr>
          <a:xfrm>
            <a:off x="12988290" y="5712575"/>
            <a:ext cx="745808" cy="7077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78261"/>
              </a:lnSpc>
              <a:buNone/>
            </a:pPr>
            <a:r>
              <a:rPr lang="en-US" sz="624" dirty="0">
                <a:solidFill>
                  <a:srgbClr val="A974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margherita</a:t>
            </a:r>
            <a:endParaRPr lang="en-US" sz="624" dirty="0"/>
          </a:p>
        </p:txBody>
      </p:sp>
      <p:sp>
        <p:nvSpPr>
          <p:cNvPr id="173" name="Text 169"/>
          <p:cNvSpPr/>
          <p:nvPr/>
        </p:nvSpPr>
        <p:spPr>
          <a:xfrm>
            <a:off x="13801725" y="5783954"/>
            <a:ext cx="1822038" cy="196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041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Pizza Margherita</a:t>
            </a:r>
            <a:endParaRPr lang="en-US" sz="1041" dirty="0"/>
          </a:p>
        </p:txBody>
      </p:sp>
      <p:sp>
        <p:nvSpPr>
          <p:cNvPr id="174" name="Text 170"/>
          <p:cNvSpPr/>
          <p:nvPr/>
        </p:nvSpPr>
        <p:spPr>
          <a:xfrm>
            <a:off x="13801725" y="5960166"/>
            <a:ext cx="1822038" cy="186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833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Tomate, mozzarella, basilic frais</a:t>
            </a:r>
            <a:endParaRPr lang="en-US" sz="833" dirty="0"/>
          </a:p>
        </p:txBody>
      </p:sp>
      <p:sp>
        <p:nvSpPr>
          <p:cNvPr id="175" name="Text 171"/>
          <p:cNvSpPr/>
          <p:nvPr/>
        </p:nvSpPr>
        <p:spPr>
          <a:xfrm>
            <a:off x="13801725" y="6178643"/>
            <a:ext cx="1822038" cy="170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50"/>
              </a:lnSpc>
              <a:buNone/>
            </a:pPr>
            <a:r>
              <a:rPr lang="en-US" sz="1041" b="1" dirty="0">
                <a:solidFill>
                  <a:srgbClr val="E8342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25 000 Ar</a:t>
            </a:r>
            <a:endParaRPr lang="en-US" sz="1041" dirty="0"/>
          </a:p>
        </p:txBody>
      </p:sp>
      <p:sp>
        <p:nvSpPr>
          <p:cNvPr id="176" name="Shape 172"/>
          <p:cNvSpPr/>
          <p:nvPr/>
        </p:nvSpPr>
        <p:spPr>
          <a:xfrm>
            <a:off x="15563850" y="5879976"/>
            <a:ext cx="334804" cy="334804"/>
          </a:xfrm>
          <a:prstGeom prst="roundRect">
            <a:avLst>
              <a:gd name="adj" fmla="val 31579"/>
            </a:avLst>
          </a:prstGeom>
          <a:solidFill>
            <a:srgbClr val="E8342A"/>
          </a:solidFill>
          <a:ln/>
          <a:effectLst>
            <a:outerShdw sx="100000" sy="100000" kx="0" ky="0" algn="bl" rotWithShape="0" blurRad="114300" dist="38100" dir="5400000">
              <a:srgbClr val="E8342A">
                <a:alpha val="28000"/>
              </a:srgbClr>
            </a:outerShdw>
          </a:effectLst>
        </p:spPr>
      </p:sp>
      <p:sp>
        <p:nvSpPr>
          <p:cNvPr id="177" name="Text 173"/>
          <p:cNvSpPr/>
          <p:nvPr/>
        </p:nvSpPr>
        <p:spPr>
          <a:xfrm>
            <a:off x="15634335" y="5950461"/>
            <a:ext cx="270034" cy="2319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615"/>
              </a:lnSpc>
              <a:buNone/>
            </a:pPr>
            <a:r>
              <a:rPr lang="en-US" sz="1526" dirty="0">
                <a:solidFill>
                  <a:srgbClr val="FFFFFF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add</a:t>
            </a:r>
            <a:endParaRPr lang="en-US" sz="1526" dirty="0"/>
          </a:p>
        </p:txBody>
      </p:sp>
      <p:sp>
        <p:nvSpPr>
          <p:cNvPr id="178" name="Shape 174"/>
          <p:cNvSpPr/>
          <p:nvPr/>
        </p:nvSpPr>
        <p:spPr>
          <a:xfrm>
            <a:off x="12920663" y="6576015"/>
            <a:ext cx="3083719" cy="912726"/>
          </a:xfrm>
          <a:prstGeom prst="roundRect">
            <a:avLst>
              <a:gd name="adj" fmla="val 19306"/>
            </a:avLst>
          </a:prstGeom>
          <a:solidFill>
            <a:srgbClr val="FFFFFF"/>
          </a:solidFill>
          <a:ln w="13216">
            <a:solidFill>
              <a:srgbClr val="E8342A"/>
            </a:solidFill>
            <a:prstDash val="solid"/>
          </a:ln>
          <a:effectLst>
            <a:outerShdw sx="100000" sy="100000" kx="0" ky="0" algn="bl" rotWithShape="0" blurRad="76200" dist="19050" dir="5400000">
              <a:srgbClr val="1A1A1A">
                <a:alpha val="6000"/>
              </a:srgbClr>
            </a:outerShdw>
          </a:effectLst>
        </p:spPr>
      </p:sp>
      <p:sp>
        <p:nvSpPr>
          <p:cNvPr id="179" name="Shape 175"/>
          <p:cNvSpPr/>
          <p:nvPr/>
        </p:nvSpPr>
        <p:spPr>
          <a:xfrm>
            <a:off x="13039606" y="6697575"/>
            <a:ext cx="669607" cy="669607"/>
          </a:xfrm>
          <a:prstGeom prst="roundRect">
            <a:avLst>
              <a:gd name="adj" fmla="val 18421"/>
            </a:avLst>
          </a:prstGeom>
          <a:solidFill>
            <a:srgbClr val="FFE9CF"/>
          </a:solidFill>
          <a:ln/>
        </p:spPr>
      </p:sp>
      <p:sp>
        <p:nvSpPr>
          <p:cNvPr id="180" name="Text 176"/>
          <p:cNvSpPr/>
          <p:nvPr/>
        </p:nvSpPr>
        <p:spPr>
          <a:xfrm>
            <a:off x="13001506" y="6697575"/>
            <a:ext cx="745807" cy="7077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78261"/>
              </a:lnSpc>
              <a:buNone/>
            </a:pPr>
            <a:r>
              <a:rPr lang="en-US" sz="624" dirty="0">
                <a:solidFill>
                  <a:srgbClr val="A974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fromages</a:t>
            </a:r>
            <a:endParaRPr lang="en-US" sz="624" dirty="0"/>
          </a:p>
        </p:txBody>
      </p:sp>
      <p:sp>
        <p:nvSpPr>
          <p:cNvPr id="181" name="Text 177"/>
          <p:cNvSpPr/>
          <p:nvPr/>
        </p:nvSpPr>
        <p:spPr>
          <a:xfrm>
            <a:off x="13814940" y="6694959"/>
            <a:ext cx="1227363" cy="196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041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Pizza 4 Fromages</a:t>
            </a:r>
            <a:endParaRPr lang="en-US" sz="1041" dirty="0"/>
          </a:p>
        </p:txBody>
      </p:sp>
      <p:sp>
        <p:nvSpPr>
          <p:cNvPr id="182" name="Text 178"/>
          <p:cNvSpPr/>
          <p:nvPr/>
        </p:nvSpPr>
        <p:spPr>
          <a:xfrm>
            <a:off x="13814940" y="6871171"/>
            <a:ext cx="1227363" cy="334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833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Mozzarella, chèvre, bleu, parmesan</a:t>
            </a:r>
            <a:endParaRPr lang="en-US" sz="833" dirty="0"/>
          </a:p>
        </p:txBody>
      </p:sp>
      <p:sp>
        <p:nvSpPr>
          <p:cNvPr id="183" name="Text 179"/>
          <p:cNvSpPr/>
          <p:nvPr/>
        </p:nvSpPr>
        <p:spPr>
          <a:xfrm>
            <a:off x="13814940" y="7237638"/>
            <a:ext cx="1227363" cy="170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50"/>
              </a:lnSpc>
              <a:buNone/>
            </a:pPr>
            <a:r>
              <a:rPr lang="en-US" sz="1041" b="1" dirty="0">
                <a:solidFill>
                  <a:srgbClr val="E8342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32 000 Ar</a:t>
            </a:r>
            <a:endParaRPr lang="en-US" sz="1041" dirty="0"/>
          </a:p>
        </p:txBody>
      </p:sp>
      <p:sp>
        <p:nvSpPr>
          <p:cNvPr id="184" name="Shape 180"/>
          <p:cNvSpPr/>
          <p:nvPr/>
        </p:nvSpPr>
        <p:spPr>
          <a:xfrm>
            <a:off x="15071831" y="6864976"/>
            <a:ext cx="813606" cy="334804"/>
          </a:xfrm>
          <a:prstGeom prst="roundRect">
            <a:avLst>
              <a:gd name="adj" fmla="val 50000"/>
            </a:avLst>
          </a:prstGeom>
          <a:solidFill>
            <a:srgbClr val="F5F2EF"/>
          </a:solidFill>
          <a:ln/>
        </p:spPr>
      </p:sp>
      <p:sp>
        <p:nvSpPr>
          <p:cNvPr id="185" name="Shape 181"/>
          <p:cNvSpPr/>
          <p:nvPr/>
        </p:nvSpPr>
        <p:spPr>
          <a:xfrm>
            <a:off x="15107074" y="6900219"/>
            <a:ext cx="264319" cy="26431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6" name="Text 182"/>
          <p:cNvSpPr/>
          <p:nvPr/>
        </p:nvSpPr>
        <p:spPr>
          <a:xfrm>
            <a:off x="15159937" y="6953083"/>
            <a:ext cx="234791" cy="19669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1818"/>
              </a:lnSpc>
              <a:buNone/>
            </a:pPr>
            <a:r>
              <a:rPr lang="en-US" sz="1249" dirty="0">
                <a:solidFill>
                  <a:srgbClr val="4A4744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remove</a:t>
            </a:r>
            <a:endParaRPr lang="en-US" sz="1249" dirty="0"/>
          </a:p>
        </p:txBody>
      </p:sp>
      <p:sp>
        <p:nvSpPr>
          <p:cNvPr id="187" name="Text 183"/>
          <p:cNvSpPr/>
          <p:nvPr/>
        </p:nvSpPr>
        <p:spPr>
          <a:xfrm>
            <a:off x="15441878" y="6970704"/>
            <a:ext cx="149713" cy="161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323"/>
              </a:lnSpc>
              <a:buNone/>
            </a:pPr>
            <a:r>
              <a:rPr lang="en-US" sz="971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</a:t>
            </a:r>
            <a:endParaRPr lang="en-US" sz="971" dirty="0"/>
          </a:p>
        </p:txBody>
      </p:sp>
      <p:sp>
        <p:nvSpPr>
          <p:cNvPr id="188" name="Shape 184"/>
          <p:cNvSpPr/>
          <p:nvPr/>
        </p:nvSpPr>
        <p:spPr>
          <a:xfrm>
            <a:off x="15585877" y="6900219"/>
            <a:ext cx="264319" cy="264319"/>
          </a:xfrm>
          <a:prstGeom prst="ellipse">
            <a:avLst/>
          </a:prstGeom>
          <a:solidFill>
            <a:srgbClr val="E8342A"/>
          </a:solidFill>
          <a:ln/>
        </p:spPr>
      </p:sp>
      <p:sp>
        <p:nvSpPr>
          <p:cNvPr id="189" name="Text 185"/>
          <p:cNvSpPr/>
          <p:nvPr/>
        </p:nvSpPr>
        <p:spPr>
          <a:xfrm>
            <a:off x="15638741" y="6953083"/>
            <a:ext cx="234790" cy="19669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1818"/>
              </a:lnSpc>
              <a:buNone/>
            </a:pPr>
            <a:r>
              <a:rPr lang="en-US" sz="1249" dirty="0">
                <a:solidFill>
                  <a:srgbClr val="FFFFFF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add</a:t>
            </a:r>
            <a:endParaRPr lang="en-US" sz="1249" dirty="0"/>
          </a:p>
        </p:txBody>
      </p:sp>
      <p:sp>
        <p:nvSpPr>
          <p:cNvPr id="190" name="Shape 186"/>
          <p:cNvSpPr/>
          <p:nvPr/>
        </p:nvSpPr>
        <p:spPr>
          <a:xfrm>
            <a:off x="12920663" y="7576847"/>
            <a:ext cx="3083719" cy="881063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A1A1A">
                <a:alpha val="6000"/>
              </a:srgbClr>
            </a:outerShdw>
          </a:effectLst>
        </p:spPr>
      </p:sp>
      <p:sp>
        <p:nvSpPr>
          <p:cNvPr id="191" name="Shape 187"/>
          <p:cNvSpPr/>
          <p:nvPr/>
        </p:nvSpPr>
        <p:spPr>
          <a:xfrm>
            <a:off x="13026390" y="7682575"/>
            <a:ext cx="669608" cy="669608"/>
          </a:xfrm>
          <a:prstGeom prst="roundRect">
            <a:avLst>
              <a:gd name="adj" fmla="val 18421"/>
            </a:avLst>
          </a:prstGeom>
          <a:solidFill>
            <a:srgbClr val="FFE9CF"/>
          </a:solidFill>
          <a:ln/>
        </p:spPr>
      </p:sp>
      <p:sp>
        <p:nvSpPr>
          <p:cNvPr id="192" name="Text 188"/>
          <p:cNvSpPr/>
          <p:nvPr/>
        </p:nvSpPr>
        <p:spPr>
          <a:xfrm>
            <a:off x="12988290" y="7682575"/>
            <a:ext cx="745808" cy="707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78261"/>
              </a:lnSpc>
              <a:buNone/>
            </a:pPr>
            <a:r>
              <a:rPr lang="en-US" sz="624" dirty="0">
                <a:solidFill>
                  <a:srgbClr val="A974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zébu</a:t>
            </a:r>
            <a:endParaRPr lang="en-US" sz="624" dirty="0"/>
          </a:p>
        </p:txBody>
      </p:sp>
      <p:sp>
        <p:nvSpPr>
          <p:cNvPr id="193" name="Text 189"/>
          <p:cNvSpPr/>
          <p:nvPr/>
        </p:nvSpPr>
        <p:spPr>
          <a:xfrm>
            <a:off x="13801725" y="7753955"/>
            <a:ext cx="1822038" cy="196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041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Pizza Zébu Épicée</a:t>
            </a:r>
            <a:endParaRPr lang="en-US" sz="1041" dirty="0"/>
          </a:p>
        </p:txBody>
      </p:sp>
      <p:sp>
        <p:nvSpPr>
          <p:cNvPr id="194" name="Text 190"/>
          <p:cNvSpPr/>
          <p:nvPr/>
        </p:nvSpPr>
        <p:spPr>
          <a:xfrm>
            <a:off x="13801725" y="7930167"/>
            <a:ext cx="1822038" cy="186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833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Zébu émincé, poivrons, sakay doux</a:t>
            </a:r>
            <a:endParaRPr lang="en-US" sz="833" dirty="0"/>
          </a:p>
        </p:txBody>
      </p:sp>
      <p:sp>
        <p:nvSpPr>
          <p:cNvPr id="195" name="Text 191"/>
          <p:cNvSpPr/>
          <p:nvPr/>
        </p:nvSpPr>
        <p:spPr>
          <a:xfrm>
            <a:off x="13801725" y="8148643"/>
            <a:ext cx="1822038" cy="170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50"/>
              </a:lnSpc>
              <a:buNone/>
            </a:pPr>
            <a:r>
              <a:rPr lang="en-US" sz="1041" b="1" dirty="0">
                <a:solidFill>
                  <a:srgbClr val="E8342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34 000 Ar</a:t>
            </a:r>
            <a:endParaRPr lang="en-US" sz="1041" dirty="0"/>
          </a:p>
        </p:txBody>
      </p:sp>
      <p:sp>
        <p:nvSpPr>
          <p:cNvPr id="196" name="Shape 192"/>
          <p:cNvSpPr/>
          <p:nvPr/>
        </p:nvSpPr>
        <p:spPr>
          <a:xfrm>
            <a:off x="15563850" y="7849977"/>
            <a:ext cx="334804" cy="334804"/>
          </a:xfrm>
          <a:prstGeom prst="roundRect">
            <a:avLst>
              <a:gd name="adj" fmla="val 31579"/>
            </a:avLst>
          </a:prstGeom>
          <a:solidFill>
            <a:srgbClr val="E8342A"/>
          </a:solidFill>
          <a:ln/>
          <a:effectLst>
            <a:outerShdw sx="100000" sy="100000" kx="0" ky="0" algn="bl" rotWithShape="0" blurRad="114300" dist="38100" dir="5400000">
              <a:srgbClr val="E8342A">
                <a:alpha val="28000"/>
              </a:srgbClr>
            </a:outerShdw>
          </a:effectLst>
        </p:spPr>
      </p:sp>
      <p:sp>
        <p:nvSpPr>
          <p:cNvPr id="197" name="Text 193"/>
          <p:cNvSpPr/>
          <p:nvPr/>
        </p:nvSpPr>
        <p:spPr>
          <a:xfrm>
            <a:off x="15634335" y="7920462"/>
            <a:ext cx="270034" cy="2319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615"/>
              </a:lnSpc>
              <a:buNone/>
            </a:pPr>
            <a:r>
              <a:rPr lang="en-US" sz="1526" dirty="0">
                <a:solidFill>
                  <a:srgbClr val="FFFFFF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add</a:t>
            </a:r>
            <a:endParaRPr lang="en-US" sz="1526" dirty="0"/>
          </a:p>
        </p:txBody>
      </p:sp>
      <p:sp>
        <p:nvSpPr>
          <p:cNvPr id="198" name="Shape 194"/>
          <p:cNvSpPr/>
          <p:nvPr/>
        </p:nvSpPr>
        <p:spPr>
          <a:xfrm>
            <a:off x="12920663" y="8546016"/>
            <a:ext cx="3083719" cy="881063"/>
          </a:xfrm>
          <a:prstGeom prst="roundRect">
            <a:avLst>
              <a:gd name="adj" fmla="val 20000"/>
            </a:avLst>
          </a:prstGeom>
          <a:solidFill>
            <a:srgbClr val="FFFFFF">
              <a:alpha val="60000"/>
            </a:srgbClr>
          </a:solidFill>
          <a:ln/>
          <a:effectLst>
            <a:outerShdw sx="100000" sy="100000" kx="0" ky="0" algn="bl" rotWithShape="0" blurRad="76200" dist="19050" dir="5400000">
              <a:srgbClr val="1A1A1A">
                <a:alpha val="2400"/>
              </a:srgbClr>
            </a:outerShdw>
          </a:effectLst>
        </p:spPr>
      </p:sp>
      <p:sp>
        <p:nvSpPr>
          <p:cNvPr id="199" name="Shape 195"/>
          <p:cNvSpPr/>
          <p:nvPr/>
        </p:nvSpPr>
        <p:spPr>
          <a:xfrm>
            <a:off x="13026390" y="8651743"/>
            <a:ext cx="669608" cy="669608"/>
          </a:xfrm>
          <a:prstGeom prst="roundRect">
            <a:avLst>
              <a:gd name="adj" fmla="val 18421"/>
            </a:avLst>
          </a:prstGeom>
          <a:solidFill>
            <a:srgbClr val="EEE9E4">
              <a:alpha val="60000"/>
            </a:srgbClr>
          </a:solidFill>
          <a:ln/>
        </p:spPr>
      </p:sp>
      <p:sp>
        <p:nvSpPr>
          <p:cNvPr id="200" name="Text 196"/>
          <p:cNvSpPr/>
          <p:nvPr/>
        </p:nvSpPr>
        <p:spPr>
          <a:xfrm>
            <a:off x="13801725" y="8692286"/>
            <a:ext cx="1220342" cy="196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041" b="1" dirty="0">
                <a:solidFill>
                  <a:srgbClr val="4A4744">
                    <a:alpha val="6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Pizza Fruits de Mer</a:t>
            </a:r>
            <a:endParaRPr lang="en-US" sz="1041" dirty="0"/>
          </a:p>
        </p:txBody>
      </p:sp>
      <p:sp>
        <p:nvSpPr>
          <p:cNvPr id="201" name="Text 197"/>
          <p:cNvSpPr/>
          <p:nvPr/>
        </p:nvSpPr>
        <p:spPr>
          <a:xfrm>
            <a:off x="13801725" y="8868499"/>
            <a:ext cx="2306622" cy="186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833" dirty="0">
                <a:solidFill>
                  <a:srgbClr val="8A8580">
                    <a:alpha val="6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Crevettes, calamars, ail</a:t>
            </a:r>
            <a:endParaRPr lang="en-US" sz="833" dirty="0"/>
          </a:p>
        </p:txBody>
      </p:sp>
      <p:sp>
        <p:nvSpPr>
          <p:cNvPr id="202" name="Text 198"/>
          <p:cNvSpPr/>
          <p:nvPr/>
        </p:nvSpPr>
        <p:spPr>
          <a:xfrm>
            <a:off x="13801725" y="9117812"/>
            <a:ext cx="667200" cy="170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50"/>
              </a:lnSpc>
              <a:buNone/>
            </a:pPr>
            <a:r>
              <a:rPr lang="en-US" sz="1041" b="1" dirty="0">
                <a:solidFill>
                  <a:srgbClr val="8A8580">
                    <a:alpha val="6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38 000 Ar</a:t>
            </a:r>
            <a:endParaRPr lang="en-US" sz="1041" dirty="0"/>
          </a:p>
        </p:txBody>
      </p:sp>
      <p:sp>
        <p:nvSpPr>
          <p:cNvPr id="203" name="Shape 199"/>
          <p:cNvSpPr/>
          <p:nvPr/>
        </p:nvSpPr>
        <p:spPr>
          <a:xfrm>
            <a:off x="14463210" y="9086975"/>
            <a:ext cx="641592" cy="193834"/>
          </a:xfrm>
          <a:prstGeom prst="roundRect">
            <a:avLst>
              <a:gd name="adj" fmla="val 50000"/>
            </a:avLst>
          </a:prstGeom>
          <a:solidFill>
            <a:srgbClr val="FDECEB">
              <a:alpha val="60000"/>
            </a:srgbClr>
          </a:solidFill>
          <a:ln/>
        </p:spPr>
      </p:sp>
      <p:sp>
        <p:nvSpPr>
          <p:cNvPr id="204" name="Text 200"/>
          <p:cNvSpPr/>
          <p:nvPr/>
        </p:nvSpPr>
        <p:spPr>
          <a:xfrm>
            <a:off x="14533695" y="9086975"/>
            <a:ext cx="576822" cy="231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90909"/>
              </a:lnSpc>
              <a:buNone/>
            </a:pPr>
            <a:r>
              <a:rPr lang="en-US" sz="694" b="1" dirty="0">
                <a:solidFill>
                  <a:srgbClr val="C42419">
                    <a:alpha val="6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Indisponible</a:t>
            </a:r>
            <a:endParaRPr lang="en-US" sz="694" dirty="0"/>
          </a:p>
        </p:txBody>
      </p:sp>
      <p:sp>
        <p:nvSpPr>
          <p:cNvPr id="205" name="Shape 201"/>
          <p:cNvSpPr/>
          <p:nvPr/>
        </p:nvSpPr>
        <p:spPr>
          <a:xfrm>
            <a:off x="12920663" y="8813914"/>
            <a:ext cx="3083719" cy="511016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/>
          <a:effectLst>
            <a:outerShdw sx="100000" sy="100000" kx="0" ky="0" algn="bl" rotWithShape="0" blurRad="285750" dist="114300" dir="5400000">
              <a:srgbClr val="1A1A1A">
                <a:alpha val="32000"/>
              </a:srgbClr>
            </a:outerShdw>
          </a:effectLst>
        </p:spPr>
      </p:sp>
      <p:sp>
        <p:nvSpPr>
          <p:cNvPr id="206" name="Text 202"/>
          <p:cNvSpPr/>
          <p:nvPr/>
        </p:nvSpPr>
        <p:spPr>
          <a:xfrm>
            <a:off x="13079254" y="8972505"/>
            <a:ext cx="270034" cy="2319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615"/>
              </a:lnSpc>
              <a:buNone/>
            </a:pPr>
            <a:r>
              <a:rPr lang="en-US" sz="1526" dirty="0">
                <a:solidFill>
                  <a:srgbClr val="FFC72C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shopping_bag</a:t>
            </a:r>
            <a:endParaRPr lang="en-US" sz="1526" dirty="0"/>
          </a:p>
        </p:txBody>
      </p:sp>
      <p:sp>
        <p:nvSpPr>
          <p:cNvPr id="207" name="Text 203"/>
          <p:cNvSpPr/>
          <p:nvPr/>
        </p:nvSpPr>
        <p:spPr>
          <a:xfrm>
            <a:off x="13361194" y="8998937"/>
            <a:ext cx="1217176" cy="1746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323"/>
              </a:lnSpc>
              <a:buNone/>
            </a:pPr>
            <a:r>
              <a:rPr lang="en-US" sz="971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Voir le panier · 3 art.</a:t>
            </a:r>
            <a:endParaRPr lang="en-US" sz="971" dirty="0"/>
          </a:p>
        </p:txBody>
      </p:sp>
      <p:sp>
        <p:nvSpPr>
          <p:cNvPr id="208" name="Shape 204"/>
          <p:cNvSpPr/>
          <p:nvPr/>
        </p:nvSpPr>
        <p:spPr>
          <a:xfrm>
            <a:off x="15065086" y="8884399"/>
            <a:ext cx="868810" cy="370047"/>
          </a:xfrm>
          <a:prstGeom prst="roundRect">
            <a:avLst>
              <a:gd name="adj" fmla="val 50000"/>
            </a:avLst>
          </a:prstGeom>
          <a:solidFill>
            <a:srgbClr val="E8342A"/>
          </a:solidFill>
          <a:ln/>
        </p:spPr>
      </p:sp>
      <p:sp>
        <p:nvSpPr>
          <p:cNvPr id="209" name="Text 205"/>
          <p:cNvSpPr/>
          <p:nvPr/>
        </p:nvSpPr>
        <p:spPr>
          <a:xfrm>
            <a:off x="15223678" y="8884399"/>
            <a:ext cx="627827" cy="4081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90323"/>
              </a:lnSpc>
              <a:buNone/>
            </a:pPr>
            <a:r>
              <a:rPr lang="en-US" sz="971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73 000 Ar</a:t>
            </a:r>
            <a:endParaRPr lang="en-US" sz="97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81051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1125" spc="225" kern="0" dirty="0">
                <a:solidFill>
                  <a:srgbClr val="E834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— LES ÉCRANS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914400" y="1000125"/>
            <a:ext cx="18105120" cy="57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102"/>
              </a:lnSpc>
              <a:buNone/>
            </a:pPr>
            <a:r>
              <a:rPr lang="en-US" sz="4050" b="1" spc="-122" kern="0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Produit, panier &amp; adresse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914400" y="1959248"/>
            <a:ext cx="229076" cy="158591"/>
          </a:xfrm>
          <a:prstGeom prst="roundRect">
            <a:avLst>
              <a:gd name="adj" fmla="val 27778"/>
            </a:avLst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976074" y="1994490"/>
            <a:ext cx="181928" cy="126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694" dirty="0">
                <a:solidFill>
                  <a:srgbClr val="FFC7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694" dirty="0"/>
          </a:p>
        </p:txBody>
      </p:sp>
      <p:sp>
        <p:nvSpPr>
          <p:cNvPr id="6" name="Text 4"/>
          <p:cNvSpPr/>
          <p:nvPr/>
        </p:nvSpPr>
        <p:spPr>
          <a:xfrm>
            <a:off x="1213961" y="1972464"/>
            <a:ext cx="2152766" cy="152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57"/>
              </a:lnSpc>
              <a:buNone/>
            </a:pPr>
            <a:r>
              <a:rPr lang="en-US" sz="902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Détail d'un produit — feuille montante</a:t>
            </a:r>
            <a:endParaRPr lang="en-US" sz="902" dirty="0"/>
          </a:p>
        </p:txBody>
      </p:sp>
      <p:sp>
        <p:nvSpPr>
          <p:cNvPr id="7" name="Shape 5"/>
          <p:cNvSpPr/>
          <p:nvPr/>
        </p:nvSpPr>
        <p:spPr>
          <a:xfrm>
            <a:off x="914400" y="2117839"/>
            <a:ext cx="3436144" cy="7436168"/>
          </a:xfrm>
          <a:prstGeom prst="roundRect">
            <a:avLst>
              <a:gd name="adj" fmla="val 11282"/>
            </a:avLst>
          </a:prstGeom>
          <a:solidFill>
            <a:srgbClr val="F5F2EF"/>
          </a:solidFill>
          <a:ln/>
          <a:effectLst>
            <a:outerShdw sx="100000" sy="100000" kx="0" ky="0" algn="bl" rotWithShape="0" blurRad="381000" dist="133350" dir="5400000">
              <a:srgbClr val="1A1A1A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117839"/>
            <a:ext cx="3436144" cy="3825670"/>
          </a:xfrm>
          <a:prstGeom prst="rect">
            <a:avLst/>
          </a:prstGeom>
          <a:solidFill>
            <a:srgbClr val="FFE9CF"/>
          </a:solidFill>
          <a:ln/>
        </p:spPr>
      </p:sp>
      <p:sp>
        <p:nvSpPr>
          <p:cNvPr id="9" name="Text 7"/>
          <p:cNvSpPr/>
          <p:nvPr/>
        </p:nvSpPr>
        <p:spPr>
          <a:xfrm>
            <a:off x="1125855" y="2254404"/>
            <a:ext cx="312641" cy="152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57"/>
              </a:lnSpc>
              <a:buNone/>
            </a:pPr>
            <a:r>
              <a:rPr lang="en-US" sz="902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9:41</a:t>
            </a:r>
            <a:endParaRPr lang="en-US" sz="902" dirty="0"/>
          </a:p>
        </p:txBody>
      </p:sp>
      <p:sp>
        <p:nvSpPr>
          <p:cNvPr id="10" name="Text 8"/>
          <p:cNvSpPr/>
          <p:nvPr/>
        </p:nvSpPr>
        <p:spPr>
          <a:xfrm>
            <a:off x="3628072" y="2241188"/>
            <a:ext cx="217170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1A1A1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signal_cellular_alt</a:t>
            </a:r>
            <a:endParaRPr lang="en-US" sz="1110" dirty="0"/>
          </a:p>
        </p:txBody>
      </p:sp>
      <p:sp>
        <p:nvSpPr>
          <p:cNvPr id="11" name="Text 9"/>
          <p:cNvSpPr/>
          <p:nvPr/>
        </p:nvSpPr>
        <p:spPr>
          <a:xfrm>
            <a:off x="3813096" y="2241188"/>
            <a:ext cx="217170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1A1A1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wifi</a:t>
            </a:r>
            <a:endParaRPr lang="en-US" sz="1110" dirty="0"/>
          </a:p>
        </p:txBody>
      </p:sp>
      <p:sp>
        <p:nvSpPr>
          <p:cNvPr id="12" name="Text 10"/>
          <p:cNvSpPr/>
          <p:nvPr/>
        </p:nvSpPr>
        <p:spPr>
          <a:xfrm>
            <a:off x="3998119" y="2241188"/>
            <a:ext cx="217170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1A1A1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battery_full</a:t>
            </a:r>
            <a:endParaRPr lang="en-US" sz="1110" dirty="0"/>
          </a:p>
        </p:txBody>
      </p:sp>
      <p:sp>
        <p:nvSpPr>
          <p:cNvPr id="13" name="Shape 11"/>
          <p:cNvSpPr/>
          <p:nvPr/>
        </p:nvSpPr>
        <p:spPr>
          <a:xfrm>
            <a:off x="1090613" y="2487885"/>
            <a:ext cx="352425" cy="352425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A1A1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69908" y="2567181"/>
            <a:ext cx="270034" cy="2319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615"/>
              </a:lnSpc>
              <a:buNone/>
            </a:pPr>
            <a:r>
              <a:rPr lang="en-US" sz="1526" dirty="0">
                <a:solidFill>
                  <a:srgbClr val="1A1A1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close</a:t>
            </a:r>
            <a:endParaRPr lang="en-US" sz="1526" dirty="0"/>
          </a:p>
        </p:txBody>
      </p:sp>
      <p:sp>
        <p:nvSpPr>
          <p:cNvPr id="15" name="Text 13"/>
          <p:cNvSpPr/>
          <p:nvPr/>
        </p:nvSpPr>
        <p:spPr>
          <a:xfrm>
            <a:off x="1090613" y="5732054"/>
            <a:ext cx="1453753" cy="126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694" dirty="0">
                <a:solidFill>
                  <a:srgbClr val="A974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photo produit plein cadre</a:t>
            </a:r>
            <a:endParaRPr lang="en-US" sz="694" dirty="0"/>
          </a:p>
        </p:txBody>
      </p:sp>
      <p:sp>
        <p:nvSpPr>
          <p:cNvPr id="16" name="Shape 14"/>
          <p:cNvSpPr/>
          <p:nvPr/>
        </p:nvSpPr>
        <p:spPr>
          <a:xfrm>
            <a:off x="914400" y="5943509"/>
            <a:ext cx="3436144" cy="3610498"/>
          </a:xfrm>
          <a:custGeom>
            <a:avLst/>
            <a:gdLst/>
            <a:ahLst/>
            <a:cxnLst/>
            <a:rect l="l" t="t" r="r" b="b"/>
            <a:pathLst>
              <a:path w="3436144" h="3610498">
                <a:moveTo>
                  <a:pt x="246698" y="0"/>
                </a:moveTo>
                <a:lnTo>
                  <a:pt x="3189446" y="0"/>
                </a:lnTo>
                <a:arcTo hR="246698" wR="246698" stAng="16200000" swAng="5400000"/>
                <a:lnTo>
                  <a:pt x="3436144" y="3610498"/>
                </a:lnTo>
                <a:lnTo>
                  <a:pt x="0" y="3610498"/>
                </a:lnTo>
                <a:lnTo>
                  <a:pt x="0" y="246698"/>
                </a:lnTo>
                <a:arcTo hR="246698" wR="246698" stAng="10800000" swAng="5400000"/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0" dist="76200" dir="16200000">
              <a:srgbClr val="1A1A1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38638" y="6119722"/>
            <a:ext cx="387667" cy="35242"/>
          </a:xfrm>
          <a:prstGeom prst="roundRect">
            <a:avLst>
              <a:gd name="adj" fmla="val 50000"/>
            </a:avLst>
          </a:prstGeom>
          <a:solidFill>
            <a:srgbClr val="DCD8D3"/>
          </a:solidFill>
          <a:ln/>
        </p:spPr>
      </p:sp>
      <p:sp>
        <p:nvSpPr>
          <p:cNvPr id="18" name="Text 16"/>
          <p:cNvSpPr/>
          <p:nvPr/>
        </p:nvSpPr>
        <p:spPr>
          <a:xfrm>
            <a:off x="1090613" y="6295934"/>
            <a:ext cx="1940685" cy="281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154"/>
              </a:lnSpc>
              <a:buNone/>
            </a:pPr>
            <a:r>
              <a:rPr lang="en-US" sz="1665" b="1" spc="-33" kern="0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Pizza Zébu Épicée</a:t>
            </a:r>
            <a:endParaRPr lang="en-US" sz="1665" dirty="0"/>
          </a:p>
        </p:txBody>
      </p:sp>
      <p:sp>
        <p:nvSpPr>
          <p:cNvPr id="19" name="Text 17"/>
          <p:cNvSpPr/>
          <p:nvPr/>
        </p:nvSpPr>
        <p:spPr>
          <a:xfrm>
            <a:off x="3271449" y="6295934"/>
            <a:ext cx="979083" cy="231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1526" b="1" dirty="0">
                <a:solidFill>
                  <a:srgbClr val="E8342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34 000 Ar</a:t>
            </a:r>
            <a:endParaRPr lang="en-US" sz="1526" dirty="0"/>
          </a:p>
        </p:txBody>
      </p:sp>
      <p:sp>
        <p:nvSpPr>
          <p:cNvPr id="20" name="Text 18"/>
          <p:cNvSpPr/>
          <p:nvPr/>
        </p:nvSpPr>
        <p:spPr>
          <a:xfrm>
            <a:off x="1090613" y="6627158"/>
            <a:ext cx="3176230" cy="630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4516"/>
              </a:lnSpc>
              <a:buNone/>
            </a:pPr>
            <a:r>
              <a:rPr lang="en-US" sz="971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Zébu émincé mariné, poivrons grillés, oignons rouges, mozzarella et une pointe de sakay doux. Pâte fine cuite au four à bois.</a:t>
            </a:r>
            <a:endParaRPr lang="en-US" sz="971" dirty="0"/>
          </a:p>
        </p:txBody>
      </p:sp>
      <p:sp>
        <p:nvSpPr>
          <p:cNvPr id="21" name="Shape 19"/>
          <p:cNvSpPr/>
          <p:nvPr/>
        </p:nvSpPr>
        <p:spPr>
          <a:xfrm>
            <a:off x="1090613" y="7342540"/>
            <a:ext cx="606763" cy="246698"/>
          </a:xfrm>
          <a:prstGeom prst="roundRect">
            <a:avLst>
              <a:gd name="adj" fmla="val 50000"/>
            </a:avLst>
          </a:prstGeom>
          <a:solidFill>
            <a:srgbClr val="FFF3E2"/>
          </a:solidFill>
          <a:ln/>
        </p:spPr>
      </p:sp>
      <p:sp>
        <p:nvSpPr>
          <p:cNvPr id="22" name="Text 20"/>
          <p:cNvSpPr/>
          <p:nvPr/>
        </p:nvSpPr>
        <p:spPr>
          <a:xfrm>
            <a:off x="1178719" y="7399809"/>
            <a:ext cx="208359" cy="17025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1041" dirty="0">
                <a:solidFill>
                  <a:srgbClr val="B4620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local_fire_department</a:t>
            </a:r>
            <a:endParaRPr lang="en-US" sz="1041" dirty="0"/>
          </a:p>
        </p:txBody>
      </p:sp>
      <p:sp>
        <p:nvSpPr>
          <p:cNvPr id="23" name="Text 21"/>
          <p:cNvSpPr/>
          <p:nvPr/>
        </p:nvSpPr>
        <p:spPr>
          <a:xfrm>
            <a:off x="1354931" y="7413025"/>
            <a:ext cx="330538" cy="143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763" b="1" dirty="0">
                <a:solidFill>
                  <a:srgbClr val="B4620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Épicé</a:t>
            </a:r>
            <a:endParaRPr lang="en-US" sz="763" dirty="0"/>
          </a:p>
        </p:txBody>
      </p:sp>
      <p:sp>
        <p:nvSpPr>
          <p:cNvPr id="24" name="Shape 22"/>
          <p:cNvSpPr/>
          <p:nvPr/>
        </p:nvSpPr>
        <p:spPr>
          <a:xfrm>
            <a:off x="1767860" y="7342540"/>
            <a:ext cx="443767" cy="246698"/>
          </a:xfrm>
          <a:prstGeom prst="roundRect">
            <a:avLst>
              <a:gd name="adj" fmla="val 50000"/>
            </a:avLst>
          </a:prstGeom>
          <a:solidFill>
            <a:srgbClr val="F5F2EF"/>
          </a:solidFill>
          <a:ln/>
        </p:spPr>
      </p:sp>
      <p:sp>
        <p:nvSpPr>
          <p:cNvPr id="25" name="Text 23"/>
          <p:cNvSpPr/>
          <p:nvPr/>
        </p:nvSpPr>
        <p:spPr>
          <a:xfrm>
            <a:off x="1855967" y="7342540"/>
            <a:ext cx="343754" cy="2847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763" b="1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33 cm</a:t>
            </a:r>
            <a:endParaRPr lang="en-US" sz="763" dirty="0"/>
          </a:p>
        </p:txBody>
      </p:sp>
      <p:sp>
        <p:nvSpPr>
          <p:cNvPr id="26" name="Text 24"/>
          <p:cNvSpPr/>
          <p:nvPr/>
        </p:nvSpPr>
        <p:spPr>
          <a:xfrm>
            <a:off x="1090613" y="7765450"/>
            <a:ext cx="3392091" cy="13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763" b="1" spc="46" kern="0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COMMENTAIRE POUR LE RESTAURANT</a:t>
            </a:r>
            <a:endParaRPr lang="en-US" sz="763" dirty="0"/>
          </a:p>
        </p:txBody>
      </p:sp>
      <p:sp>
        <p:nvSpPr>
          <p:cNvPr id="27" name="Shape 25"/>
          <p:cNvSpPr/>
          <p:nvPr/>
        </p:nvSpPr>
        <p:spPr>
          <a:xfrm>
            <a:off x="1090613" y="7915230"/>
            <a:ext cx="3083719" cy="801767"/>
          </a:xfrm>
          <a:prstGeom prst="roundRect">
            <a:avLst>
              <a:gd name="adj" fmla="val 13187"/>
            </a:avLst>
          </a:prstGeom>
          <a:solidFill>
            <a:srgbClr val="FFFFFF"/>
          </a:solidFill>
          <a:ln w="13216">
            <a:solidFill>
              <a:srgbClr val="DCD8D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27177" y="8034174"/>
            <a:ext cx="2903101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484"/>
              </a:lnSpc>
              <a:buNone/>
            </a:pPr>
            <a:r>
              <a:rPr lang="en-US" sz="971" dirty="0">
                <a:solidFill>
                  <a:srgbClr val="B4AFA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Ex. sans oignons, bien cuite…</a:t>
            </a:r>
            <a:endParaRPr lang="en-US" sz="971" dirty="0"/>
          </a:p>
        </p:txBody>
      </p:sp>
      <p:sp>
        <p:nvSpPr>
          <p:cNvPr id="29" name="Shape 27"/>
          <p:cNvSpPr/>
          <p:nvPr/>
        </p:nvSpPr>
        <p:spPr>
          <a:xfrm>
            <a:off x="1090613" y="8893210"/>
            <a:ext cx="1436132" cy="484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216">
            <a:solidFill>
              <a:srgbClr val="DCD8D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56692" y="8959290"/>
            <a:ext cx="352425" cy="352425"/>
          </a:xfrm>
          <a:prstGeom prst="ellipse">
            <a:avLst/>
          </a:prstGeom>
          <a:solidFill>
            <a:srgbClr val="F5F2EF"/>
          </a:solidFill>
          <a:ln/>
        </p:spPr>
      </p:sp>
      <p:sp>
        <p:nvSpPr>
          <p:cNvPr id="31" name="Text 29"/>
          <p:cNvSpPr/>
          <p:nvPr/>
        </p:nvSpPr>
        <p:spPr>
          <a:xfrm>
            <a:off x="1244798" y="9047396"/>
            <a:ext cx="252413" cy="2143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1388" dirty="0">
                <a:solidFill>
                  <a:srgbClr val="4A4744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remove</a:t>
            </a:r>
            <a:endParaRPr lang="en-US" sz="1388" dirty="0"/>
          </a:p>
        </p:txBody>
      </p:sp>
      <p:sp>
        <p:nvSpPr>
          <p:cNvPr id="32" name="Text 30"/>
          <p:cNvSpPr/>
          <p:nvPr/>
        </p:nvSpPr>
        <p:spPr>
          <a:xfrm>
            <a:off x="1761459" y="9056207"/>
            <a:ext cx="170708" cy="196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49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</a:t>
            </a:r>
            <a:endParaRPr lang="en-US" sz="1249" dirty="0"/>
          </a:p>
        </p:txBody>
      </p:sp>
      <p:sp>
        <p:nvSpPr>
          <p:cNvPr id="33" name="Shape 31"/>
          <p:cNvSpPr/>
          <p:nvPr/>
        </p:nvSpPr>
        <p:spPr>
          <a:xfrm>
            <a:off x="2108240" y="8959290"/>
            <a:ext cx="352425" cy="352425"/>
          </a:xfrm>
          <a:prstGeom prst="ellipse">
            <a:avLst/>
          </a:prstGeom>
          <a:solidFill>
            <a:srgbClr val="E8342A"/>
          </a:solidFill>
          <a:ln/>
        </p:spPr>
      </p:sp>
      <p:sp>
        <p:nvSpPr>
          <p:cNvPr id="34" name="Text 32"/>
          <p:cNvSpPr/>
          <p:nvPr/>
        </p:nvSpPr>
        <p:spPr>
          <a:xfrm>
            <a:off x="2196346" y="9047396"/>
            <a:ext cx="252413" cy="2143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1388" dirty="0">
                <a:solidFill>
                  <a:srgbClr val="FFFFFF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add</a:t>
            </a:r>
            <a:endParaRPr lang="en-US" sz="1388" dirty="0"/>
          </a:p>
        </p:txBody>
      </p:sp>
      <p:sp>
        <p:nvSpPr>
          <p:cNvPr id="35" name="Shape 33"/>
          <p:cNvSpPr/>
          <p:nvPr/>
        </p:nvSpPr>
        <p:spPr>
          <a:xfrm>
            <a:off x="2632472" y="8906426"/>
            <a:ext cx="1541859" cy="458153"/>
          </a:xfrm>
          <a:prstGeom prst="roundRect">
            <a:avLst>
              <a:gd name="adj" fmla="val 50000"/>
            </a:avLst>
          </a:prstGeom>
          <a:solidFill>
            <a:srgbClr val="E8342A"/>
          </a:solidFill>
          <a:ln/>
          <a:effectLst>
            <a:outerShdw sx="100000" sy="100000" kx="0" ky="0" algn="bl" rotWithShape="0" blurRad="190500" dist="76200" dir="5400000">
              <a:srgbClr val="E8342A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807170" y="9065017"/>
            <a:ext cx="607178" cy="179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750"/>
              </a:lnSpc>
              <a:buNone/>
            </a:pPr>
            <a:r>
              <a:rPr lang="en-US" sz="1041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Ajouter ·</a:t>
            </a:r>
            <a:endParaRPr lang="en-US" sz="1041" dirty="0"/>
          </a:p>
        </p:txBody>
      </p:sp>
      <p:sp>
        <p:nvSpPr>
          <p:cNvPr id="37" name="Text 35"/>
          <p:cNvSpPr/>
          <p:nvPr/>
        </p:nvSpPr>
        <p:spPr>
          <a:xfrm>
            <a:off x="3408633" y="9069423"/>
            <a:ext cx="667200" cy="170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50"/>
              </a:lnSpc>
              <a:buNone/>
            </a:pPr>
            <a:r>
              <a:rPr lang="en-US" sz="1041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68 000 Ar</a:t>
            </a:r>
            <a:endParaRPr lang="en-US" sz="1041" dirty="0"/>
          </a:p>
        </p:txBody>
      </p:sp>
      <p:sp>
        <p:nvSpPr>
          <p:cNvPr id="38" name="Shape 36"/>
          <p:cNvSpPr/>
          <p:nvPr/>
        </p:nvSpPr>
        <p:spPr>
          <a:xfrm>
            <a:off x="4857750" y="1959248"/>
            <a:ext cx="229076" cy="158591"/>
          </a:xfrm>
          <a:prstGeom prst="roundRect">
            <a:avLst>
              <a:gd name="adj" fmla="val 27778"/>
            </a:avLst>
          </a:prstGeom>
          <a:solidFill>
            <a:srgbClr val="1A1A1A"/>
          </a:solidFill>
          <a:ln/>
        </p:spPr>
      </p:sp>
      <p:sp>
        <p:nvSpPr>
          <p:cNvPr id="39" name="Text 37"/>
          <p:cNvSpPr/>
          <p:nvPr/>
        </p:nvSpPr>
        <p:spPr>
          <a:xfrm>
            <a:off x="4919424" y="1994490"/>
            <a:ext cx="181927" cy="126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694" dirty="0">
                <a:solidFill>
                  <a:srgbClr val="FFC7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694" dirty="0"/>
          </a:p>
        </p:txBody>
      </p:sp>
      <p:sp>
        <p:nvSpPr>
          <p:cNvPr id="40" name="Text 38"/>
          <p:cNvSpPr/>
          <p:nvPr/>
        </p:nvSpPr>
        <p:spPr>
          <a:xfrm>
            <a:off x="5157311" y="1972464"/>
            <a:ext cx="416992" cy="152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57"/>
              </a:lnSpc>
              <a:buNone/>
            </a:pPr>
            <a:r>
              <a:rPr lang="en-US" sz="902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Panier</a:t>
            </a:r>
            <a:endParaRPr lang="en-US" sz="902" dirty="0"/>
          </a:p>
        </p:txBody>
      </p:sp>
      <p:sp>
        <p:nvSpPr>
          <p:cNvPr id="41" name="Shape 39"/>
          <p:cNvSpPr/>
          <p:nvPr/>
        </p:nvSpPr>
        <p:spPr>
          <a:xfrm>
            <a:off x="4857750" y="2117839"/>
            <a:ext cx="3436144" cy="7436168"/>
          </a:xfrm>
          <a:prstGeom prst="roundRect">
            <a:avLst>
              <a:gd name="adj" fmla="val 11282"/>
            </a:avLst>
          </a:prstGeom>
          <a:solidFill>
            <a:srgbClr val="F5F2EF"/>
          </a:solidFill>
          <a:ln/>
          <a:effectLst>
            <a:outerShdw sx="100000" sy="100000" kx="0" ky="0" algn="bl" rotWithShape="0" blurRad="381000" dist="133350" dir="5400000">
              <a:srgbClr val="1A1A1A">
                <a:alpha val="14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57750" y="2117839"/>
            <a:ext cx="3436144" cy="8898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4857750" y="2998902"/>
            <a:ext cx="3436144" cy="9525"/>
          </a:xfrm>
          <a:prstGeom prst="rect">
            <a:avLst/>
          </a:prstGeom>
          <a:solidFill>
            <a:srgbClr val="E9E5E0"/>
          </a:solidFill>
          <a:ln/>
        </p:spPr>
      </p:sp>
      <p:sp>
        <p:nvSpPr>
          <p:cNvPr id="44" name="Text 42"/>
          <p:cNvSpPr/>
          <p:nvPr/>
        </p:nvSpPr>
        <p:spPr>
          <a:xfrm>
            <a:off x="5033963" y="2254404"/>
            <a:ext cx="312641" cy="152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57"/>
              </a:lnSpc>
              <a:buNone/>
            </a:pPr>
            <a:r>
              <a:rPr lang="en-US" sz="902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9:41</a:t>
            </a:r>
            <a:endParaRPr lang="en-US" sz="902" dirty="0"/>
          </a:p>
        </p:txBody>
      </p:sp>
      <p:sp>
        <p:nvSpPr>
          <p:cNvPr id="45" name="Text 43"/>
          <p:cNvSpPr/>
          <p:nvPr/>
        </p:nvSpPr>
        <p:spPr>
          <a:xfrm>
            <a:off x="7606665" y="2241188"/>
            <a:ext cx="217170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1A1A1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signal_cellular_alt</a:t>
            </a:r>
            <a:endParaRPr lang="en-US" sz="1110" dirty="0"/>
          </a:p>
        </p:txBody>
      </p:sp>
      <p:sp>
        <p:nvSpPr>
          <p:cNvPr id="46" name="Text 44"/>
          <p:cNvSpPr/>
          <p:nvPr/>
        </p:nvSpPr>
        <p:spPr>
          <a:xfrm>
            <a:off x="7791688" y="2241188"/>
            <a:ext cx="217170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1A1A1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wifi</a:t>
            </a:r>
            <a:endParaRPr lang="en-US" sz="1110" dirty="0"/>
          </a:p>
        </p:txBody>
      </p:sp>
      <p:sp>
        <p:nvSpPr>
          <p:cNvPr id="47" name="Text 45"/>
          <p:cNvSpPr/>
          <p:nvPr/>
        </p:nvSpPr>
        <p:spPr>
          <a:xfrm>
            <a:off x="7976711" y="2241188"/>
            <a:ext cx="217170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1A1A1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battery_full</a:t>
            </a:r>
            <a:endParaRPr lang="en-US" sz="1110" dirty="0"/>
          </a:p>
        </p:txBody>
      </p:sp>
      <p:sp>
        <p:nvSpPr>
          <p:cNvPr id="48" name="Shape 46"/>
          <p:cNvSpPr/>
          <p:nvPr/>
        </p:nvSpPr>
        <p:spPr>
          <a:xfrm>
            <a:off x="5033963" y="2505507"/>
            <a:ext cx="352425" cy="352425"/>
          </a:xfrm>
          <a:prstGeom prst="ellipse">
            <a:avLst/>
          </a:prstGeom>
          <a:solidFill>
            <a:srgbClr val="F5F2EF"/>
          </a:solidFill>
          <a:ln/>
        </p:spPr>
      </p:sp>
      <p:sp>
        <p:nvSpPr>
          <p:cNvPr id="49" name="Text 47"/>
          <p:cNvSpPr/>
          <p:nvPr/>
        </p:nvSpPr>
        <p:spPr>
          <a:xfrm>
            <a:off x="5113258" y="2584802"/>
            <a:ext cx="270034" cy="2319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615"/>
              </a:lnSpc>
              <a:buNone/>
            </a:pPr>
            <a:r>
              <a:rPr lang="en-US" sz="1526" dirty="0">
                <a:solidFill>
                  <a:srgbClr val="1A1A1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arrow_back</a:t>
            </a:r>
            <a:endParaRPr lang="en-US" sz="1526" dirty="0"/>
          </a:p>
        </p:txBody>
      </p:sp>
      <p:sp>
        <p:nvSpPr>
          <p:cNvPr id="50" name="Text 48"/>
          <p:cNvSpPr/>
          <p:nvPr/>
        </p:nvSpPr>
        <p:spPr>
          <a:xfrm>
            <a:off x="5492115" y="2589208"/>
            <a:ext cx="1020520" cy="223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304"/>
              </a:lnSpc>
              <a:buNone/>
            </a:pPr>
            <a:r>
              <a:rPr lang="en-US" sz="1457" b="1" spc="-29" kern="0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Mon panier</a:t>
            </a:r>
            <a:endParaRPr lang="en-US" sz="1457" dirty="0"/>
          </a:p>
        </p:txBody>
      </p:sp>
      <p:sp>
        <p:nvSpPr>
          <p:cNvPr id="51" name="Shape 49"/>
          <p:cNvSpPr/>
          <p:nvPr/>
        </p:nvSpPr>
        <p:spPr>
          <a:xfrm>
            <a:off x="5033963" y="3148682"/>
            <a:ext cx="3083719" cy="528638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A1A1A">
                <a:alpha val="6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157311" y="3254410"/>
            <a:ext cx="317182" cy="317183"/>
          </a:xfrm>
          <a:prstGeom prst="roundRect">
            <a:avLst>
              <a:gd name="adj" fmla="val 27778"/>
            </a:avLst>
          </a:prstGeom>
          <a:solidFill>
            <a:srgbClr val="FFF3E2"/>
          </a:solidFill>
          <a:ln/>
        </p:spPr>
      </p:sp>
      <p:sp>
        <p:nvSpPr>
          <p:cNvPr id="53" name="Text 51"/>
          <p:cNvSpPr/>
          <p:nvPr/>
        </p:nvSpPr>
        <p:spPr>
          <a:xfrm>
            <a:off x="5119211" y="3254410"/>
            <a:ext cx="393382" cy="355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92857"/>
              </a:lnSpc>
              <a:buNone/>
            </a:pPr>
            <a:r>
              <a:rPr lang="en-US" sz="902" b="1" dirty="0">
                <a:solidFill>
                  <a:srgbClr val="E8342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PP</a:t>
            </a:r>
            <a:endParaRPr lang="en-US" sz="902" dirty="0"/>
          </a:p>
        </p:txBody>
      </p:sp>
      <p:sp>
        <p:nvSpPr>
          <p:cNvPr id="54" name="Text 52"/>
          <p:cNvSpPr/>
          <p:nvPr/>
        </p:nvSpPr>
        <p:spPr>
          <a:xfrm>
            <a:off x="5562600" y="3267213"/>
            <a:ext cx="2384156" cy="186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87"/>
              </a:lnSpc>
              <a:buNone/>
            </a:pPr>
            <a:r>
              <a:rPr lang="en-US" sz="971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Pizzeria Papillon</a:t>
            </a:r>
            <a:endParaRPr lang="en-US" sz="971" dirty="0"/>
          </a:p>
        </p:txBody>
      </p:sp>
      <p:sp>
        <p:nvSpPr>
          <p:cNvPr id="55" name="Text 53"/>
          <p:cNvSpPr/>
          <p:nvPr/>
        </p:nvSpPr>
        <p:spPr>
          <a:xfrm>
            <a:off x="5562600" y="3432825"/>
            <a:ext cx="2384156" cy="164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167"/>
              </a:lnSpc>
              <a:buNone/>
            </a:pPr>
            <a:r>
              <a:rPr lang="en-US" sz="763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Un panier = un seul restaurant</a:t>
            </a:r>
            <a:endParaRPr lang="en-US" sz="763" dirty="0"/>
          </a:p>
        </p:txBody>
      </p:sp>
      <p:sp>
        <p:nvSpPr>
          <p:cNvPr id="56" name="Text 54"/>
          <p:cNvSpPr/>
          <p:nvPr/>
        </p:nvSpPr>
        <p:spPr>
          <a:xfrm>
            <a:off x="7818120" y="3324895"/>
            <a:ext cx="252413" cy="2143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1388" dirty="0">
                <a:solidFill>
                  <a:srgbClr val="B4AFA9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chevron_right</a:t>
            </a:r>
            <a:endParaRPr lang="en-US" sz="1388" dirty="0"/>
          </a:p>
        </p:txBody>
      </p:sp>
      <p:sp>
        <p:nvSpPr>
          <p:cNvPr id="57" name="Shape 55"/>
          <p:cNvSpPr/>
          <p:nvPr/>
        </p:nvSpPr>
        <p:spPr>
          <a:xfrm>
            <a:off x="5033963" y="3800669"/>
            <a:ext cx="3083719" cy="911005"/>
          </a:xfrm>
          <a:prstGeom prst="roundRect">
            <a:avLst>
              <a:gd name="adj" fmla="val 193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A1A1A">
                <a:alpha val="6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139690" y="3906396"/>
            <a:ext cx="563880" cy="563880"/>
          </a:xfrm>
          <a:prstGeom prst="roundRect">
            <a:avLst>
              <a:gd name="adj" fmla="val 21875"/>
            </a:avLst>
          </a:prstGeom>
          <a:solidFill>
            <a:srgbClr val="FFE9CF"/>
          </a:solidFill>
          <a:ln/>
        </p:spPr>
      </p:sp>
      <p:sp>
        <p:nvSpPr>
          <p:cNvPr id="59" name="Text 57"/>
          <p:cNvSpPr/>
          <p:nvPr/>
        </p:nvSpPr>
        <p:spPr>
          <a:xfrm>
            <a:off x="5809298" y="3906396"/>
            <a:ext cx="111619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971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Pizza Zébu Épicée</a:t>
            </a:r>
            <a:endParaRPr lang="en-US" sz="971" dirty="0"/>
          </a:p>
        </p:txBody>
      </p:sp>
      <p:sp>
        <p:nvSpPr>
          <p:cNvPr id="60" name="Text 58"/>
          <p:cNvSpPr/>
          <p:nvPr/>
        </p:nvSpPr>
        <p:spPr>
          <a:xfrm>
            <a:off x="7835741" y="3906396"/>
            <a:ext cx="252413" cy="2143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1388" dirty="0">
                <a:solidFill>
                  <a:srgbClr val="B4AFA9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delete</a:t>
            </a:r>
            <a:endParaRPr lang="en-US" sz="1388" dirty="0"/>
          </a:p>
        </p:txBody>
      </p:sp>
      <p:sp>
        <p:nvSpPr>
          <p:cNvPr id="61" name="Text 59"/>
          <p:cNvSpPr/>
          <p:nvPr/>
        </p:nvSpPr>
        <p:spPr>
          <a:xfrm>
            <a:off x="5809298" y="4100230"/>
            <a:ext cx="2422922" cy="173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333"/>
              </a:lnSpc>
              <a:buNone/>
            </a:pPr>
            <a:r>
              <a:rPr lang="en-US" sz="763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Sans oignons</a:t>
            </a:r>
            <a:endParaRPr lang="en-US" sz="763" dirty="0"/>
          </a:p>
        </p:txBody>
      </p:sp>
      <p:sp>
        <p:nvSpPr>
          <p:cNvPr id="62" name="Shape 60"/>
          <p:cNvSpPr/>
          <p:nvPr/>
        </p:nvSpPr>
        <p:spPr>
          <a:xfrm>
            <a:off x="5809298" y="4324006"/>
            <a:ext cx="702647" cy="281940"/>
          </a:xfrm>
          <a:prstGeom prst="roundRect">
            <a:avLst>
              <a:gd name="adj" fmla="val 50000"/>
            </a:avLst>
          </a:prstGeom>
          <a:solidFill>
            <a:srgbClr val="F5F2EF"/>
          </a:solidFill>
          <a:ln/>
        </p:spPr>
      </p:sp>
      <p:sp>
        <p:nvSpPr>
          <p:cNvPr id="63" name="Shape 61"/>
          <p:cNvSpPr/>
          <p:nvPr/>
        </p:nvSpPr>
        <p:spPr>
          <a:xfrm>
            <a:off x="5844540" y="4350438"/>
            <a:ext cx="229077" cy="2290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5888593" y="4394491"/>
            <a:ext cx="217170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4A4744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remove</a:t>
            </a:r>
            <a:endParaRPr lang="en-US" sz="1110" dirty="0"/>
          </a:p>
        </p:txBody>
      </p:sp>
      <p:sp>
        <p:nvSpPr>
          <p:cNvPr id="65" name="Text 63"/>
          <p:cNvSpPr/>
          <p:nvPr/>
        </p:nvSpPr>
        <p:spPr>
          <a:xfrm>
            <a:off x="6126480" y="4407707"/>
            <a:ext cx="144482" cy="152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57"/>
              </a:lnSpc>
              <a:buNone/>
            </a:pPr>
            <a:r>
              <a:rPr lang="en-US" sz="902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</a:t>
            </a:r>
            <a:endParaRPr lang="en-US" sz="902" dirty="0"/>
          </a:p>
        </p:txBody>
      </p:sp>
      <p:sp>
        <p:nvSpPr>
          <p:cNvPr id="66" name="Shape 64"/>
          <p:cNvSpPr/>
          <p:nvPr/>
        </p:nvSpPr>
        <p:spPr>
          <a:xfrm>
            <a:off x="6247626" y="4350438"/>
            <a:ext cx="229076" cy="229076"/>
          </a:xfrm>
          <a:prstGeom prst="ellipse">
            <a:avLst/>
          </a:prstGeom>
          <a:solidFill>
            <a:srgbClr val="E8342A"/>
          </a:solidFill>
          <a:ln/>
        </p:spPr>
      </p:sp>
      <p:sp>
        <p:nvSpPr>
          <p:cNvPr id="67" name="Text 65"/>
          <p:cNvSpPr/>
          <p:nvPr/>
        </p:nvSpPr>
        <p:spPr>
          <a:xfrm>
            <a:off x="6291679" y="4394491"/>
            <a:ext cx="217170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FFFFFF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add</a:t>
            </a:r>
            <a:endParaRPr lang="en-US" sz="1110" dirty="0"/>
          </a:p>
        </p:txBody>
      </p:sp>
      <p:sp>
        <p:nvSpPr>
          <p:cNvPr id="68" name="Text 66"/>
          <p:cNvSpPr/>
          <p:nvPr/>
        </p:nvSpPr>
        <p:spPr>
          <a:xfrm>
            <a:off x="7420954" y="4398896"/>
            <a:ext cx="667200" cy="170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50"/>
              </a:lnSpc>
              <a:buNone/>
            </a:pPr>
            <a:r>
              <a:rPr lang="en-US" sz="1041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68 000 Ar</a:t>
            </a:r>
            <a:endParaRPr lang="en-US" sz="1041" dirty="0"/>
          </a:p>
        </p:txBody>
      </p:sp>
      <p:sp>
        <p:nvSpPr>
          <p:cNvPr id="69" name="Shape 67"/>
          <p:cNvSpPr/>
          <p:nvPr/>
        </p:nvSpPr>
        <p:spPr>
          <a:xfrm>
            <a:off x="5033963" y="4799780"/>
            <a:ext cx="3083719" cy="810578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A1A1A">
                <a:alpha val="6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5139690" y="4905508"/>
            <a:ext cx="563880" cy="563880"/>
          </a:xfrm>
          <a:prstGeom prst="roundRect">
            <a:avLst>
              <a:gd name="adj" fmla="val 21875"/>
            </a:avLst>
          </a:prstGeom>
          <a:solidFill>
            <a:srgbClr val="FFE9CF"/>
          </a:solidFill>
          <a:ln/>
        </p:spPr>
      </p:sp>
      <p:sp>
        <p:nvSpPr>
          <p:cNvPr id="71" name="Text 69"/>
          <p:cNvSpPr/>
          <p:nvPr/>
        </p:nvSpPr>
        <p:spPr>
          <a:xfrm>
            <a:off x="5809298" y="4905508"/>
            <a:ext cx="96813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971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Coca-Cola 50 cl</a:t>
            </a:r>
            <a:endParaRPr lang="en-US" sz="971" dirty="0"/>
          </a:p>
        </p:txBody>
      </p:sp>
      <p:sp>
        <p:nvSpPr>
          <p:cNvPr id="72" name="Text 70"/>
          <p:cNvSpPr/>
          <p:nvPr/>
        </p:nvSpPr>
        <p:spPr>
          <a:xfrm>
            <a:off x="7835741" y="4905508"/>
            <a:ext cx="252413" cy="2143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1388" dirty="0">
                <a:solidFill>
                  <a:srgbClr val="B4AFA9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delete</a:t>
            </a:r>
            <a:endParaRPr lang="en-US" sz="1388" dirty="0"/>
          </a:p>
        </p:txBody>
      </p:sp>
      <p:sp>
        <p:nvSpPr>
          <p:cNvPr id="73" name="Shape 71"/>
          <p:cNvSpPr/>
          <p:nvPr/>
        </p:nvSpPr>
        <p:spPr>
          <a:xfrm>
            <a:off x="5809298" y="5222689"/>
            <a:ext cx="702647" cy="281940"/>
          </a:xfrm>
          <a:prstGeom prst="roundRect">
            <a:avLst>
              <a:gd name="adj" fmla="val 50000"/>
            </a:avLst>
          </a:prstGeom>
          <a:solidFill>
            <a:srgbClr val="F5F2EF"/>
          </a:solidFill>
          <a:ln/>
        </p:spPr>
      </p:sp>
      <p:sp>
        <p:nvSpPr>
          <p:cNvPr id="74" name="Shape 72"/>
          <p:cNvSpPr/>
          <p:nvPr/>
        </p:nvSpPr>
        <p:spPr>
          <a:xfrm>
            <a:off x="5844540" y="5249121"/>
            <a:ext cx="229077" cy="22907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5" name="Text 73"/>
          <p:cNvSpPr/>
          <p:nvPr/>
        </p:nvSpPr>
        <p:spPr>
          <a:xfrm>
            <a:off x="5888593" y="5293175"/>
            <a:ext cx="217170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4A4744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remove</a:t>
            </a:r>
            <a:endParaRPr lang="en-US" sz="1110" dirty="0"/>
          </a:p>
        </p:txBody>
      </p:sp>
      <p:sp>
        <p:nvSpPr>
          <p:cNvPr id="76" name="Text 74"/>
          <p:cNvSpPr/>
          <p:nvPr/>
        </p:nvSpPr>
        <p:spPr>
          <a:xfrm>
            <a:off x="6126480" y="5306391"/>
            <a:ext cx="144482" cy="152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57"/>
              </a:lnSpc>
              <a:buNone/>
            </a:pPr>
            <a:r>
              <a:rPr lang="en-US" sz="902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</a:t>
            </a:r>
            <a:endParaRPr lang="en-US" sz="902" dirty="0"/>
          </a:p>
        </p:txBody>
      </p:sp>
      <p:sp>
        <p:nvSpPr>
          <p:cNvPr id="77" name="Shape 75"/>
          <p:cNvSpPr/>
          <p:nvPr/>
        </p:nvSpPr>
        <p:spPr>
          <a:xfrm>
            <a:off x="6247626" y="5249121"/>
            <a:ext cx="229076" cy="229077"/>
          </a:xfrm>
          <a:prstGeom prst="ellipse">
            <a:avLst/>
          </a:prstGeom>
          <a:solidFill>
            <a:srgbClr val="E8342A"/>
          </a:solidFill>
          <a:ln/>
        </p:spPr>
      </p:sp>
      <p:sp>
        <p:nvSpPr>
          <p:cNvPr id="78" name="Text 76"/>
          <p:cNvSpPr/>
          <p:nvPr/>
        </p:nvSpPr>
        <p:spPr>
          <a:xfrm>
            <a:off x="6291679" y="5293175"/>
            <a:ext cx="217170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FFFFFF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add</a:t>
            </a:r>
            <a:endParaRPr lang="en-US" sz="1110" dirty="0"/>
          </a:p>
        </p:txBody>
      </p:sp>
      <p:sp>
        <p:nvSpPr>
          <p:cNvPr id="79" name="Text 77"/>
          <p:cNvSpPr/>
          <p:nvPr/>
        </p:nvSpPr>
        <p:spPr>
          <a:xfrm>
            <a:off x="7499768" y="5297580"/>
            <a:ext cx="588386" cy="170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50"/>
              </a:lnSpc>
              <a:buNone/>
            </a:pPr>
            <a:r>
              <a:rPr lang="en-US" sz="1041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5 000 Ar</a:t>
            </a:r>
            <a:endParaRPr lang="en-US" sz="1041" dirty="0"/>
          </a:p>
        </p:txBody>
      </p:sp>
      <p:sp>
        <p:nvSpPr>
          <p:cNvPr id="80" name="Shape 78"/>
          <p:cNvSpPr/>
          <p:nvPr/>
        </p:nvSpPr>
        <p:spPr>
          <a:xfrm>
            <a:off x="5033963" y="5733706"/>
            <a:ext cx="3083719" cy="431721"/>
          </a:xfrm>
          <a:prstGeom prst="roundRect">
            <a:avLst>
              <a:gd name="adj" fmla="val 50000"/>
            </a:avLst>
          </a:prstGeom>
          <a:ln w="13216">
            <a:solidFill>
              <a:srgbClr val="DCD8D3"/>
            </a:solidFill>
            <a:prstDash val="dash"/>
          </a:ln>
        </p:spPr>
      </p:sp>
      <p:sp>
        <p:nvSpPr>
          <p:cNvPr id="81" name="Text 79"/>
          <p:cNvSpPr/>
          <p:nvPr/>
        </p:nvSpPr>
        <p:spPr>
          <a:xfrm>
            <a:off x="5872417" y="5861460"/>
            <a:ext cx="252413" cy="2143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1388" dirty="0">
                <a:solidFill>
                  <a:srgbClr val="E8342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add</a:t>
            </a:r>
            <a:endParaRPr lang="en-US" sz="1388" dirty="0"/>
          </a:p>
        </p:txBody>
      </p:sp>
      <p:sp>
        <p:nvSpPr>
          <p:cNvPr id="82" name="Text 80"/>
          <p:cNvSpPr/>
          <p:nvPr/>
        </p:nvSpPr>
        <p:spPr>
          <a:xfrm>
            <a:off x="6119115" y="5887892"/>
            <a:ext cx="1236312" cy="161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857"/>
              </a:lnSpc>
              <a:buNone/>
            </a:pPr>
            <a:r>
              <a:rPr lang="en-US" sz="902" b="1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Ajouter d'autres plats</a:t>
            </a:r>
            <a:endParaRPr lang="en-US" sz="902" dirty="0"/>
          </a:p>
        </p:txBody>
      </p:sp>
      <p:sp>
        <p:nvSpPr>
          <p:cNvPr id="83" name="Shape 81"/>
          <p:cNvSpPr/>
          <p:nvPr/>
        </p:nvSpPr>
        <p:spPr>
          <a:xfrm>
            <a:off x="5033963" y="6324017"/>
            <a:ext cx="3083719" cy="1066086"/>
          </a:xfrm>
          <a:prstGeom prst="roundRect">
            <a:avLst>
              <a:gd name="adj" fmla="val 16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A1A1A">
                <a:alpha val="6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5174932" y="6464988"/>
            <a:ext cx="641250" cy="161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323"/>
              </a:lnSpc>
              <a:buNone/>
            </a:pPr>
            <a:r>
              <a:rPr lang="en-US" sz="971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Sous-total</a:t>
            </a:r>
            <a:endParaRPr lang="en-US" sz="971" dirty="0"/>
          </a:p>
        </p:txBody>
      </p:sp>
      <p:sp>
        <p:nvSpPr>
          <p:cNvPr id="85" name="Text 83"/>
          <p:cNvSpPr/>
          <p:nvPr/>
        </p:nvSpPr>
        <p:spPr>
          <a:xfrm>
            <a:off x="7440364" y="6464988"/>
            <a:ext cx="612547" cy="161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323"/>
              </a:lnSpc>
              <a:buNone/>
            </a:pPr>
            <a:r>
              <a:rPr lang="en-US" sz="971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73 000 Ar</a:t>
            </a:r>
            <a:endParaRPr lang="en-US" sz="971" dirty="0"/>
          </a:p>
        </p:txBody>
      </p:sp>
      <p:sp>
        <p:nvSpPr>
          <p:cNvPr id="86" name="Text 84"/>
          <p:cNvSpPr/>
          <p:nvPr/>
        </p:nvSpPr>
        <p:spPr>
          <a:xfrm>
            <a:off x="5174932" y="6676442"/>
            <a:ext cx="993331" cy="1614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323"/>
              </a:lnSpc>
              <a:buNone/>
            </a:pPr>
            <a:r>
              <a:rPr lang="en-US" sz="971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Frais de livraison</a:t>
            </a:r>
            <a:endParaRPr lang="en-US" sz="971" dirty="0"/>
          </a:p>
        </p:txBody>
      </p:sp>
      <p:sp>
        <p:nvSpPr>
          <p:cNvPr id="87" name="Text 85"/>
          <p:cNvSpPr/>
          <p:nvPr/>
        </p:nvSpPr>
        <p:spPr>
          <a:xfrm>
            <a:off x="7511538" y="6676442"/>
            <a:ext cx="541373" cy="1614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323"/>
              </a:lnSpc>
              <a:buNone/>
            </a:pPr>
            <a:r>
              <a:rPr lang="en-US" sz="971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5 000 Ar</a:t>
            </a:r>
            <a:endParaRPr lang="en-US" sz="971" dirty="0"/>
          </a:p>
        </p:txBody>
      </p:sp>
      <p:sp>
        <p:nvSpPr>
          <p:cNvPr id="88" name="Shape 86"/>
          <p:cNvSpPr/>
          <p:nvPr/>
        </p:nvSpPr>
        <p:spPr>
          <a:xfrm>
            <a:off x="5174932" y="6923140"/>
            <a:ext cx="2801779" cy="9525"/>
          </a:xfrm>
          <a:prstGeom prst="rect">
            <a:avLst/>
          </a:prstGeom>
          <a:solidFill>
            <a:srgbClr val="F0EDE9"/>
          </a:solidFill>
          <a:ln/>
        </p:spPr>
      </p:sp>
      <p:sp>
        <p:nvSpPr>
          <p:cNvPr id="89" name="Text 87"/>
          <p:cNvSpPr/>
          <p:nvPr/>
        </p:nvSpPr>
        <p:spPr>
          <a:xfrm>
            <a:off x="5174932" y="7103758"/>
            <a:ext cx="409421" cy="179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29"/>
              </a:lnSpc>
              <a:buNone/>
            </a:pPr>
            <a:r>
              <a:rPr lang="en-US" sz="111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Total</a:t>
            </a:r>
            <a:endParaRPr lang="en-US" sz="1110" dirty="0"/>
          </a:p>
        </p:txBody>
      </p:sp>
      <p:sp>
        <p:nvSpPr>
          <p:cNvPr id="90" name="Text 88"/>
          <p:cNvSpPr/>
          <p:nvPr/>
        </p:nvSpPr>
        <p:spPr>
          <a:xfrm>
            <a:off x="7073966" y="7055300"/>
            <a:ext cx="978945" cy="231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1526" b="1" dirty="0">
                <a:solidFill>
                  <a:srgbClr val="E8342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78 000 Ar</a:t>
            </a:r>
            <a:endParaRPr lang="en-US" sz="1526" dirty="0"/>
          </a:p>
        </p:txBody>
      </p:sp>
      <p:sp>
        <p:nvSpPr>
          <p:cNvPr id="91" name="Shape 89"/>
          <p:cNvSpPr/>
          <p:nvPr/>
        </p:nvSpPr>
        <p:spPr>
          <a:xfrm>
            <a:off x="4857750" y="8664133"/>
            <a:ext cx="3436144" cy="88987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2" name="Shape 90"/>
          <p:cNvSpPr/>
          <p:nvPr/>
        </p:nvSpPr>
        <p:spPr>
          <a:xfrm>
            <a:off x="4857750" y="8664133"/>
            <a:ext cx="3436144" cy="9525"/>
          </a:xfrm>
          <a:prstGeom prst="rect">
            <a:avLst/>
          </a:prstGeom>
          <a:solidFill>
            <a:srgbClr val="E9E5E0"/>
          </a:solidFill>
          <a:ln/>
        </p:spPr>
      </p:sp>
      <p:sp>
        <p:nvSpPr>
          <p:cNvPr id="93" name="Shape 91"/>
          <p:cNvSpPr/>
          <p:nvPr/>
        </p:nvSpPr>
        <p:spPr>
          <a:xfrm>
            <a:off x="5033963" y="8796293"/>
            <a:ext cx="3083719" cy="493395"/>
          </a:xfrm>
          <a:prstGeom prst="roundRect">
            <a:avLst>
              <a:gd name="adj" fmla="val 50000"/>
            </a:avLst>
          </a:prstGeom>
          <a:solidFill>
            <a:srgbClr val="E8342A"/>
          </a:solidFill>
          <a:ln/>
          <a:effectLst>
            <a:outerShdw sx="100000" sy="100000" kx="0" ky="0" algn="bl" rotWithShape="0" blurRad="190500" dist="76200" dir="5400000">
              <a:srgbClr val="E8342A">
                <a:alpha val="30000"/>
              </a:srgbClr>
            </a:outerShdw>
          </a:effectLst>
        </p:spPr>
      </p:sp>
      <p:sp>
        <p:nvSpPr>
          <p:cNvPr id="94" name="Text 92"/>
          <p:cNvSpPr/>
          <p:nvPr/>
        </p:nvSpPr>
        <p:spPr>
          <a:xfrm>
            <a:off x="6063704" y="8972505"/>
            <a:ext cx="853737" cy="179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750"/>
              </a:lnSpc>
              <a:buNone/>
            </a:pPr>
            <a:r>
              <a:rPr lang="en-US" sz="1041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Commander</a:t>
            </a:r>
            <a:endParaRPr lang="en-US" sz="1041" dirty="0"/>
          </a:p>
        </p:txBody>
      </p:sp>
      <p:sp>
        <p:nvSpPr>
          <p:cNvPr id="95" name="Text 93"/>
          <p:cNvSpPr/>
          <p:nvPr/>
        </p:nvSpPr>
        <p:spPr>
          <a:xfrm>
            <a:off x="6911727" y="8954884"/>
            <a:ext cx="252413" cy="2143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1388" dirty="0">
                <a:solidFill>
                  <a:srgbClr val="FFFFFF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arrow_forward</a:t>
            </a:r>
            <a:endParaRPr lang="en-US" sz="1388" dirty="0"/>
          </a:p>
        </p:txBody>
      </p:sp>
      <p:sp>
        <p:nvSpPr>
          <p:cNvPr id="96" name="Shape 94"/>
          <p:cNvSpPr/>
          <p:nvPr/>
        </p:nvSpPr>
        <p:spPr>
          <a:xfrm>
            <a:off x="8801100" y="1959248"/>
            <a:ext cx="281940" cy="158591"/>
          </a:xfrm>
          <a:prstGeom prst="roundRect">
            <a:avLst>
              <a:gd name="adj" fmla="val 27778"/>
            </a:avLst>
          </a:prstGeom>
          <a:solidFill>
            <a:srgbClr val="8A8580"/>
          </a:solidFill>
          <a:ln/>
        </p:spPr>
      </p:sp>
      <p:sp>
        <p:nvSpPr>
          <p:cNvPr id="97" name="Text 95"/>
          <p:cNvSpPr/>
          <p:nvPr/>
        </p:nvSpPr>
        <p:spPr>
          <a:xfrm>
            <a:off x="8862774" y="1994490"/>
            <a:ext cx="234791" cy="126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694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05b</a:t>
            </a:r>
            <a:endParaRPr lang="en-US" sz="694" dirty="0"/>
          </a:p>
        </p:txBody>
      </p:sp>
      <p:sp>
        <p:nvSpPr>
          <p:cNvPr id="98" name="Text 96"/>
          <p:cNvSpPr/>
          <p:nvPr/>
        </p:nvSpPr>
        <p:spPr>
          <a:xfrm>
            <a:off x="9153525" y="1972464"/>
            <a:ext cx="1882611" cy="152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57"/>
              </a:lnSpc>
              <a:buNone/>
            </a:pPr>
            <a:r>
              <a:rPr lang="en-US" sz="902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Panier vide · conflit de restaurant</a:t>
            </a:r>
            <a:endParaRPr lang="en-US" sz="902" dirty="0"/>
          </a:p>
        </p:txBody>
      </p:sp>
      <p:sp>
        <p:nvSpPr>
          <p:cNvPr id="99" name="Shape 97"/>
          <p:cNvSpPr/>
          <p:nvPr/>
        </p:nvSpPr>
        <p:spPr>
          <a:xfrm>
            <a:off x="8801100" y="2117839"/>
            <a:ext cx="3436144" cy="7436168"/>
          </a:xfrm>
          <a:prstGeom prst="roundRect">
            <a:avLst>
              <a:gd name="adj" fmla="val 11282"/>
            </a:avLst>
          </a:prstGeom>
          <a:solidFill>
            <a:srgbClr val="F5F2EF"/>
          </a:solidFill>
          <a:ln/>
          <a:effectLst>
            <a:outerShdw sx="100000" sy="100000" kx="0" ky="0" algn="bl" rotWithShape="0" blurRad="381000" dist="133350" dir="5400000">
              <a:srgbClr val="1A1A1A">
                <a:alpha val="14000"/>
              </a:srgbClr>
            </a:outerShdw>
          </a:effectLst>
        </p:spPr>
      </p:sp>
      <p:sp>
        <p:nvSpPr>
          <p:cNvPr id="100" name="Shape 98"/>
          <p:cNvSpPr/>
          <p:nvPr/>
        </p:nvSpPr>
        <p:spPr>
          <a:xfrm>
            <a:off x="8801100" y="2117839"/>
            <a:ext cx="3436144" cy="8898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1" name="Shape 99"/>
          <p:cNvSpPr/>
          <p:nvPr/>
        </p:nvSpPr>
        <p:spPr>
          <a:xfrm>
            <a:off x="8801100" y="2998902"/>
            <a:ext cx="3436144" cy="9525"/>
          </a:xfrm>
          <a:prstGeom prst="rect">
            <a:avLst/>
          </a:prstGeom>
          <a:solidFill>
            <a:srgbClr val="E9E5E0"/>
          </a:solidFill>
          <a:ln/>
        </p:spPr>
      </p:sp>
      <p:sp>
        <p:nvSpPr>
          <p:cNvPr id="102" name="Text 100"/>
          <p:cNvSpPr/>
          <p:nvPr/>
        </p:nvSpPr>
        <p:spPr>
          <a:xfrm>
            <a:off x="8977313" y="2254404"/>
            <a:ext cx="312641" cy="152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57"/>
              </a:lnSpc>
              <a:buNone/>
            </a:pPr>
            <a:r>
              <a:rPr lang="en-US" sz="902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9:41</a:t>
            </a:r>
            <a:endParaRPr lang="en-US" sz="902" dirty="0"/>
          </a:p>
        </p:txBody>
      </p:sp>
      <p:sp>
        <p:nvSpPr>
          <p:cNvPr id="103" name="Text 101"/>
          <p:cNvSpPr/>
          <p:nvPr/>
        </p:nvSpPr>
        <p:spPr>
          <a:xfrm>
            <a:off x="11550015" y="2241188"/>
            <a:ext cx="217170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1A1A1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signal_cellular_alt</a:t>
            </a:r>
            <a:endParaRPr lang="en-US" sz="1110" dirty="0"/>
          </a:p>
        </p:txBody>
      </p:sp>
      <p:sp>
        <p:nvSpPr>
          <p:cNvPr id="104" name="Text 102"/>
          <p:cNvSpPr/>
          <p:nvPr/>
        </p:nvSpPr>
        <p:spPr>
          <a:xfrm>
            <a:off x="11735038" y="2241188"/>
            <a:ext cx="217169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1A1A1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wifi</a:t>
            </a:r>
            <a:endParaRPr lang="en-US" sz="1110" dirty="0"/>
          </a:p>
        </p:txBody>
      </p:sp>
      <p:sp>
        <p:nvSpPr>
          <p:cNvPr id="105" name="Text 103"/>
          <p:cNvSpPr/>
          <p:nvPr/>
        </p:nvSpPr>
        <p:spPr>
          <a:xfrm>
            <a:off x="11920061" y="2241188"/>
            <a:ext cx="217170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1A1A1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battery_full</a:t>
            </a:r>
            <a:endParaRPr lang="en-US" sz="1110" dirty="0"/>
          </a:p>
        </p:txBody>
      </p:sp>
      <p:sp>
        <p:nvSpPr>
          <p:cNvPr id="106" name="Shape 104"/>
          <p:cNvSpPr/>
          <p:nvPr/>
        </p:nvSpPr>
        <p:spPr>
          <a:xfrm>
            <a:off x="8977313" y="2505507"/>
            <a:ext cx="352425" cy="352425"/>
          </a:xfrm>
          <a:prstGeom prst="ellipse">
            <a:avLst/>
          </a:prstGeom>
          <a:solidFill>
            <a:srgbClr val="F5F2EF"/>
          </a:solidFill>
          <a:ln/>
        </p:spPr>
      </p:sp>
      <p:sp>
        <p:nvSpPr>
          <p:cNvPr id="107" name="Text 105"/>
          <p:cNvSpPr/>
          <p:nvPr/>
        </p:nvSpPr>
        <p:spPr>
          <a:xfrm>
            <a:off x="9056608" y="2584802"/>
            <a:ext cx="270034" cy="2319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615"/>
              </a:lnSpc>
              <a:buNone/>
            </a:pPr>
            <a:r>
              <a:rPr lang="en-US" sz="1526" dirty="0">
                <a:solidFill>
                  <a:srgbClr val="1A1A1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arrow_back</a:t>
            </a:r>
            <a:endParaRPr lang="en-US" sz="1526" dirty="0"/>
          </a:p>
        </p:txBody>
      </p:sp>
      <p:sp>
        <p:nvSpPr>
          <p:cNvPr id="108" name="Text 106"/>
          <p:cNvSpPr/>
          <p:nvPr/>
        </p:nvSpPr>
        <p:spPr>
          <a:xfrm>
            <a:off x="9435465" y="2589208"/>
            <a:ext cx="1020520" cy="223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304"/>
              </a:lnSpc>
              <a:buNone/>
            </a:pPr>
            <a:r>
              <a:rPr lang="en-US" sz="1457" b="1" spc="-29" kern="0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Mon panier</a:t>
            </a:r>
            <a:endParaRPr lang="en-US" sz="1457" dirty="0"/>
          </a:p>
        </p:txBody>
      </p:sp>
      <p:sp>
        <p:nvSpPr>
          <p:cNvPr id="109" name="Shape 107"/>
          <p:cNvSpPr/>
          <p:nvPr/>
        </p:nvSpPr>
        <p:spPr>
          <a:xfrm>
            <a:off x="10096262" y="5114347"/>
            <a:ext cx="845820" cy="845820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A1A1A">
                <a:alpha val="6000"/>
              </a:srgbClr>
            </a:outerShdw>
          </a:effectLst>
        </p:spPr>
      </p:sp>
      <p:sp>
        <p:nvSpPr>
          <p:cNvPr id="110" name="Text 108"/>
          <p:cNvSpPr/>
          <p:nvPr/>
        </p:nvSpPr>
        <p:spPr>
          <a:xfrm>
            <a:off x="10287238" y="5343423"/>
            <a:ext cx="463867" cy="4257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3019"/>
              </a:lnSpc>
              <a:buNone/>
            </a:pPr>
            <a:r>
              <a:rPr lang="en-US" sz="3053" dirty="0">
                <a:solidFill>
                  <a:srgbClr val="FFC72C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shopping_bag</a:t>
            </a:r>
            <a:endParaRPr lang="en-US" sz="3053" dirty="0"/>
          </a:p>
        </p:txBody>
      </p:sp>
      <p:sp>
        <p:nvSpPr>
          <p:cNvPr id="111" name="Text 109"/>
          <p:cNvSpPr/>
          <p:nvPr/>
        </p:nvSpPr>
        <p:spPr>
          <a:xfrm>
            <a:off x="9586047" y="6136379"/>
            <a:ext cx="1866181" cy="24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1628"/>
              </a:lnSpc>
              <a:buNone/>
            </a:pPr>
            <a:r>
              <a:rPr lang="en-US" sz="1388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Votre panier est vide</a:t>
            </a:r>
            <a:endParaRPr lang="en-US" sz="1388" dirty="0"/>
          </a:p>
        </p:txBody>
      </p:sp>
      <p:sp>
        <p:nvSpPr>
          <p:cNvPr id="112" name="Text 110"/>
          <p:cNvSpPr/>
          <p:nvPr/>
        </p:nvSpPr>
        <p:spPr>
          <a:xfrm>
            <a:off x="9112556" y="6418319"/>
            <a:ext cx="2813233" cy="432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4516"/>
              </a:lnSpc>
              <a:buNone/>
            </a:pPr>
            <a:r>
              <a:rPr lang="en-US" sz="971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Parcourez les restaurants de Nosy Be et ajoutez vos plats préférés.</a:t>
            </a:r>
            <a:endParaRPr lang="en-US" sz="971" dirty="0"/>
          </a:p>
        </p:txBody>
      </p:sp>
      <p:sp>
        <p:nvSpPr>
          <p:cNvPr id="113" name="Shape 111"/>
          <p:cNvSpPr/>
          <p:nvPr/>
        </p:nvSpPr>
        <p:spPr>
          <a:xfrm>
            <a:off x="9742529" y="7006841"/>
            <a:ext cx="1553286" cy="440531"/>
          </a:xfrm>
          <a:prstGeom prst="roundRect">
            <a:avLst>
              <a:gd name="adj" fmla="val 50000"/>
            </a:avLst>
          </a:prstGeom>
          <a:solidFill>
            <a:srgbClr val="E8342A"/>
          </a:solidFill>
          <a:ln/>
          <a:effectLst>
            <a:outerShdw sx="100000" sy="100000" kx="0" ky="0" algn="bl" rotWithShape="0" blurRad="190500" dist="76200" dir="5400000">
              <a:srgbClr val="E8342A">
                <a:alpha val="30000"/>
              </a:srgbClr>
            </a:outerShdw>
          </a:effectLst>
        </p:spPr>
      </p:sp>
      <p:sp>
        <p:nvSpPr>
          <p:cNvPr id="114" name="Text 112"/>
          <p:cNvSpPr/>
          <p:nvPr/>
        </p:nvSpPr>
        <p:spPr>
          <a:xfrm>
            <a:off x="9915884" y="7006841"/>
            <a:ext cx="1206576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90323"/>
              </a:lnSpc>
              <a:buNone/>
            </a:pPr>
            <a:r>
              <a:rPr lang="en-US" sz="971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Voir les restaurants</a:t>
            </a:r>
            <a:endParaRPr lang="en-US" sz="971" dirty="0"/>
          </a:p>
        </p:txBody>
      </p:sp>
      <p:sp>
        <p:nvSpPr>
          <p:cNvPr id="115" name="Shape 113"/>
          <p:cNvSpPr/>
          <p:nvPr/>
        </p:nvSpPr>
        <p:spPr>
          <a:xfrm>
            <a:off x="8801100" y="2117839"/>
            <a:ext cx="3436144" cy="7436168"/>
          </a:xfrm>
          <a:prstGeom prst="rect">
            <a:avLst/>
          </a:prstGeom>
          <a:solidFill>
            <a:srgbClr val="1A1A1A">
              <a:alpha val="50000"/>
            </a:srgbClr>
          </a:solidFill>
          <a:ln/>
        </p:spPr>
      </p:sp>
      <p:sp>
        <p:nvSpPr>
          <p:cNvPr id="116" name="Shape 114"/>
          <p:cNvSpPr/>
          <p:nvPr/>
        </p:nvSpPr>
        <p:spPr>
          <a:xfrm>
            <a:off x="8801100" y="6318786"/>
            <a:ext cx="3436144" cy="3235221"/>
          </a:xfrm>
          <a:custGeom>
            <a:avLst/>
            <a:gdLst/>
            <a:ahLst/>
            <a:cxnLst/>
            <a:rect l="l" t="t" r="r" b="b"/>
            <a:pathLst>
              <a:path w="3436144" h="3235221">
                <a:moveTo>
                  <a:pt x="246698" y="0"/>
                </a:moveTo>
                <a:lnTo>
                  <a:pt x="3189446" y="0"/>
                </a:lnTo>
                <a:arcTo hR="246698" wR="246698" stAng="16200000" swAng="5400000"/>
                <a:lnTo>
                  <a:pt x="3436144" y="3235221"/>
                </a:lnTo>
                <a:lnTo>
                  <a:pt x="0" y="3235221"/>
                </a:lnTo>
                <a:lnTo>
                  <a:pt x="0" y="246698"/>
                </a:lnTo>
                <a:arcTo hR="246698" wR="246698" stAng="10800000" swAng="5400000"/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7" name="Shape 115"/>
          <p:cNvSpPr/>
          <p:nvPr/>
        </p:nvSpPr>
        <p:spPr>
          <a:xfrm>
            <a:off x="8977313" y="6530242"/>
            <a:ext cx="493395" cy="493395"/>
          </a:xfrm>
          <a:prstGeom prst="roundRect">
            <a:avLst>
              <a:gd name="adj" fmla="val 32143"/>
            </a:avLst>
          </a:prstGeom>
          <a:solidFill>
            <a:srgbClr val="FDECEB"/>
          </a:solidFill>
          <a:ln/>
        </p:spPr>
      </p:sp>
      <p:sp>
        <p:nvSpPr>
          <p:cNvPr id="118" name="Text 116"/>
          <p:cNvSpPr/>
          <p:nvPr/>
        </p:nvSpPr>
        <p:spPr>
          <a:xfrm>
            <a:off x="9100661" y="6653590"/>
            <a:ext cx="322897" cy="28479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2353"/>
              </a:lnSpc>
              <a:buNone/>
            </a:pPr>
            <a:r>
              <a:rPr lang="en-US" sz="1943" dirty="0">
                <a:solidFill>
                  <a:srgbClr val="E8342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swap_horiz</a:t>
            </a:r>
            <a:endParaRPr lang="en-US" sz="1943" dirty="0"/>
          </a:p>
        </p:txBody>
      </p:sp>
      <p:sp>
        <p:nvSpPr>
          <p:cNvPr id="119" name="Text 117"/>
          <p:cNvSpPr/>
          <p:nvPr/>
        </p:nvSpPr>
        <p:spPr>
          <a:xfrm>
            <a:off x="8977313" y="7164606"/>
            <a:ext cx="3392091" cy="2583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79"/>
              </a:lnSpc>
              <a:buNone/>
            </a:pPr>
            <a:r>
              <a:rPr lang="en-US" sz="1388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Changer de restaurant ?</a:t>
            </a:r>
            <a:endParaRPr lang="en-US" sz="1388" dirty="0"/>
          </a:p>
        </p:txBody>
      </p:sp>
      <p:sp>
        <p:nvSpPr>
          <p:cNvPr id="120" name="Text 118"/>
          <p:cNvSpPr/>
          <p:nvPr/>
        </p:nvSpPr>
        <p:spPr>
          <a:xfrm>
            <a:off x="8977313" y="7455357"/>
            <a:ext cx="3176230" cy="6301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4516"/>
              </a:lnSpc>
              <a:buNone/>
            </a:pPr>
            <a:r>
              <a:rPr lang="en-US" sz="971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Votre panier contient des plats de </a:t>
            </a:r>
            <a:pPr algn="l" indent="0" marL="0">
              <a:lnSpc>
                <a:spcPct val="144516"/>
              </a:lnSpc>
              <a:buNone/>
            </a:pPr>
            <a:r>
              <a:rPr lang="en-US" sz="971" b="1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Pizzeria Papillon </a:t>
            </a:r>
            <a:pPr algn="l" indent="0" marL="0">
              <a:lnSpc>
                <a:spcPct val="144516"/>
              </a:lnSpc>
              <a:buNone/>
            </a:pPr>
            <a:r>
              <a:rPr lang="en-US" sz="971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 Ajouter un produit de </a:t>
            </a:r>
            <a:pPr algn="l" indent="0" marL="0">
              <a:lnSpc>
                <a:spcPct val="144516"/>
              </a:lnSpc>
              <a:buNone/>
            </a:pPr>
            <a:r>
              <a:rPr lang="en-US" sz="971" b="1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Burger Baobab </a:t>
            </a:r>
            <a:pPr algn="l" indent="0" marL="0">
              <a:lnSpc>
                <a:spcPct val="144516"/>
              </a:lnSpc>
              <a:buNone/>
            </a:pPr>
            <a:r>
              <a:rPr lang="en-US" sz="971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videra le panier en cours.</a:t>
            </a:r>
            <a:endParaRPr lang="en-US" sz="971" dirty="0"/>
          </a:p>
        </p:txBody>
      </p:sp>
      <p:sp>
        <p:nvSpPr>
          <p:cNvPr id="121" name="Shape 119"/>
          <p:cNvSpPr/>
          <p:nvPr/>
        </p:nvSpPr>
        <p:spPr>
          <a:xfrm>
            <a:off x="8977313" y="8241224"/>
            <a:ext cx="3083719" cy="458152"/>
          </a:xfrm>
          <a:prstGeom prst="roundRect">
            <a:avLst>
              <a:gd name="adj" fmla="val 50000"/>
            </a:avLst>
          </a:prstGeom>
          <a:solidFill>
            <a:srgbClr val="E8342A"/>
          </a:solidFill>
          <a:ln/>
        </p:spPr>
      </p:sp>
      <p:sp>
        <p:nvSpPr>
          <p:cNvPr id="122" name="Text 120"/>
          <p:cNvSpPr/>
          <p:nvPr/>
        </p:nvSpPr>
        <p:spPr>
          <a:xfrm>
            <a:off x="8931057" y="8241224"/>
            <a:ext cx="3176230" cy="496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93750"/>
              </a:lnSpc>
              <a:buNone/>
            </a:pPr>
            <a:r>
              <a:rPr lang="en-US" sz="1041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Vider et continuer</a:t>
            </a:r>
            <a:endParaRPr lang="en-US" sz="1041" dirty="0"/>
          </a:p>
        </p:txBody>
      </p:sp>
      <p:sp>
        <p:nvSpPr>
          <p:cNvPr id="123" name="Shape 121"/>
          <p:cNvSpPr/>
          <p:nvPr/>
        </p:nvSpPr>
        <p:spPr>
          <a:xfrm>
            <a:off x="8977313" y="8787482"/>
            <a:ext cx="3083719" cy="484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216">
            <a:solidFill>
              <a:srgbClr val="DCD8D3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8944273" y="8800698"/>
            <a:ext cx="3149798" cy="496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93750"/>
              </a:lnSpc>
              <a:buNone/>
            </a:pPr>
            <a:r>
              <a:rPr lang="en-US" sz="1041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Garder mon panier</a:t>
            </a:r>
            <a:endParaRPr lang="en-US" sz="1041" dirty="0"/>
          </a:p>
        </p:txBody>
      </p:sp>
      <p:sp>
        <p:nvSpPr>
          <p:cNvPr id="125" name="Shape 123"/>
          <p:cNvSpPr/>
          <p:nvPr/>
        </p:nvSpPr>
        <p:spPr>
          <a:xfrm>
            <a:off x="12744450" y="1959248"/>
            <a:ext cx="229077" cy="158591"/>
          </a:xfrm>
          <a:prstGeom prst="roundRect">
            <a:avLst>
              <a:gd name="adj" fmla="val 27778"/>
            </a:avLst>
          </a:prstGeom>
          <a:solidFill>
            <a:srgbClr val="1A1A1A"/>
          </a:solidFill>
          <a:ln/>
        </p:spPr>
      </p:sp>
      <p:sp>
        <p:nvSpPr>
          <p:cNvPr id="126" name="Text 124"/>
          <p:cNvSpPr/>
          <p:nvPr/>
        </p:nvSpPr>
        <p:spPr>
          <a:xfrm>
            <a:off x="12806124" y="1994490"/>
            <a:ext cx="181928" cy="126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694" dirty="0">
                <a:solidFill>
                  <a:srgbClr val="FFC7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694" dirty="0"/>
          </a:p>
        </p:txBody>
      </p:sp>
      <p:sp>
        <p:nvSpPr>
          <p:cNvPr id="127" name="Text 125"/>
          <p:cNvSpPr/>
          <p:nvPr/>
        </p:nvSpPr>
        <p:spPr>
          <a:xfrm>
            <a:off x="13044011" y="1972464"/>
            <a:ext cx="1144420" cy="152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57"/>
              </a:lnSpc>
              <a:buNone/>
            </a:pPr>
            <a:r>
              <a:rPr lang="en-US" sz="902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Adresse de livraison</a:t>
            </a:r>
            <a:endParaRPr lang="en-US" sz="902" dirty="0"/>
          </a:p>
        </p:txBody>
      </p:sp>
      <p:sp>
        <p:nvSpPr>
          <p:cNvPr id="128" name="Shape 126"/>
          <p:cNvSpPr/>
          <p:nvPr/>
        </p:nvSpPr>
        <p:spPr>
          <a:xfrm>
            <a:off x="12744450" y="2117839"/>
            <a:ext cx="3436144" cy="7436168"/>
          </a:xfrm>
          <a:prstGeom prst="roundRect">
            <a:avLst>
              <a:gd name="adj" fmla="val 11282"/>
            </a:avLst>
          </a:prstGeom>
          <a:solidFill>
            <a:srgbClr val="F5F2EF"/>
          </a:solidFill>
          <a:ln/>
          <a:effectLst>
            <a:outerShdw sx="100000" sy="100000" kx="0" ky="0" algn="bl" rotWithShape="0" blurRad="381000" dist="133350" dir="5400000">
              <a:srgbClr val="1A1A1A">
                <a:alpha val="14000"/>
              </a:srgbClr>
            </a:outerShdw>
          </a:effectLst>
        </p:spPr>
      </p:sp>
      <p:sp>
        <p:nvSpPr>
          <p:cNvPr id="129" name="Shape 127"/>
          <p:cNvSpPr/>
          <p:nvPr/>
        </p:nvSpPr>
        <p:spPr>
          <a:xfrm>
            <a:off x="12744450" y="2117839"/>
            <a:ext cx="3436144" cy="8898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0" name="Shape 128"/>
          <p:cNvSpPr/>
          <p:nvPr/>
        </p:nvSpPr>
        <p:spPr>
          <a:xfrm>
            <a:off x="12744450" y="2998902"/>
            <a:ext cx="3436144" cy="9525"/>
          </a:xfrm>
          <a:prstGeom prst="rect">
            <a:avLst/>
          </a:prstGeom>
          <a:solidFill>
            <a:srgbClr val="E9E5E0"/>
          </a:solidFill>
          <a:ln/>
        </p:spPr>
      </p:sp>
      <p:sp>
        <p:nvSpPr>
          <p:cNvPr id="131" name="Text 129"/>
          <p:cNvSpPr/>
          <p:nvPr/>
        </p:nvSpPr>
        <p:spPr>
          <a:xfrm>
            <a:off x="12920663" y="2254404"/>
            <a:ext cx="312641" cy="152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57"/>
              </a:lnSpc>
              <a:buNone/>
            </a:pPr>
            <a:r>
              <a:rPr lang="en-US" sz="902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9:41</a:t>
            </a:r>
            <a:endParaRPr lang="en-US" sz="902" dirty="0"/>
          </a:p>
        </p:txBody>
      </p:sp>
      <p:sp>
        <p:nvSpPr>
          <p:cNvPr id="132" name="Text 130"/>
          <p:cNvSpPr/>
          <p:nvPr/>
        </p:nvSpPr>
        <p:spPr>
          <a:xfrm>
            <a:off x="15493365" y="2241188"/>
            <a:ext cx="217170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1A1A1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signal_cellular_alt</a:t>
            </a:r>
            <a:endParaRPr lang="en-US" sz="1110" dirty="0"/>
          </a:p>
        </p:txBody>
      </p:sp>
      <p:sp>
        <p:nvSpPr>
          <p:cNvPr id="133" name="Text 131"/>
          <p:cNvSpPr/>
          <p:nvPr/>
        </p:nvSpPr>
        <p:spPr>
          <a:xfrm>
            <a:off x="15678388" y="2241188"/>
            <a:ext cx="217169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1A1A1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wifi</a:t>
            </a:r>
            <a:endParaRPr lang="en-US" sz="1110" dirty="0"/>
          </a:p>
        </p:txBody>
      </p:sp>
      <p:sp>
        <p:nvSpPr>
          <p:cNvPr id="134" name="Text 132"/>
          <p:cNvSpPr/>
          <p:nvPr/>
        </p:nvSpPr>
        <p:spPr>
          <a:xfrm>
            <a:off x="15863411" y="2241188"/>
            <a:ext cx="217170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1A1A1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battery_full</a:t>
            </a:r>
            <a:endParaRPr lang="en-US" sz="1110" dirty="0"/>
          </a:p>
        </p:txBody>
      </p:sp>
      <p:sp>
        <p:nvSpPr>
          <p:cNvPr id="135" name="Shape 133"/>
          <p:cNvSpPr/>
          <p:nvPr/>
        </p:nvSpPr>
        <p:spPr>
          <a:xfrm>
            <a:off x="12920663" y="2505507"/>
            <a:ext cx="352425" cy="352425"/>
          </a:xfrm>
          <a:prstGeom prst="ellipse">
            <a:avLst/>
          </a:prstGeom>
          <a:solidFill>
            <a:srgbClr val="F5F2EF"/>
          </a:solidFill>
          <a:ln/>
        </p:spPr>
      </p:sp>
      <p:sp>
        <p:nvSpPr>
          <p:cNvPr id="136" name="Text 134"/>
          <p:cNvSpPr/>
          <p:nvPr/>
        </p:nvSpPr>
        <p:spPr>
          <a:xfrm>
            <a:off x="12999958" y="2584802"/>
            <a:ext cx="270035" cy="2319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615"/>
              </a:lnSpc>
              <a:buNone/>
            </a:pPr>
            <a:r>
              <a:rPr lang="en-US" sz="1526" dirty="0">
                <a:solidFill>
                  <a:srgbClr val="1A1A1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arrow_back</a:t>
            </a:r>
            <a:endParaRPr lang="en-US" sz="1526" dirty="0"/>
          </a:p>
        </p:txBody>
      </p:sp>
      <p:sp>
        <p:nvSpPr>
          <p:cNvPr id="137" name="Text 135"/>
          <p:cNvSpPr/>
          <p:nvPr/>
        </p:nvSpPr>
        <p:spPr>
          <a:xfrm>
            <a:off x="13378815" y="2589208"/>
            <a:ext cx="1879431" cy="223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304"/>
              </a:lnSpc>
              <a:buNone/>
            </a:pPr>
            <a:r>
              <a:rPr lang="en-US" sz="1457" b="1" spc="-29" kern="0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Adresse de livraison</a:t>
            </a:r>
            <a:endParaRPr lang="en-US" sz="1457" dirty="0"/>
          </a:p>
        </p:txBody>
      </p:sp>
      <p:sp>
        <p:nvSpPr>
          <p:cNvPr id="138" name="Text 136"/>
          <p:cNvSpPr/>
          <p:nvPr/>
        </p:nvSpPr>
        <p:spPr>
          <a:xfrm>
            <a:off x="12920663" y="3148682"/>
            <a:ext cx="3392091" cy="13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763" b="1" spc="76" kern="0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MES ADRESSES</a:t>
            </a:r>
            <a:endParaRPr lang="en-US" sz="763" dirty="0"/>
          </a:p>
        </p:txBody>
      </p:sp>
      <p:sp>
        <p:nvSpPr>
          <p:cNvPr id="139" name="Shape 137"/>
          <p:cNvSpPr/>
          <p:nvPr/>
        </p:nvSpPr>
        <p:spPr>
          <a:xfrm>
            <a:off x="12920663" y="3333705"/>
            <a:ext cx="3083719" cy="764735"/>
          </a:xfrm>
          <a:prstGeom prst="roundRect">
            <a:avLst>
              <a:gd name="adj" fmla="val 20738"/>
            </a:avLst>
          </a:prstGeom>
          <a:solidFill>
            <a:srgbClr val="FFFFFF"/>
          </a:solidFill>
          <a:ln w="13216">
            <a:solidFill>
              <a:srgbClr val="E8342A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13057227" y="3470270"/>
            <a:ext cx="270034" cy="2319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615"/>
              </a:lnSpc>
              <a:buNone/>
            </a:pPr>
            <a:r>
              <a:rPr lang="en-US" sz="1526" dirty="0">
                <a:solidFill>
                  <a:srgbClr val="E8342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home</a:t>
            </a:r>
            <a:endParaRPr lang="en-US" sz="1526" dirty="0"/>
          </a:p>
        </p:txBody>
      </p:sp>
      <p:sp>
        <p:nvSpPr>
          <p:cNvPr id="141" name="Text 139"/>
          <p:cNvSpPr/>
          <p:nvPr/>
        </p:nvSpPr>
        <p:spPr>
          <a:xfrm>
            <a:off x="13356788" y="3470270"/>
            <a:ext cx="2432614" cy="186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87"/>
              </a:lnSpc>
              <a:buNone/>
            </a:pPr>
            <a:r>
              <a:rPr lang="en-US" sz="971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Maison — Villa Bleue</a:t>
            </a:r>
            <a:endParaRPr lang="en-US" sz="971" dirty="0"/>
          </a:p>
        </p:txBody>
      </p:sp>
      <p:sp>
        <p:nvSpPr>
          <p:cNvPr id="142" name="Text 140"/>
          <p:cNvSpPr/>
          <p:nvPr/>
        </p:nvSpPr>
        <p:spPr>
          <a:xfrm>
            <a:off x="13356788" y="3644693"/>
            <a:ext cx="2287667" cy="355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462"/>
              </a:lnSpc>
              <a:buNone/>
            </a:pPr>
            <a:r>
              <a:rPr lang="en-US" sz="833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Ambondrona, en face de l'épicerie Chez Néné · +261 32 45 678 90</a:t>
            </a:r>
            <a:endParaRPr lang="en-US" sz="833" dirty="0"/>
          </a:p>
        </p:txBody>
      </p:sp>
      <p:sp>
        <p:nvSpPr>
          <p:cNvPr id="143" name="Text 141"/>
          <p:cNvSpPr/>
          <p:nvPr/>
        </p:nvSpPr>
        <p:spPr>
          <a:xfrm>
            <a:off x="15673983" y="3470270"/>
            <a:ext cx="270034" cy="2319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615"/>
              </a:lnSpc>
              <a:buNone/>
            </a:pPr>
            <a:r>
              <a:rPr lang="en-US" sz="1526" dirty="0">
                <a:solidFill>
                  <a:srgbClr val="E8342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radio_button_checked</a:t>
            </a:r>
            <a:endParaRPr lang="en-US" sz="1526" dirty="0"/>
          </a:p>
        </p:txBody>
      </p:sp>
      <p:sp>
        <p:nvSpPr>
          <p:cNvPr id="144" name="Shape 142"/>
          <p:cNvSpPr/>
          <p:nvPr/>
        </p:nvSpPr>
        <p:spPr>
          <a:xfrm>
            <a:off x="12920663" y="4186546"/>
            <a:ext cx="3083719" cy="764735"/>
          </a:xfrm>
          <a:prstGeom prst="roundRect">
            <a:avLst>
              <a:gd name="adj" fmla="val 20738"/>
            </a:avLst>
          </a:prstGeom>
          <a:solidFill>
            <a:srgbClr val="FFFFFF"/>
          </a:solidFill>
          <a:ln w="13216">
            <a:solidFill>
              <a:srgbClr val="E9E5E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13057227" y="4323111"/>
            <a:ext cx="270034" cy="2319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615"/>
              </a:lnSpc>
              <a:buNone/>
            </a:pPr>
            <a:r>
              <a:rPr lang="en-US" sz="1526" dirty="0">
                <a:solidFill>
                  <a:srgbClr val="8A8580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work</a:t>
            </a:r>
            <a:endParaRPr lang="en-US" sz="1526" dirty="0"/>
          </a:p>
        </p:txBody>
      </p:sp>
      <p:sp>
        <p:nvSpPr>
          <p:cNvPr id="146" name="Text 144"/>
          <p:cNvSpPr/>
          <p:nvPr/>
        </p:nvSpPr>
        <p:spPr>
          <a:xfrm>
            <a:off x="13356788" y="4323111"/>
            <a:ext cx="2432614" cy="186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87"/>
              </a:lnSpc>
              <a:buNone/>
            </a:pPr>
            <a:r>
              <a:rPr lang="en-US" sz="971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Bureau — Hell-Ville</a:t>
            </a:r>
            <a:endParaRPr lang="en-US" sz="971" dirty="0"/>
          </a:p>
        </p:txBody>
      </p:sp>
      <p:sp>
        <p:nvSpPr>
          <p:cNvPr id="147" name="Text 145"/>
          <p:cNvSpPr/>
          <p:nvPr/>
        </p:nvSpPr>
        <p:spPr>
          <a:xfrm>
            <a:off x="13356788" y="4497534"/>
            <a:ext cx="2287667" cy="355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462"/>
              </a:lnSpc>
              <a:buNone/>
            </a:pPr>
            <a:r>
              <a:rPr lang="en-US" sz="833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Rue Passot, à côté de la BNI · +261 34 11 223 44</a:t>
            </a:r>
            <a:endParaRPr lang="en-US" sz="833" dirty="0"/>
          </a:p>
        </p:txBody>
      </p:sp>
      <p:sp>
        <p:nvSpPr>
          <p:cNvPr id="148" name="Text 146"/>
          <p:cNvSpPr/>
          <p:nvPr/>
        </p:nvSpPr>
        <p:spPr>
          <a:xfrm>
            <a:off x="15673983" y="4323111"/>
            <a:ext cx="270034" cy="2319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615"/>
              </a:lnSpc>
              <a:buNone/>
            </a:pPr>
            <a:r>
              <a:rPr lang="en-US" sz="1526" dirty="0">
                <a:solidFill>
                  <a:srgbClr val="DCD8D3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radio_button_unchecked</a:t>
            </a:r>
            <a:endParaRPr lang="en-US" sz="1526" dirty="0"/>
          </a:p>
        </p:txBody>
      </p:sp>
      <p:sp>
        <p:nvSpPr>
          <p:cNvPr id="149" name="Shape 147"/>
          <p:cNvSpPr/>
          <p:nvPr/>
        </p:nvSpPr>
        <p:spPr>
          <a:xfrm>
            <a:off x="12920663" y="5153926"/>
            <a:ext cx="871013" cy="9525"/>
          </a:xfrm>
          <a:prstGeom prst="rect">
            <a:avLst/>
          </a:prstGeom>
          <a:solidFill>
            <a:srgbClr val="E4DED8"/>
          </a:solidFill>
          <a:ln/>
        </p:spPr>
      </p:sp>
      <p:sp>
        <p:nvSpPr>
          <p:cNvPr id="150" name="Text 148"/>
          <p:cNvSpPr/>
          <p:nvPr/>
        </p:nvSpPr>
        <p:spPr>
          <a:xfrm>
            <a:off x="13879782" y="5109872"/>
            <a:ext cx="1241680" cy="13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763" b="1" spc="76" kern="0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NOUVELLE ADRESSE</a:t>
            </a:r>
            <a:endParaRPr lang="en-US" sz="763" dirty="0"/>
          </a:p>
        </p:txBody>
      </p:sp>
      <p:sp>
        <p:nvSpPr>
          <p:cNvPr id="151" name="Shape 149"/>
          <p:cNvSpPr/>
          <p:nvPr/>
        </p:nvSpPr>
        <p:spPr>
          <a:xfrm>
            <a:off x="15133368" y="5153926"/>
            <a:ext cx="871013" cy="9525"/>
          </a:xfrm>
          <a:prstGeom prst="rect">
            <a:avLst/>
          </a:prstGeom>
          <a:solidFill>
            <a:srgbClr val="E4DED8"/>
          </a:solidFill>
          <a:ln/>
        </p:spPr>
      </p:sp>
      <p:sp>
        <p:nvSpPr>
          <p:cNvPr id="152" name="Shape 150"/>
          <p:cNvSpPr/>
          <p:nvPr/>
        </p:nvSpPr>
        <p:spPr>
          <a:xfrm>
            <a:off x="12920663" y="5330138"/>
            <a:ext cx="3083719" cy="3770948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A1A1A">
                <a:alpha val="6000"/>
              </a:srgbClr>
            </a:outerShdw>
          </a:effectLst>
        </p:spPr>
      </p:sp>
      <p:sp>
        <p:nvSpPr>
          <p:cNvPr id="153" name="Text 151"/>
          <p:cNvSpPr/>
          <p:nvPr/>
        </p:nvSpPr>
        <p:spPr>
          <a:xfrm>
            <a:off x="13061633" y="5471108"/>
            <a:ext cx="3081956" cy="13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763" b="1" spc="46" kern="0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QUARTIER / ZONE</a:t>
            </a:r>
            <a:endParaRPr lang="en-US" sz="763" dirty="0"/>
          </a:p>
        </p:txBody>
      </p:sp>
      <p:sp>
        <p:nvSpPr>
          <p:cNvPr id="154" name="Shape 152"/>
          <p:cNvSpPr/>
          <p:nvPr/>
        </p:nvSpPr>
        <p:spPr>
          <a:xfrm>
            <a:off x="13061633" y="5620888"/>
            <a:ext cx="2801778" cy="466963"/>
          </a:xfrm>
          <a:prstGeom prst="roundRect">
            <a:avLst>
              <a:gd name="adj" fmla="val 22642"/>
            </a:avLst>
          </a:prstGeom>
          <a:ln w="13216">
            <a:solidFill>
              <a:srgbClr val="DCD8D3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13198197" y="5783885"/>
            <a:ext cx="715040" cy="179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750"/>
              </a:lnSpc>
              <a:buNone/>
            </a:pPr>
            <a:r>
              <a:rPr lang="en-US" sz="104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Madirokely</a:t>
            </a:r>
            <a:endParaRPr lang="en-US" sz="1041" dirty="0"/>
          </a:p>
        </p:txBody>
      </p:sp>
      <p:sp>
        <p:nvSpPr>
          <p:cNvPr id="156" name="Text 154"/>
          <p:cNvSpPr/>
          <p:nvPr/>
        </p:nvSpPr>
        <p:spPr>
          <a:xfrm>
            <a:off x="15550635" y="5766264"/>
            <a:ext cx="252413" cy="2143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1388" dirty="0">
                <a:solidFill>
                  <a:srgbClr val="8A8580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expand_more</a:t>
            </a:r>
            <a:endParaRPr lang="en-US" sz="1388" dirty="0"/>
          </a:p>
        </p:txBody>
      </p:sp>
      <p:sp>
        <p:nvSpPr>
          <p:cNvPr id="157" name="Text 155"/>
          <p:cNvSpPr/>
          <p:nvPr/>
        </p:nvSpPr>
        <p:spPr>
          <a:xfrm>
            <a:off x="13061633" y="6211201"/>
            <a:ext cx="3081956" cy="13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763" b="1" spc="46" kern="0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POINT DE REPÈRE</a:t>
            </a:r>
            <a:endParaRPr lang="en-US" sz="763" dirty="0"/>
          </a:p>
        </p:txBody>
      </p:sp>
      <p:sp>
        <p:nvSpPr>
          <p:cNvPr id="158" name="Shape 156"/>
          <p:cNvSpPr/>
          <p:nvPr/>
        </p:nvSpPr>
        <p:spPr>
          <a:xfrm>
            <a:off x="13061633" y="6360982"/>
            <a:ext cx="2801778" cy="466963"/>
          </a:xfrm>
          <a:prstGeom prst="roundRect">
            <a:avLst>
              <a:gd name="adj" fmla="val 22642"/>
            </a:avLst>
          </a:prstGeom>
          <a:ln w="13216">
            <a:solidFill>
              <a:srgbClr val="DCD8D3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13198198" y="6374197"/>
            <a:ext cx="2612702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93750"/>
              </a:lnSpc>
              <a:buNone/>
            </a:pPr>
            <a:r>
              <a:rPr lang="en-US" sz="1041" dirty="0">
                <a:solidFill>
                  <a:srgbClr val="B4AFA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Ex. hôtel, boutique, école…</a:t>
            </a:r>
            <a:endParaRPr lang="en-US" sz="1041" dirty="0"/>
          </a:p>
        </p:txBody>
      </p:sp>
      <p:sp>
        <p:nvSpPr>
          <p:cNvPr id="160" name="Text 158"/>
          <p:cNvSpPr/>
          <p:nvPr/>
        </p:nvSpPr>
        <p:spPr>
          <a:xfrm>
            <a:off x="13061633" y="6951293"/>
            <a:ext cx="3081956" cy="13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763" b="1" spc="46" kern="0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TÉLÉPHONE DE CONTACT</a:t>
            </a:r>
            <a:endParaRPr lang="en-US" sz="763" dirty="0"/>
          </a:p>
        </p:txBody>
      </p:sp>
      <p:sp>
        <p:nvSpPr>
          <p:cNvPr id="161" name="Shape 159"/>
          <p:cNvSpPr/>
          <p:nvPr/>
        </p:nvSpPr>
        <p:spPr>
          <a:xfrm>
            <a:off x="13061633" y="7101074"/>
            <a:ext cx="2801778" cy="466963"/>
          </a:xfrm>
          <a:prstGeom prst="roundRect">
            <a:avLst>
              <a:gd name="adj" fmla="val 22642"/>
            </a:avLst>
          </a:prstGeom>
          <a:ln w="13216">
            <a:solidFill>
              <a:srgbClr val="DCD8D3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13198198" y="7114289"/>
            <a:ext cx="2612702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93750"/>
              </a:lnSpc>
              <a:buNone/>
            </a:pPr>
            <a:r>
              <a:rPr lang="en-US" sz="104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+261 32 45 678 90</a:t>
            </a:r>
            <a:endParaRPr lang="en-US" sz="1041" dirty="0"/>
          </a:p>
        </p:txBody>
      </p:sp>
      <p:sp>
        <p:nvSpPr>
          <p:cNvPr id="163" name="Text 161"/>
          <p:cNvSpPr/>
          <p:nvPr/>
        </p:nvSpPr>
        <p:spPr>
          <a:xfrm>
            <a:off x="13061633" y="7691386"/>
            <a:ext cx="3081956" cy="13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763" b="1" spc="46" kern="0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INSTRUCTIONS POUR LE LIVREUR</a:t>
            </a:r>
            <a:endParaRPr lang="en-US" sz="763" dirty="0"/>
          </a:p>
        </p:txBody>
      </p:sp>
      <p:sp>
        <p:nvSpPr>
          <p:cNvPr id="164" name="Shape 162"/>
          <p:cNvSpPr/>
          <p:nvPr/>
        </p:nvSpPr>
        <p:spPr>
          <a:xfrm>
            <a:off x="13061633" y="7841166"/>
            <a:ext cx="2801778" cy="766524"/>
          </a:xfrm>
          <a:prstGeom prst="roundRect">
            <a:avLst>
              <a:gd name="adj" fmla="val 13793"/>
            </a:avLst>
          </a:prstGeom>
          <a:ln w="13216">
            <a:solidFill>
              <a:srgbClr val="DCD8D3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13198198" y="7960110"/>
            <a:ext cx="2612702" cy="566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484"/>
              </a:lnSpc>
              <a:buNone/>
            </a:pPr>
            <a:r>
              <a:rPr lang="en-US" sz="971" dirty="0">
                <a:solidFill>
                  <a:srgbClr val="B4AFA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« Maison bleue à côté du terrain de foot, portail vert »</a:t>
            </a:r>
            <a:endParaRPr lang="en-US" sz="971" dirty="0"/>
          </a:p>
        </p:txBody>
      </p:sp>
      <p:sp>
        <p:nvSpPr>
          <p:cNvPr id="166" name="Shape 164"/>
          <p:cNvSpPr/>
          <p:nvPr/>
        </p:nvSpPr>
        <p:spPr>
          <a:xfrm>
            <a:off x="13061633" y="8731039"/>
            <a:ext cx="440531" cy="229076"/>
          </a:xfrm>
          <a:prstGeom prst="roundRect">
            <a:avLst>
              <a:gd name="adj" fmla="val 50000"/>
            </a:avLst>
          </a:prstGeom>
          <a:solidFill>
            <a:srgbClr val="E8342A"/>
          </a:solidFill>
          <a:ln/>
        </p:spPr>
      </p:sp>
      <p:sp>
        <p:nvSpPr>
          <p:cNvPr id="167" name="Shape 165"/>
          <p:cNvSpPr/>
          <p:nvPr/>
        </p:nvSpPr>
        <p:spPr>
          <a:xfrm>
            <a:off x="13299520" y="8757471"/>
            <a:ext cx="176213" cy="17621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8" name="Text 166"/>
          <p:cNvSpPr/>
          <p:nvPr/>
        </p:nvSpPr>
        <p:spPr>
          <a:xfrm>
            <a:off x="13590270" y="8788308"/>
            <a:ext cx="1420438" cy="152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57"/>
              </a:lnSpc>
              <a:buNone/>
            </a:pPr>
            <a:r>
              <a:rPr lang="en-US" sz="902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Enregistrer cette adresse</a:t>
            </a:r>
            <a:endParaRPr lang="en-US" sz="902" dirty="0"/>
          </a:p>
        </p:txBody>
      </p:sp>
      <p:sp>
        <p:nvSpPr>
          <p:cNvPr id="169" name="Shape 167"/>
          <p:cNvSpPr/>
          <p:nvPr/>
        </p:nvSpPr>
        <p:spPr>
          <a:xfrm>
            <a:off x="12744450" y="8664133"/>
            <a:ext cx="3436144" cy="88987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0" name="Shape 168"/>
          <p:cNvSpPr/>
          <p:nvPr/>
        </p:nvSpPr>
        <p:spPr>
          <a:xfrm>
            <a:off x="12744450" y="8664133"/>
            <a:ext cx="3436144" cy="9525"/>
          </a:xfrm>
          <a:prstGeom prst="rect">
            <a:avLst/>
          </a:prstGeom>
          <a:solidFill>
            <a:srgbClr val="E9E5E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12920663" y="8796293"/>
            <a:ext cx="3083719" cy="493395"/>
          </a:xfrm>
          <a:prstGeom prst="roundRect">
            <a:avLst>
              <a:gd name="adj" fmla="val 50000"/>
            </a:avLst>
          </a:prstGeom>
          <a:solidFill>
            <a:srgbClr val="E8342A"/>
          </a:solidFill>
          <a:ln/>
          <a:effectLst>
            <a:outerShdw sx="100000" sy="100000" kx="0" ky="0" algn="bl" rotWithShape="0" blurRad="190500" dist="76200" dir="5400000">
              <a:srgbClr val="E8342A">
                <a:alpha val="30000"/>
              </a:srgbClr>
            </a:outerShdw>
          </a:effectLst>
        </p:spPr>
      </p:sp>
      <p:sp>
        <p:nvSpPr>
          <p:cNvPr id="172" name="Text 170"/>
          <p:cNvSpPr/>
          <p:nvPr/>
        </p:nvSpPr>
        <p:spPr>
          <a:xfrm>
            <a:off x="12874407" y="8796293"/>
            <a:ext cx="3176230" cy="531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93750"/>
              </a:lnSpc>
              <a:buNone/>
            </a:pPr>
            <a:r>
              <a:rPr lang="en-US" sz="1041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Confirmer l'adresse</a:t>
            </a:r>
            <a:endParaRPr lang="en-US" sz="104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81051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1125" spc="225" kern="0" dirty="0">
                <a:solidFill>
                  <a:srgbClr val="E834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— LES ÉCRANS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914400" y="1000125"/>
            <a:ext cx="18105120" cy="57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102"/>
              </a:lnSpc>
              <a:buNone/>
            </a:pPr>
            <a:r>
              <a:rPr lang="en-US" sz="4050" b="1" spc="-122" kern="0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Validation, confirmation &amp; suivi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914400" y="1959248"/>
            <a:ext cx="229076" cy="158591"/>
          </a:xfrm>
          <a:prstGeom prst="roundRect">
            <a:avLst>
              <a:gd name="adj" fmla="val 27778"/>
            </a:avLst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976074" y="1994490"/>
            <a:ext cx="181928" cy="126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694" dirty="0">
                <a:solidFill>
                  <a:srgbClr val="FFC7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694" dirty="0"/>
          </a:p>
        </p:txBody>
      </p:sp>
      <p:sp>
        <p:nvSpPr>
          <p:cNvPr id="6" name="Text 4"/>
          <p:cNvSpPr/>
          <p:nvPr/>
        </p:nvSpPr>
        <p:spPr>
          <a:xfrm>
            <a:off x="1213961" y="1972464"/>
            <a:ext cx="2215308" cy="152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57"/>
              </a:lnSpc>
              <a:buNone/>
            </a:pPr>
            <a:r>
              <a:rPr lang="en-US" sz="902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Validation de commande </a:t>
            </a:r>
            <a:pPr algn="l" indent="0" marL="0">
              <a:lnSpc>
                <a:spcPct val="92857"/>
              </a:lnSpc>
              <a:buNone/>
            </a:pPr>
            <a:r>
              <a:rPr lang="en-US" sz="763" dirty="0">
                <a:solidFill>
                  <a:srgbClr val="8A8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interactif</a:t>
            </a:r>
            <a:endParaRPr lang="en-US" sz="902" dirty="0"/>
          </a:p>
        </p:txBody>
      </p:sp>
      <p:sp>
        <p:nvSpPr>
          <p:cNvPr id="7" name="Shape 5"/>
          <p:cNvSpPr/>
          <p:nvPr/>
        </p:nvSpPr>
        <p:spPr>
          <a:xfrm>
            <a:off x="914400" y="2117839"/>
            <a:ext cx="3436144" cy="7436168"/>
          </a:xfrm>
          <a:prstGeom prst="roundRect">
            <a:avLst>
              <a:gd name="adj" fmla="val 11282"/>
            </a:avLst>
          </a:prstGeom>
          <a:solidFill>
            <a:srgbClr val="F5F2EF"/>
          </a:solidFill>
          <a:ln/>
          <a:effectLst>
            <a:outerShdw sx="100000" sy="100000" kx="0" ky="0" algn="bl" rotWithShape="0" blurRad="381000" dist="133350" dir="5400000">
              <a:srgbClr val="1A1A1A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117839"/>
            <a:ext cx="3436144" cy="8898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998902"/>
            <a:ext cx="3436144" cy="9525"/>
          </a:xfrm>
          <a:prstGeom prst="rect">
            <a:avLst/>
          </a:prstGeom>
          <a:solidFill>
            <a:srgbClr val="E9E5E0"/>
          </a:solidFill>
          <a:ln/>
        </p:spPr>
      </p:sp>
      <p:sp>
        <p:nvSpPr>
          <p:cNvPr id="10" name="Text 8"/>
          <p:cNvSpPr/>
          <p:nvPr/>
        </p:nvSpPr>
        <p:spPr>
          <a:xfrm>
            <a:off x="1090613" y="2254404"/>
            <a:ext cx="312641" cy="152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57"/>
              </a:lnSpc>
              <a:buNone/>
            </a:pPr>
            <a:r>
              <a:rPr lang="en-US" sz="902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9:41</a:t>
            </a:r>
            <a:endParaRPr lang="en-US" sz="902" dirty="0"/>
          </a:p>
        </p:txBody>
      </p:sp>
      <p:sp>
        <p:nvSpPr>
          <p:cNvPr id="11" name="Text 9"/>
          <p:cNvSpPr/>
          <p:nvPr/>
        </p:nvSpPr>
        <p:spPr>
          <a:xfrm>
            <a:off x="3663315" y="2241188"/>
            <a:ext cx="217170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1A1A1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signal_cellular_alt</a:t>
            </a:r>
            <a:endParaRPr lang="en-US" sz="1110" dirty="0"/>
          </a:p>
        </p:txBody>
      </p:sp>
      <p:sp>
        <p:nvSpPr>
          <p:cNvPr id="12" name="Text 10"/>
          <p:cNvSpPr/>
          <p:nvPr/>
        </p:nvSpPr>
        <p:spPr>
          <a:xfrm>
            <a:off x="3848338" y="2241188"/>
            <a:ext cx="217170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1A1A1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wifi</a:t>
            </a:r>
            <a:endParaRPr lang="en-US" sz="1110" dirty="0"/>
          </a:p>
        </p:txBody>
      </p:sp>
      <p:sp>
        <p:nvSpPr>
          <p:cNvPr id="13" name="Text 11"/>
          <p:cNvSpPr/>
          <p:nvPr/>
        </p:nvSpPr>
        <p:spPr>
          <a:xfrm>
            <a:off x="4033361" y="2241188"/>
            <a:ext cx="217170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1A1A1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battery_full</a:t>
            </a:r>
            <a:endParaRPr lang="en-US" sz="1110" dirty="0"/>
          </a:p>
        </p:txBody>
      </p:sp>
      <p:sp>
        <p:nvSpPr>
          <p:cNvPr id="14" name="Shape 12"/>
          <p:cNvSpPr/>
          <p:nvPr/>
        </p:nvSpPr>
        <p:spPr>
          <a:xfrm>
            <a:off x="1090613" y="2505507"/>
            <a:ext cx="352425" cy="352425"/>
          </a:xfrm>
          <a:prstGeom prst="ellipse">
            <a:avLst/>
          </a:prstGeom>
          <a:solidFill>
            <a:srgbClr val="F5F2EF"/>
          </a:solidFill>
          <a:ln/>
        </p:spPr>
      </p:sp>
      <p:sp>
        <p:nvSpPr>
          <p:cNvPr id="15" name="Text 13"/>
          <p:cNvSpPr/>
          <p:nvPr/>
        </p:nvSpPr>
        <p:spPr>
          <a:xfrm>
            <a:off x="1169908" y="2584802"/>
            <a:ext cx="270034" cy="2319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615"/>
              </a:lnSpc>
              <a:buNone/>
            </a:pPr>
            <a:r>
              <a:rPr lang="en-US" sz="1526" dirty="0">
                <a:solidFill>
                  <a:srgbClr val="1A1A1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arrow_back</a:t>
            </a:r>
            <a:endParaRPr lang="en-US" sz="1526" dirty="0"/>
          </a:p>
        </p:txBody>
      </p:sp>
      <p:sp>
        <p:nvSpPr>
          <p:cNvPr id="16" name="Text 14"/>
          <p:cNvSpPr/>
          <p:nvPr/>
        </p:nvSpPr>
        <p:spPr>
          <a:xfrm>
            <a:off x="1548765" y="2589208"/>
            <a:ext cx="2062436" cy="223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304"/>
              </a:lnSpc>
              <a:buNone/>
            </a:pPr>
            <a:r>
              <a:rPr lang="en-US" sz="1457" b="1" spc="-29" kern="0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Valider ma commande</a:t>
            </a:r>
            <a:endParaRPr lang="en-US" sz="1457" dirty="0"/>
          </a:p>
        </p:txBody>
      </p:sp>
      <p:sp>
        <p:nvSpPr>
          <p:cNvPr id="17" name="Shape 15"/>
          <p:cNvSpPr/>
          <p:nvPr/>
        </p:nvSpPr>
        <p:spPr>
          <a:xfrm>
            <a:off x="1090613" y="3148682"/>
            <a:ext cx="3083719" cy="1245740"/>
          </a:xfrm>
          <a:prstGeom prst="roundRect">
            <a:avLst>
              <a:gd name="adj" fmla="val 141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A1A1A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231583" y="3289652"/>
            <a:ext cx="317183" cy="317183"/>
          </a:xfrm>
          <a:prstGeom prst="roundRect">
            <a:avLst>
              <a:gd name="adj" fmla="val 27778"/>
            </a:avLst>
          </a:prstGeom>
          <a:solidFill>
            <a:srgbClr val="FFF3E2"/>
          </a:solidFill>
          <a:ln/>
        </p:spPr>
      </p:sp>
      <p:sp>
        <p:nvSpPr>
          <p:cNvPr id="19" name="Text 17"/>
          <p:cNvSpPr/>
          <p:nvPr/>
        </p:nvSpPr>
        <p:spPr>
          <a:xfrm>
            <a:off x="1193483" y="3289652"/>
            <a:ext cx="393383" cy="355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92857"/>
              </a:lnSpc>
              <a:buNone/>
            </a:pPr>
            <a:r>
              <a:rPr lang="en-US" sz="902" b="1" dirty="0">
                <a:solidFill>
                  <a:srgbClr val="E8342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PP</a:t>
            </a:r>
            <a:endParaRPr lang="en-US" sz="902" dirty="0"/>
          </a:p>
        </p:txBody>
      </p:sp>
      <p:sp>
        <p:nvSpPr>
          <p:cNvPr id="20" name="Text 18"/>
          <p:cNvSpPr/>
          <p:nvPr/>
        </p:nvSpPr>
        <p:spPr>
          <a:xfrm>
            <a:off x="1636871" y="3368948"/>
            <a:ext cx="1080267" cy="196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041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Pizzeria Papillon</a:t>
            </a:r>
            <a:endParaRPr lang="en-US" sz="1041" dirty="0"/>
          </a:p>
        </p:txBody>
      </p:sp>
      <p:sp>
        <p:nvSpPr>
          <p:cNvPr id="21" name="Shape 19"/>
          <p:cNvSpPr/>
          <p:nvPr/>
        </p:nvSpPr>
        <p:spPr>
          <a:xfrm>
            <a:off x="1231583" y="3730183"/>
            <a:ext cx="2801779" cy="9525"/>
          </a:xfrm>
          <a:prstGeom prst="rect">
            <a:avLst/>
          </a:prstGeom>
          <a:solidFill>
            <a:srgbClr val="F0EDE9"/>
          </a:solidFill>
          <a:ln/>
        </p:spPr>
      </p:sp>
      <p:sp>
        <p:nvSpPr>
          <p:cNvPr id="22" name="Text 20"/>
          <p:cNvSpPr/>
          <p:nvPr/>
        </p:nvSpPr>
        <p:spPr>
          <a:xfrm>
            <a:off x="1231583" y="3862343"/>
            <a:ext cx="1202515" cy="198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2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 × Pizza Zébu Épicée</a:t>
            </a:r>
            <a:endParaRPr lang="en-US" sz="902" dirty="0"/>
          </a:p>
        </p:txBody>
      </p:sp>
      <p:sp>
        <p:nvSpPr>
          <p:cNvPr id="23" name="Text 21"/>
          <p:cNvSpPr/>
          <p:nvPr/>
        </p:nvSpPr>
        <p:spPr>
          <a:xfrm>
            <a:off x="3535286" y="3862343"/>
            <a:ext cx="574276" cy="198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57"/>
              </a:lnSpc>
              <a:buNone/>
            </a:pPr>
            <a:r>
              <a:rPr lang="en-US" sz="902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68 000 Ar</a:t>
            </a:r>
            <a:endParaRPr lang="en-US" sz="902" dirty="0"/>
          </a:p>
        </p:txBody>
      </p:sp>
      <p:sp>
        <p:nvSpPr>
          <p:cNvPr id="24" name="Text 22"/>
          <p:cNvSpPr/>
          <p:nvPr/>
        </p:nvSpPr>
        <p:spPr>
          <a:xfrm>
            <a:off x="1231583" y="4093140"/>
            <a:ext cx="1064986" cy="198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2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 × Coca-Cola 50 cl</a:t>
            </a:r>
            <a:endParaRPr lang="en-US" sz="902" dirty="0"/>
          </a:p>
        </p:txBody>
      </p:sp>
      <p:sp>
        <p:nvSpPr>
          <p:cNvPr id="25" name="Text 23"/>
          <p:cNvSpPr/>
          <p:nvPr/>
        </p:nvSpPr>
        <p:spPr>
          <a:xfrm>
            <a:off x="3601434" y="4093140"/>
            <a:ext cx="508127" cy="198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57"/>
              </a:lnSpc>
              <a:buNone/>
            </a:pPr>
            <a:r>
              <a:rPr lang="en-US" sz="902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5 000 Ar</a:t>
            </a:r>
            <a:endParaRPr lang="en-US" sz="902" dirty="0"/>
          </a:p>
        </p:txBody>
      </p:sp>
      <p:sp>
        <p:nvSpPr>
          <p:cNvPr id="26" name="Shape 24"/>
          <p:cNvSpPr/>
          <p:nvPr/>
        </p:nvSpPr>
        <p:spPr>
          <a:xfrm>
            <a:off x="1090613" y="4500149"/>
            <a:ext cx="3083719" cy="773546"/>
          </a:xfrm>
          <a:prstGeom prst="roundRect">
            <a:avLst>
              <a:gd name="adj" fmla="val 227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A1A1A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231583" y="4641120"/>
            <a:ext cx="270034" cy="2319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615"/>
              </a:lnSpc>
              <a:buNone/>
            </a:pPr>
            <a:r>
              <a:rPr lang="en-US" sz="1526" dirty="0">
                <a:solidFill>
                  <a:srgbClr val="E8342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location_on</a:t>
            </a:r>
            <a:endParaRPr lang="en-US" sz="1526" dirty="0"/>
          </a:p>
        </p:txBody>
      </p:sp>
      <p:sp>
        <p:nvSpPr>
          <p:cNvPr id="28" name="Text 26"/>
          <p:cNvSpPr/>
          <p:nvPr/>
        </p:nvSpPr>
        <p:spPr>
          <a:xfrm>
            <a:off x="1531144" y="4641120"/>
            <a:ext cx="2180781" cy="186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87"/>
              </a:lnSpc>
              <a:buNone/>
            </a:pPr>
            <a:r>
              <a:rPr lang="en-US" sz="971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Ambondrona — Villa Bleue</a:t>
            </a:r>
            <a:endParaRPr lang="en-US" sz="971" dirty="0"/>
          </a:p>
        </p:txBody>
      </p:sp>
      <p:sp>
        <p:nvSpPr>
          <p:cNvPr id="29" name="Text 27"/>
          <p:cNvSpPr/>
          <p:nvPr/>
        </p:nvSpPr>
        <p:spPr>
          <a:xfrm>
            <a:off x="1531144" y="4815542"/>
            <a:ext cx="2058728" cy="355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462"/>
              </a:lnSpc>
              <a:buNone/>
            </a:pPr>
            <a:r>
              <a:rPr lang="en-US" sz="833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 face de l'épicerie Chez Néné · +261 32 45 678 90</a:t>
            </a:r>
            <a:endParaRPr lang="en-US" sz="833" dirty="0"/>
          </a:p>
        </p:txBody>
      </p:sp>
      <p:sp>
        <p:nvSpPr>
          <p:cNvPr id="30" name="Text 28"/>
          <p:cNvSpPr/>
          <p:nvPr/>
        </p:nvSpPr>
        <p:spPr>
          <a:xfrm>
            <a:off x="3619400" y="4641120"/>
            <a:ext cx="490162" cy="14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833" b="1" dirty="0">
                <a:solidFill>
                  <a:srgbClr val="E8342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Modifier</a:t>
            </a:r>
            <a:endParaRPr lang="en-US" sz="833" dirty="0"/>
          </a:p>
        </p:txBody>
      </p:sp>
      <p:sp>
        <p:nvSpPr>
          <p:cNvPr id="31" name="Text 29"/>
          <p:cNvSpPr/>
          <p:nvPr/>
        </p:nvSpPr>
        <p:spPr>
          <a:xfrm>
            <a:off x="1090613" y="5449907"/>
            <a:ext cx="3392091" cy="13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763" b="1" spc="76" kern="0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MODE DE PAIEMENT</a:t>
            </a:r>
            <a:endParaRPr lang="en-US" sz="763" dirty="0"/>
          </a:p>
        </p:txBody>
      </p:sp>
      <p:sp>
        <p:nvSpPr>
          <p:cNvPr id="32" name="Shape 30"/>
          <p:cNvSpPr/>
          <p:nvPr/>
        </p:nvSpPr>
        <p:spPr>
          <a:xfrm>
            <a:off x="1090613" y="5634930"/>
            <a:ext cx="3083719" cy="574411"/>
          </a:xfrm>
          <a:prstGeom prst="roundRect">
            <a:avLst>
              <a:gd name="adj" fmla="val 27609"/>
            </a:avLst>
          </a:prstGeom>
          <a:solidFill>
            <a:srgbClr val="FFFFFF"/>
          </a:solidFill>
          <a:ln w="13216">
            <a:solidFill>
              <a:srgbClr val="E9E5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27177" y="5816374"/>
            <a:ext cx="287655" cy="24955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2759"/>
              </a:lnSpc>
              <a:buNone/>
            </a:pPr>
            <a:r>
              <a:rPr lang="en-US" sz="1665" dirty="0">
                <a:solidFill>
                  <a:srgbClr val="4A4744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credit_card</a:t>
            </a:r>
            <a:endParaRPr lang="en-US" sz="1665" dirty="0"/>
          </a:p>
        </p:txBody>
      </p:sp>
      <p:sp>
        <p:nvSpPr>
          <p:cNvPr id="34" name="Text 32"/>
          <p:cNvSpPr/>
          <p:nvPr/>
        </p:nvSpPr>
        <p:spPr>
          <a:xfrm>
            <a:off x="1544360" y="5771495"/>
            <a:ext cx="2413230" cy="186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87"/>
              </a:lnSpc>
              <a:buNone/>
            </a:pPr>
            <a:r>
              <a:rPr lang="en-US" sz="971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Carte bancaire</a:t>
            </a:r>
            <a:endParaRPr lang="en-US" sz="971" dirty="0"/>
          </a:p>
        </p:txBody>
      </p:sp>
      <p:sp>
        <p:nvSpPr>
          <p:cNvPr id="35" name="Text 33"/>
          <p:cNvSpPr/>
          <p:nvPr/>
        </p:nvSpPr>
        <p:spPr>
          <a:xfrm>
            <a:off x="1544360" y="5937107"/>
            <a:ext cx="2413230" cy="173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333"/>
              </a:lnSpc>
              <a:buNone/>
            </a:pPr>
            <a:r>
              <a:rPr lang="en-US" sz="763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Terminal du livreur</a:t>
            </a:r>
            <a:endParaRPr lang="en-US" sz="763" dirty="0"/>
          </a:p>
        </p:txBody>
      </p:sp>
      <p:sp>
        <p:nvSpPr>
          <p:cNvPr id="36" name="Text 34"/>
          <p:cNvSpPr/>
          <p:nvPr/>
        </p:nvSpPr>
        <p:spPr>
          <a:xfrm>
            <a:off x="3843933" y="5825185"/>
            <a:ext cx="270034" cy="2319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615"/>
              </a:lnSpc>
              <a:buNone/>
            </a:pPr>
            <a:r>
              <a:rPr lang="en-US" sz="1526" dirty="0">
                <a:solidFill>
                  <a:srgbClr val="DCD8D3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radio_button_unchecked</a:t>
            </a:r>
            <a:endParaRPr lang="en-US" sz="1526" dirty="0"/>
          </a:p>
        </p:txBody>
      </p:sp>
      <p:sp>
        <p:nvSpPr>
          <p:cNvPr id="37" name="Shape 35"/>
          <p:cNvSpPr/>
          <p:nvPr/>
        </p:nvSpPr>
        <p:spPr>
          <a:xfrm>
            <a:off x="1090613" y="6297448"/>
            <a:ext cx="3083719" cy="574411"/>
          </a:xfrm>
          <a:prstGeom prst="roundRect">
            <a:avLst>
              <a:gd name="adj" fmla="val 27609"/>
            </a:avLst>
          </a:prstGeom>
          <a:solidFill>
            <a:srgbClr val="FFFFFF"/>
          </a:solidFill>
          <a:ln w="13216">
            <a:solidFill>
              <a:srgbClr val="E8342A"/>
            </a:solidFill>
            <a:prstDash val="solid"/>
          </a:ln>
          <a:effectLst>
            <a:outerShdw sx="100000" sy="100000" kx="0" ky="0" algn="bl" rotWithShape="0" blurRad="95250" dist="19050" dir="5400000">
              <a:srgbClr val="E8342A">
                <a:alpha val="14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227177" y="6478892"/>
            <a:ext cx="287655" cy="24955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2759"/>
              </a:lnSpc>
              <a:buNone/>
            </a:pPr>
            <a:r>
              <a:rPr lang="en-US" sz="1665" dirty="0">
                <a:solidFill>
                  <a:srgbClr val="4A4744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payments</a:t>
            </a:r>
            <a:endParaRPr lang="en-US" sz="1665" dirty="0"/>
          </a:p>
        </p:txBody>
      </p:sp>
      <p:sp>
        <p:nvSpPr>
          <p:cNvPr id="39" name="Text 37"/>
          <p:cNvSpPr/>
          <p:nvPr/>
        </p:nvSpPr>
        <p:spPr>
          <a:xfrm>
            <a:off x="1544360" y="6434013"/>
            <a:ext cx="2413230" cy="186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87"/>
              </a:lnSpc>
              <a:buNone/>
            </a:pPr>
            <a:r>
              <a:rPr lang="en-US" sz="971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Espèces</a:t>
            </a:r>
            <a:endParaRPr lang="en-US" sz="971" dirty="0"/>
          </a:p>
        </p:txBody>
      </p:sp>
      <p:sp>
        <p:nvSpPr>
          <p:cNvPr id="40" name="Text 38"/>
          <p:cNvSpPr/>
          <p:nvPr/>
        </p:nvSpPr>
        <p:spPr>
          <a:xfrm>
            <a:off x="1544360" y="6599625"/>
            <a:ext cx="2413230" cy="173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333"/>
              </a:lnSpc>
              <a:buNone/>
            </a:pPr>
            <a:r>
              <a:rPr lang="en-US" sz="763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Prévoir l'appoint si possible</a:t>
            </a:r>
            <a:endParaRPr lang="en-US" sz="763" dirty="0"/>
          </a:p>
        </p:txBody>
      </p:sp>
      <p:sp>
        <p:nvSpPr>
          <p:cNvPr id="41" name="Text 39"/>
          <p:cNvSpPr/>
          <p:nvPr/>
        </p:nvSpPr>
        <p:spPr>
          <a:xfrm>
            <a:off x="3843933" y="6487703"/>
            <a:ext cx="270034" cy="2319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615"/>
              </a:lnSpc>
              <a:buNone/>
            </a:pPr>
            <a:r>
              <a:rPr lang="en-US" sz="1526" dirty="0">
                <a:solidFill>
                  <a:srgbClr val="E8342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radio_button_checked</a:t>
            </a:r>
            <a:endParaRPr lang="en-US" sz="1526" dirty="0"/>
          </a:p>
        </p:txBody>
      </p:sp>
      <p:sp>
        <p:nvSpPr>
          <p:cNvPr id="42" name="Shape 40"/>
          <p:cNvSpPr/>
          <p:nvPr/>
        </p:nvSpPr>
        <p:spPr>
          <a:xfrm>
            <a:off x="1090613" y="6959966"/>
            <a:ext cx="3083719" cy="574411"/>
          </a:xfrm>
          <a:prstGeom prst="roundRect">
            <a:avLst>
              <a:gd name="adj" fmla="val 27609"/>
            </a:avLst>
          </a:prstGeom>
          <a:solidFill>
            <a:srgbClr val="FFFFFF"/>
          </a:solidFill>
          <a:ln w="13216">
            <a:solidFill>
              <a:srgbClr val="E9E5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227177" y="7141410"/>
            <a:ext cx="287655" cy="24955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2759"/>
              </a:lnSpc>
              <a:buNone/>
            </a:pPr>
            <a:r>
              <a:rPr lang="en-US" sz="1665" dirty="0">
                <a:solidFill>
                  <a:srgbClr val="FF8A1E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smartphone</a:t>
            </a:r>
            <a:endParaRPr lang="en-US" sz="1665" dirty="0"/>
          </a:p>
        </p:txBody>
      </p:sp>
      <p:sp>
        <p:nvSpPr>
          <p:cNvPr id="44" name="Text 42"/>
          <p:cNvSpPr/>
          <p:nvPr/>
        </p:nvSpPr>
        <p:spPr>
          <a:xfrm>
            <a:off x="1544360" y="7096531"/>
            <a:ext cx="2413230" cy="186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87"/>
              </a:lnSpc>
              <a:buNone/>
            </a:pPr>
            <a:r>
              <a:rPr lang="en-US" sz="971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Orange Money</a:t>
            </a:r>
            <a:endParaRPr lang="en-US" sz="971" dirty="0"/>
          </a:p>
        </p:txBody>
      </p:sp>
      <p:sp>
        <p:nvSpPr>
          <p:cNvPr id="45" name="Text 43"/>
          <p:cNvSpPr/>
          <p:nvPr/>
        </p:nvSpPr>
        <p:spPr>
          <a:xfrm>
            <a:off x="1544360" y="7262143"/>
            <a:ext cx="2413230" cy="173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333"/>
              </a:lnSpc>
              <a:buNone/>
            </a:pPr>
            <a:r>
              <a:rPr lang="en-US" sz="763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Transfert au livreur</a:t>
            </a:r>
            <a:endParaRPr lang="en-US" sz="763" dirty="0"/>
          </a:p>
        </p:txBody>
      </p:sp>
      <p:sp>
        <p:nvSpPr>
          <p:cNvPr id="46" name="Text 44"/>
          <p:cNvSpPr/>
          <p:nvPr/>
        </p:nvSpPr>
        <p:spPr>
          <a:xfrm>
            <a:off x="3843933" y="7150221"/>
            <a:ext cx="270034" cy="2319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615"/>
              </a:lnSpc>
              <a:buNone/>
            </a:pPr>
            <a:r>
              <a:rPr lang="en-US" sz="1526" dirty="0">
                <a:solidFill>
                  <a:srgbClr val="DCD8D3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radio_button_unchecked</a:t>
            </a:r>
            <a:endParaRPr lang="en-US" sz="1526" dirty="0"/>
          </a:p>
        </p:txBody>
      </p:sp>
      <p:sp>
        <p:nvSpPr>
          <p:cNvPr id="47" name="Shape 45"/>
          <p:cNvSpPr/>
          <p:nvPr/>
        </p:nvSpPr>
        <p:spPr>
          <a:xfrm>
            <a:off x="1090613" y="7657726"/>
            <a:ext cx="3083719" cy="422910"/>
          </a:xfrm>
          <a:prstGeom prst="roundRect">
            <a:avLst>
              <a:gd name="adj" fmla="val 33333"/>
            </a:avLst>
          </a:prstGeom>
          <a:solidFill>
            <a:srgbClr val="FFF3E2"/>
          </a:solidFill>
          <a:ln/>
        </p:spPr>
      </p:sp>
      <p:sp>
        <p:nvSpPr>
          <p:cNvPr id="48" name="Text 46"/>
          <p:cNvSpPr/>
          <p:nvPr/>
        </p:nvSpPr>
        <p:spPr>
          <a:xfrm>
            <a:off x="1213961" y="7781075"/>
            <a:ext cx="252413" cy="2143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1388" dirty="0">
                <a:solidFill>
                  <a:srgbClr val="FF8A1E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info</a:t>
            </a:r>
            <a:endParaRPr lang="en-US" sz="1388" dirty="0"/>
          </a:p>
        </p:txBody>
      </p:sp>
      <p:sp>
        <p:nvSpPr>
          <p:cNvPr id="49" name="Text 47"/>
          <p:cNvSpPr/>
          <p:nvPr/>
        </p:nvSpPr>
        <p:spPr>
          <a:xfrm>
            <a:off x="1478280" y="7781075"/>
            <a:ext cx="247193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462"/>
              </a:lnSpc>
              <a:buNone/>
            </a:pPr>
            <a:r>
              <a:rPr lang="en-US" sz="833" b="1" dirty="0">
                <a:solidFill>
                  <a:srgbClr val="8A5A1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Paiement à la livraison — aucun débit maintenant.</a:t>
            </a:r>
            <a:endParaRPr lang="en-US" sz="833" dirty="0"/>
          </a:p>
        </p:txBody>
      </p:sp>
      <p:sp>
        <p:nvSpPr>
          <p:cNvPr id="50" name="Shape 48"/>
          <p:cNvSpPr/>
          <p:nvPr/>
        </p:nvSpPr>
        <p:spPr>
          <a:xfrm>
            <a:off x="914400" y="8364573"/>
            <a:ext cx="3436144" cy="118943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hape 49"/>
          <p:cNvSpPr/>
          <p:nvPr/>
        </p:nvSpPr>
        <p:spPr>
          <a:xfrm>
            <a:off x="914400" y="8364573"/>
            <a:ext cx="3436144" cy="9525"/>
          </a:xfrm>
          <a:prstGeom prst="rect">
            <a:avLst/>
          </a:prstGeom>
          <a:solidFill>
            <a:srgbClr val="E9E5E0"/>
          </a:solidFill>
          <a:ln/>
        </p:spPr>
      </p:sp>
      <p:sp>
        <p:nvSpPr>
          <p:cNvPr id="52" name="Text 50"/>
          <p:cNvSpPr/>
          <p:nvPr/>
        </p:nvSpPr>
        <p:spPr>
          <a:xfrm>
            <a:off x="1090613" y="8562812"/>
            <a:ext cx="1251730" cy="152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57"/>
              </a:lnSpc>
              <a:buNone/>
            </a:pPr>
            <a:r>
              <a:rPr lang="en-US" sz="902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Total à payer (espèces)</a:t>
            </a:r>
            <a:endParaRPr lang="en-US" sz="902" dirty="0"/>
          </a:p>
        </p:txBody>
      </p:sp>
      <p:sp>
        <p:nvSpPr>
          <p:cNvPr id="53" name="Text 51"/>
          <p:cNvSpPr/>
          <p:nvPr/>
        </p:nvSpPr>
        <p:spPr>
          <a:xfrm>
            <a:off x="3271586" y="8496732"/>
            <a:ext cx="978945" cy="231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1526" b="1" dirty="0">
                <a:solidFill>
                  <a:srgbClr val="E8342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78 000 Ar</a:t>
            </a:r>
            <a:endParaRPr lang="en-US" sz="1526" dirty="0"/>
          </a:p>
        </p:txBody>
      </p:sp>
      <p:sp>
        <p:nvSpPr>
          <p:cNvPr id="54" name="Shape 52"/>
          <p:cNvSpPr/>
          <p:nvPr/>
        </p:nvSpPr>
        <p:spPr>
          <a:xfrm>
            <a:off x="1090613" y="8796293"/>
            <a:ext cx="3083719" cy="493395"/>
          </a:xfrm>
          <a:prstGeom prst="roundRect">
            <a:avLst>
              <a:gd name="adj" fmla="val 50000"/>
            </a:avLst>
          </a:prstGeom>
          <a:solidFill>
            <a:srgbClr val="E8342A"/>
          </a:solidFill>
          <a:ln/>
          <a:effectLst>
            <a:outerShdw sx="100000" sy="100000" kx="0" ky="0" algn="bl" rotWithShape="0" blurRad="190500" dist="76200" dir="5400000">
              <a:srgbClr val="E8342A">
                <a:alpha val="3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1855622" y="8954884"/>
            <a:ext cx="252413" cy="2143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1388" dirty="0">
                <a:solidFill>
                  <a:srgbClr val="FFFFFF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check_circle</a:t>
            </a:r>
            <a:endParaRPr lang="en-US" sz="1388" dirty="0"/>
          </a:p>
        </p:txBody>
      </p:sp>
      <p:sp>
        <p:nvSpPr>
          <p:cNvPr id="56" name="Text 54"/>
          <p:cNvSpPr/>
          <p:nvPr/>
        </p:nvSpPr>
        <p:spPr>
          <a:xfrm>
            <a:off x="2102320" y="8972505"/>
            <a:ext cx="1383132" cy="179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750"/>
              </a:lnSpc>
              <a:buNone/>
            </a:pPr>
            <a:r>
              <a:rPr lang="en-US" sz="1041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Valider la commande</a:t>
            </a:r>
            <a:endParaRPr lang="en-US" sz="1041" dirty="0"/>
          </a:p>
        </p:txBody>
      </p:sp>
      <p:sp>
        <p:nvSpPr>
          <p:cNvPr id="57" name="Shape 55"/>
          <p:cNvSpPr/>
          <p:nvPr/>
        </p:nvSpPr>
        <p:spPr>
          <a:xfrm>
            <a:off x="4857750" y="1959248"/>
            <a:ext cx="229076" cy="158591"/>
          </a:xfrm>
          <a:prstGeom prst="roundRect">
            <a:avLst>
              <a:gd name="adj" fmla="val 27778"/>
            </a:avLst>
          </a:prstGeom>
          <a:solidFill>
            <a:srgbClr val="1A1A1A"/>
          </a:solidFill>
          <a:ln/>
        </p:spPr>
      </p:sp>
      <p:sp>
        <p:nvSpPr>
          <p:cNvPr id="58" name="Text 56"/>
          <p:cNvSpPr/>
          <p:nvPr/>
        </p:nvSpPr>
        <p:spPr>
          <a:xfrm>
            <a:off x="4919424" y="1994490"/>
            <a:ext cx="181927" cy="126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694" dirty="0">
                <a:solidFill>
                  <a:srgbClr val="FFC7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694" dirty="0"/>
          </a:p>
        </p:txBody>
      </p:sp>
      <p:sp>
        <p:nvSpPr>
          <p:cNvPr id="59" name="Text 57"/>
          <p:cNvSpPr/>
          <p:nvPr/>
        </p:nvSpPr>
        <p:spPr>
          <a:xfrm>
            <a:off x="5157311" y="1972464"/>
            <a:ext cx="762190" cy="152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57"/>
              </a:lnSpc>
              <a:buNone/>
            </a:pPr>
            <a:r>
              <a:rPr lang="en-US" sz="902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Confirmation</a:t>
            </a:r>
            <a:endParaRPr lang="en-US" sz="902" dirty="0"/>
          </a:p>
        </p:txBody>
      </p:sp>
      <p:sp>
        <p:nvSpPr>
          <p:cNvPr id="60" name="Shape 58"/>
          <p:cNvSpPr/>
          <p:nvPr/>
        </p:nvSpPr>
        <p:spPr>
          <a:xfrm>
            <a:off x="4857750" y="2117839"/>
            <a:ext cx="3436144" cy="7436168"/>
          </a:xfrm>
          <a:prstGeom prst="roundRect">
            <a:avLst>
              <a:gd name="adj" fmla="val 11282"/>
            </a:avLst>
          </a:prstGeom>
          <a:gradFill rotWithShape="1">
            <a:gsLst>
              <a:gs pos="0">
                <a:srgbClr val="E8342A">
                  <a:alpha val="100000"/>
                </a:srgbClr>
              </a:gs>
              <a:gs pos="62000">
                <a:srgbClr val="FF8A1E">
                  <a:alpha val="100000"/>
                </a:srgbClr>
              </a:gs>
              <a:gs pos="100000">
                <a:srgbClr val="FFC72C">
                  <a:alpha val="100000"/>
                </a:srgbClr>
              </a:gs>
            </a:gsLst>
            <a:lin ang="4800000" scaled="0"/>
          </a:gradFill>
          <a:ln/>
          <a:effectLst>
            <a:outerShdw sx="100000" sy="100000" kx="0" ky="0" algn="bl" rotWithShape="0" blurRad="381000" dist="133350" dir="5400000">
              <a:srgbClr val="1A1A1A">
                <a:alpha val="14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5069205" y="2254404"/>
            <a:ext cx="312641" cy="152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57"/>
              </a:lnSpc>
              <a:buNone/>
            </a:pPr>
            <a:r>
              <a:rPr lang="en-US" sz="902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9:41</a:t>
            </a:r>
            <a:endParaRPr lang="en-US" sz="902" dirty="0"/>
          </a:p>
        </p:txBody>
      </p:sp>
      <p:sp>
        <p:nvSpPr>
          <p:cNvPr id="62" name="Text 60"/>
          <p:cNvSpPr/>
          <p:nvPr/>
        </p:nvSpPr>
        <p:spPr>
          <a:xfrm>
            <a:off x="7571423" y="2241188"/>
            <a:ext cx="217170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FFFFFF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signal_cellular_alt</a:t>
            </a:r>
            <a:endParaRPr lang="en-US" sz="1110" dirty="0"/>
          </a:p>
        </p:txBody>
      </p:sp>
      <p:sp>
        <p:nvSpPr>
          <p:cNvPr id="63" name="Text 61"/>
          <p:cNvSpPr/>
          <p:nvPr/>
        </p:nvSpPr>
        <p:spPr>
          <a:xfrm>
            <a:off x="7756446" y="2241188"/>
            <a:ext cx="217170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FFFFFF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wifi</a:t>
            </a:r>
            <a:endParaRPr lang="en-US" sz="1110" dirty="0"/>
          </a:p>
        </p:txBody>
      </p:sp>
      <p:sp>
        <p:nvSpPr>
          <p:cNvPr id="64" name="Text 62"/>
          <p:cNvSpPr/>
          <p:nvPr/>
        </p:nvSpPr>
        <p:spPr>
          <a:xfrm>
            <a:off x="7941469" y="2241188"/>
            <a:ext cx="217170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FFFFFF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battery_full</a:t>
            </a:r>
            <a:endParaRPr lang="en-US" sz="1110" dirty="0"/>
          </a:p>
        </p:txBody>
      </p:sp>
      <p:sp>
        <p:nvSpPr>
          <p:cNvPr id="65" name="Shape 63"/>
          <p:cNvSpPr/>
          <p:nvPr/>
        </p:nvSpPr>
        <p:spPr>
          <a:xfrm>
            <a:off x="6117670" y="3444733"/>
            <a:ext cx="916305" cy="916305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6241018" y="3568082"/>
            <a:ext cx="669608" cy="669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6381988" y="3709052"/>
            <a:ext cx="463867" cy="4257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3019"/>
              </a:lnSpc>
              <a:buNone/>
            </a:pPr>
            <a:r>
              <a:rPr lang="en-US" sz="3053" dirty="0">
                <a:solidFill>
                  <a:srgbClr val="16A34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check</a:t>
            </a:r>
            <a:endParaRPr lang="en-US" sz="3053" dirty="0"/>
          </a:p>
        </p:txBody>
      </p:sp>
      <p:sp>
        <p:nvSpPr>
          <p:cNvPr id="68" name="Text 66"/>
          <p:cNvSpPr/>
          <p:nvPr/>
        </p:nvSpPr>
        <p:spPr>
          <a:xfrm>
            <a:off x="5797973" y="4572493"/>
            <a:ext cx="1555697" cy="619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81" b="1" spc="-42" kern="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Commande envoyée !</a:t>
            </a:r>
            <a:endParaRPr lang="en-US" sz="2081" dirty="0"/>
          </a:p>
        </p:txBody>
      </p:sp>
      <p:sp>
        <p:nvSpPr>
          <p:cNvPr id="69" name="Text 67"/>
          <p:cNvSpPr/>
          <p:nvPr/>
        </p:nvSpPr>
        <p:spPr>
          <a:xfrm>
            <a:off x="5348288" y="5259722"/>
            <a:ext cx="2455069" cy="432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4516"/>
              </a:lnSpc>
              <a:buNone/>
            </a:pPr>
            <a:r>
              <a:rPr lang="en-US" sz="971" dirty="0">
                <a:solidFill>
                  <a:srgbClr val="FFFFFF">
                    <a:alpha val="9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Pizzeria Papillon a reçu votre commande. Vous serez notifié à chaque étape.</a:t>
            </a:r>
            <a:endParaRPr lang="en-US" sz="971" dirty="0"/>
          </a:p>
        </p:txBody>
      </p:sp>
      <p:sp>
        <p:nvSpPr>
          <p:cNvPr id="70" name="Shape 68"/>
          <p:cNvSpPr/>
          <p:nvPr/>
        </p:nvSpPr>
        <p:spPr>
          <a:xfrm>
            <a:off x="4945856" y="5883486"/>
            <a:ext cx="3259931" cy="1242299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114300" dir="5400000">
              <a:srgbClr val="000000">
                <a:alpha val="14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5104448" y="6059699"/>
            <a:ext cx="738374" cy="13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763" b="1" spc="76" kern="0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COMMANDE</a:t>
            </a:r>
            <a:endParaRPr lang="en-US" sz="763" dirty="0"/>
          </a:p>
        </p:txBody>
      </p:sp>
      <p:sp>
        <p:nvSpPr>
          <p:cNvPr id="72" name="Text 70"/>
          <p:cNvSpPr/>
          <p:nvPr/>
        </p:nvSpPr>
        <p:spPr>
          <a:xfrm>
            <a:off x="7412831" y="6042078"/>
            <a:ext cx="710565" cy="170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1041" b="1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#TF-2418</a:t>
            </a:r>
            <a:endParaRPr lang="en-US" sz="1041" dirty="0"/>
          </a:p>
        </p:txBody>
      </p:sp>
      <p:sp>
        <p:nvSpPr>
          <p:cNvPr id="73" name="Shape 71"/>
          <p:cNvSpPr/>
          <p:nvPr/>
        </p:nvSpPr>
        <p:spPr>
          <a:xfrm>
            <a:off x="5104448" y="6297586"/>
            <a:ext cx="2942748" cy="9525"/>
          </a:xfrm>
          <a:prstGeom prst="rect">
            <a:avLst/>
          </a:prstGeom>
          <a:solidFill>
            <a:srgbClr val="F0EDE9"/>
          </a:solidFill>
          <a:ln/>
        </p:spPr>
      </p:sp>
      <p:sp>
        <p:nvSpPr>
          <p:cNvPr id="74" name="Text 72"/>
          <p:cNvSpPr/>
          <p:nvPr/>
        </p:nvSpPr>
        <p:spPr>
          <a:xfrm>
            <a:off x="5104448" y="6429745"/>
            <a:ext cx="497871" cy="170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57"/>
              </a:lnSpc>
              <a:buNone/>
            </a:pPr>
            <a:r>
              <a:rPr lang="en-US" sz="902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Montant</a:t>
            </a:r>
            <a:endParaRPr lang="en-US" sz="902" dirty="0"/>
          </a:p>
        </p:txBody>
      </p:sp>
      <p:sp>
        <p:nvSpPr>
          <p:cNvPr id="75" name="Text 73"/>
          <p:cNvSpPr/>
          <p:nvPr/>
        </p:nvSpPr>
        <p:spPr>
          <a:xfrm>
            <a:off x="7456196" y="6429745"/>
            <a:ext cx="667200" cy="170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50"/>
              </a:lnSpc>
              <a:buNone/>
            </a:pPr>
            <a:r>
              <a:rPr lang="en-US" sz="1041" b="1" dirty="0">
                <a:solidFill>
                  <a:srgbClr val="E8342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78 000 Ar</a:t>
            </a:r>
            <a:endParaRPr lang="en-US" sz="1041" dirty="0"/>
          </a:p>
        </p:txBody>
      </p:sp>
      <p:sp>
        <p:nvSpPr>
          <p:cNvPr id="76" name="Text 74"/>
          <p:cNvSpPr/>
          <p:nvPr/>
        </p:nvSpPr>
        <p:spPr>
          <a:xfrm>
            <a:off x="5104448" y="6650011"/>
            <a:ext cx="561817" cy="152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57"/>
              </a:lnSpc>
              <a:buNone/>
            </a:pPr>
            <a:r>
              <a:rPr lang="en-US" sz="902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Paiement</a:t>
            </a:r>
            <a:endParaRPr lang="en-US" sz="902" dirty="0"/>
          </a:p>
        </p:txBody>
      </p:sp>
      <p:sp>
        <p:nvSpPr>
          <p:cNvPr id="77" name="Text 75"/>
          <p:cNvSpPr/>
          <p:nvPr/>
        </p:nvSpPr>
        <p:spPr>
          <a:xfrm>
            <a:off x="6776332" y="6650011"/>
            <a:ext cx="1397950" cy="152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57"/>
              </a:lnSpc>
              <a:buNone/>
            </a:pPr>
            <a:r>
              <a:rPr lang="en-US" sz="902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Espèces — à la livraison</a:t>
            </a:r>
            <a:endParaRPr lang="en-US" sz="902" dirty="0"/>
          </a:p>
        </p:txBody>
      </p:sp>
      <p:sp>
        <p:nvSpPr>
          <p:cNvPr id="78" name="Text 76"/>
          <p:cNvSpPr/>
          <p:nvPr/>
        </p:nvSpPr>
        <p:spPr>
          <a:xfrm>
            <a:off x="5104448" y="6852656"/>
            <a:ext cx="963113" cy="152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57"/>
              </a:lnSpc>
              <a:buNone/>
            </a:pPr>
            <a:r>
              <a:rPr lang="en-US" sz="902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Livraison estimée</a:t>
            </a:r>
            <a:endParaRPr lang="en-US" sz="902" dirty="0"/>
          </a:p>
        </p:txBody>
      </p:sp>
      <p:sp>
        <p:nvSpPr>
          <p:cNvPr id="79" name="Text 77"/>
          <p:cNvSpPr/>
          <p:nvPr/>
        </p:nvSpPr>
        <p:spPr>
          <a:xfrm>
            <a:off x="7282943" y="6852656"/>
            <a:ext cx="840453" cy="152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57"/>
              </a:lnSpc>
              <a:buNone/>
            </a:pPr>
            <a:r>
              <a:rPr lang="en-US" sz="902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10h15 – 10h30</a:t>
            </a:r>
            <a:endParaRPr lang="en-US" sz="902" dirty="0"/>
          </a:p>
        </p:txBody>
      </p:sp>
      <p:sp>
        <p:nvSpPr>
          <p:cNvPr id="80" name="Shape 78"/>
          <p:cNvSpPr/>
          <p:nvPr/>
        </p:nvSpPr>
        <p:spPr>
          <a:xfrm>
            <a:off x="5069205" y="8188360"/>
            <a:ext cx="3013234" cy="493395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/>
        </p:spPr>
      </p:sp>
      <p:sp>
        <p:nvSpPr>
          <p:cNvPr id="81" name="Text 79"/>
          <p:cNvSpPr/>
          <p:nvPr/>
        </p:nvSpPr>
        <p:spPr>
          <a:xfrm>
            <a:off x="5774881" y="8346951"/>
            <a:ext cx="252413" cy="2143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1388" dirty="0">
                <a:solidFill>
                  <a:srgbClr val="FFC72C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local_shipping</a:t>
            </a:r>
            <a:endParaRPr lang="en-US" sz="1388" dirty="0"/>
          </a:p>
        </p:txBody>
      </p:sp>
      <p:sp>
        <p:nvSpPr>
          <p:cNvPr id="82" name="Text 80"/>
          <p:cNvSpPr/>
          <p:nvPr/>
        </p:nvSpPr>
        <p:spPr>
          <a:xfrm>
            <a:off x="6021578" y="8364573"/>
            <a:ext cx="1431316" cy="179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750"/>
              </a:lnSpc>
              <a:buNone/>
            </a:pPr>
            <a:r>
              <a:rPr lang="en-US" sz="1041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Suivre ma commande</a:t>
            </a:r>
            <a:endParaRPr lang="en-US" sz="1041" dirty="0"/>
          </a:p>
        </p:txBody>
      </p:sp>
      <p:sp>
        <p:nvSpPr>
          <p:cNvPr id="83" name="Shape 81"/>
          <p:cNvSpPr/>
          <p:nvPr/>
        </p:nvSpPr>
        <p:spPr>
          <a:xfrm>
            <a:off x="5069205" y="8769861"/>
            <a:ext cx="3013234" cy="484584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 w="1321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037223" y="8783077"/>
            <a:ext cx="3077199" cy="496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93750"/>
              </a:lnSpc>
              <a:buNone/>
            </a:pPr>
            <a:r>
              <a:rPr lang="en-US" sz="1041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Retour à l'accueil</a:t>
            </a:r>
            <a:endParaRPr lang="en-US" sz="1041" dirty="0"/>
          </a:p>
        </p:txBody>
      </p:sp>
      <p:sp>
        <p:nvSpPr>
          <p:cNvPr id="85" name="Shape 83"/>
          <p:cNvSpPr/>
          <p:nvPr/>
        </p:nvSpPr>
        <p:spPr>
          <a:xfrm>
            <a:off x="8801100" y="1959248"/>
            <a:ext cx="229076" cy="158591"/>
          </a:xfrm>
          <a:prstGeom prst="roundRect">
            <a:avLst>
              <a:gd name="adj" fmla="val 27778"/>
            </a:avLst>
          </a:prstGeom>
          <a:solidFill>
            <a:srgbClr val="1A1A1A"/>
          </a:solidFill>
          <a:ln/>
        </p:spPr>
      </p:sp>
      <p:sp>
        <p:nvSpPr>
          <p:cNvPr id="86" name="Text 84"/>
          <p:cNvSpPr/>
          <p:nvPr/>
        </p:nvSpPr>
        <p:spPr>
          <a:xfrm>
            <a:off x="8862774" y="1994490"/>
            <a:ext cx="181927" cy="126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694" dirty="0">
                <a:solidFill>
                  <a:srgbClr val="FFC7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694" dirty="0"/>
          </a:p>
        </p:txBody>
      </p:sp>
      <p:sp>
        <p:nvSpPr>
          <p:cNvPr id="87" name="Text 85"/>
          <p:cNvSpPr/>
          <p:nvPr/>
        </p:nvSpPr>
        <p:spPr>
          <a:xfrm>
            <a:off x="9100661" y="1972464"/>
            <a:ext cx="2437989" cy="152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57"/>
              </a:lnSpc>
              <a:buNone/>
            </a:pPr>
            <a:r>
              <a:rPr lang="en-US" sz="902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Suivi de commande </a:t>
            </a:r>
            <a:pPr algn="l" indent="0" marL="0">
              <a:lnSpc>
                <a:spcPct val="92857"/>
              </a:lnSpc>
              <a:buNone/>
            </a:pPr>
            <a:r>
              <a:rPr lang="en-US" sz="763" dirty="0">
                <a:solidFill>
                  <a:srgbClr val="8A8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cliquer les étapes</a:t>
            </a:r>
            <a:endParaRPr lang="en-US" sz="902" dirty="0"/>
          </a:p>
        </p:txBody>
      </p:sp>
      <p:sp>
        <p:nvSpPr>
          <p:cNvPr id="88" name="Shape 86"/>
          <p:cNvSpPr/>
          <p:nvPr/>
        </p:nvSpPr>
        <p:spPr>
          <a:xfrm>
            <a:off x="8801100" y="2117839"/>
            <a:ext cx="3436144" cy="7436168"/>
          </a:xfrm>
          <a:prstGeom prst="roundRect">
            <a:avLst>
              <a:gd name="adj" fmla="val 11282"/>
            </a:avLst>
          </a:prstGeom>
          <a:solidFill>
            <a:srgbClr val="F5F2EF"/>
          </a:solidFill>
          <a:ln/>
          <a:effectLst>
            <a:outerShdw sx="100000" sy="100000" kx="0" ky="0" algn="bl" rotWithShape="0" blurRad="381000" dist="133350" dir="5400000">
              <a:srgbClr val="1A1A1A">
                <a:alpha val="14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8801100" y="2117839"/>
            <a:ext cx="3436144" cy="1654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0" name="Text 88"/>
          <p:cNvSpPr/>
          <p:nvPr/>
        </p:nvSpPr>
        <p:spPr>
          <a:xfrm>
            <a:off x="8977313" y="2254404"/>
            <a:ext cx="312641" cy="152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57"/>
              </a:lnSpc>
              <a:buNone/>
            </a:pPr>
            <a:r>
              <a:rPr lang="en-US" sz="902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9:41</a:t>
            </a:r>
            <a:endParaRPr lang="en-US" sz="902" dirty="0"/>
          </a:p>
        </p:txBody>
      </p:sp>
      <p:sp>
        <p:nvSpPr>
          <p:cNvPr id="91" name="Text 89"/>
          <p:cNvSpPr/>
          <p:nvPr/>
        </p:nvSpPr>
        <p:spPr>
          <a:xfrm>
            <a:off x="11550015" y="2241188"/>
            <a:ext cx="217170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FFFFFF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signal_cellular_alt</a:t>
            </a:r>
            <a:endParaRPr lang="en-US" sz="1110" dirty="0"/>
          </a:p>
        </p:txBody>
      </p:sp>
      <p:sp>
        <p:nvSpPr>
          <p:cNvPr id="92" name="Text 90"/>
          <p:cNvSpPr/>
          <p:nvPr/>
        </p:nvSpPr>
        <p:spPr>
          <a:xfrm>
            <a:off x="11735038" y="2241188"/>
            <a:ext cx="217169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FFFFFF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wifi</a:t>
            </a:r>
            <a:endParaRPr lang="en-US" sz="1110" dirty="0"/>
          </a:p>
        </p:txBody>
      </p:sp>
      <p:sp>
        <p:nvSpPr>
          <p:cNvPr id="93" name="Text 91"/>
          <p:cNvSpPr/>
          <p:nvPr/>
        </p:nvSpPr>
        <p:spPr>
          <a:xfrm>
            <a:off x="11920061" y="2241188"/>
            <a:ext cx="217170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FFFFFF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battery_full</a:t>
            </a:r>
            <a:endParaRPr lang="en-US" sz="1110" dirty="0"/>
          </a:p>
        </p:txBody>
      </p:sp>
      <p:sp>
        <p:nvSpPr>
          <p:cNvPr id="94" name="Shape 92"/>
          <p:cNvSpPr/>
          <p:nvPr/>
        </p:nvSpPr>
        <p:spPr>
          <a:xfrm>
            <a:off x="8977313" y="2505507"/>
            <a:ext cx="352425" cy="352425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95" name="Text 93"/>
          <p:cNvSpPr/>
          <p:nvPr/>
        </p:nvSpPr>
        <p:spPr>
          <a:xfrm>
            <a:off x="9056608" y="2584802"/>
            <a:ext cx="270034" cy="2319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615"/>
              </a:lnSpc>
              <a:buNone/>
            </a:pPr>
            <a:r>
              <a:rPr lang="en-US" sz="1526" dirty="0">
                <a:solidFill>
                  <a:srgbClr val="FFFFFF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arrow_back</a:t>
            </a:r>
            <a:endParaRPr lang="en-US" sz="1526" dirty="0"/>
          </a:p>
        </p:txBody>
      </p:sp>
      <p:sp>
        <p:nvSpPr>
          <p:cNvPr id="96" name="Text 94"/>
          <p:cNvSpPr/>
          <p:nvPr/>
        </p:nvSpPr>
        <p:spPr>
          <a:xfrm>
            <a:off x="9435465" y="2523128"/>
            <a:ext cx="1862621" cy="205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683"/>
              </a:lnSpc>
              <a:buNone/>
            </a:pPr>
            <a:r>
              <a:rPr lang="en-US" sz="1318" b="1" spc="-26" kern="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Commande #TF-2418</a:t>
            </a:r>
            <a:endParaRPr lang="en-US" sz="1318" dirty="0"/>
          </a:p>
        </p:txBody>
      </p:sp>
      <p:sp>
        <p:nvSpPr>
          <p:cNvPr id="97" name="Text 95"/>
          <p:cNvSpPr/>
          <p:nvPr/>
        </p:nvSpPr>
        <p:spPr>
          <a:xfrm>
            <a:off x="9435465" y="2734583"/>
            <a:ext cx="1862621" cy="14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833" dirty="0">
                <a:solidFill>
                  <a:srgbClr val="FFFFFF">
                    <a:alpha val="6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Pizzeria Papillon · aujourd'hui 09h52</a:t>
            </a:r>
            <a:endParaRPr lang="en-US" sz="833" dirty="0"/>
          </a:p>
        </p:txBody>
      </p:sp>
      <p:sp>
        <p:nvSpPr>
          <p:cNvPr id="98" name="Shape 96"/>
          <p:cNvSpPr/>
          <p:nvPr/>
        </p:nvSpPr>
        <p:spPr>
          <a:xfrm>
            <a:off x="8977313" y="3016523"/>
            <a:ext cx="3083719" cy="579712"/>
          </a:xfrm>
          <a:prstGeom prst="roundRect">
            <a:avLst>
              <a:gd name="adj" fmla="val 27357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99" name="Text 97"/>
          <p:cNvSpPr/>
          <p:nvPr/>
        </p:nvSpPr>
        <p:spPr>
          <a:xfrm>
            <a:off x="9118282" y="3191841"/>
            <a:ext cx="305276" cy="26717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3871"/>
              </a:lnSpc>
              <a:buNone/>
            </a:pPr>
            <a:r>
              <a:rPr lang="en-US" sz="1804" dirty="0">
                <a:solidFill>
                  <a:srgbClr val="FFC72C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two_wheeler</a:t>
            </a:r>
            <a:endParaRPr lang="en-US" sz="1804" dirty="0"/>
          </a:p>
        </p:txBody>
      </p:sp>
      <p:sp>
        <p:nvSpPr>
          <p:cNvPr id="100" name="Text 98"/>
          <p:cNvSpPr/>
          <p:nvPr/>
        </p:nvSpPr>
        <p:spPr>
          <a:xfrm>
            <a:off x="9453086" y="3139872"/>
            <a:ext cx="2713672" cy="196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041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 livraison</a:t>
            </a:r>
            <a:endParaRPr lang="en-US" sz="1041" dirty="0"/>
          </a:p>
        </p:txBody>
      </p:sp>
      <p:sp>
        <p:nvSpPr>
          <p:cNvPr id="101" name="Text 99"/>
          <p:cNvSpPr/>
          <p:nvPr/>
        </p:nvSpPr>
        <p:spPr>
          <a:xfrm>
            <a:off x="9453086" y="3324895"/>
            <a:ext cx="2713672" cy="186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833" dirty="0">
                <a:solidFill>
                  <a:srgbClr val="FFFFFF">
                    <a:alpha val="6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Arrivée estimée 10h15 – 10h30</a:t>
            </a:r>
            <a:endParaRPr lang="en-US" sz="833" dirty="0"/>
          </a:p>
        </p:txBody>
      </p:sp>
      <p:sp>
        <p:nvSpPr>
          <p:cNvPr id="102" name="Shape 100"/>
          <p:cNvSpPr/>
          <p:nvPr/>
        </p:nvSpPr>
        <p:spPr>
          <a:xfrm>
            <a:off x="8977313" y="3948660"/>
            <a:ext cx="3083719" cy="2616480"/>
          </a:xfrm>
          <a:prstGeom prst="roundRect">
            <a:avLst>
              <a:gd name="adj" fmla="val 67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A1A1A">
                <a:alpha val="6000"/>
              </a:srgbClr>
            </a:outerShdw>
          </a:effectLst>
        </p:spPr>
      </p:sp>
      <p:sp>
        <p:nvSpPr>
          <p:cNvPr id="103" name="Shape 101"/>
          <p:cNvSpPr/>
          <p:nvPr/>
        </p:nvSpPr>
        <p:spPr>
          <a:xfrm>
            <a:off x="9135904" y="4107251"/>
            <a:ext cx="229076" cy="22907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4" name="Text 102"/>
          <p:cNvSpPr/>
          <p:nvPr/>
        </p:nvSpPr>
        <p:spPr>
          <a:xfrm>
            <a:off x="9179957" y="4151304"/>
            <a:ext cx="217170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FFFFFF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check</a:t>
            </a:r>
            <a:endParaRPr lang="en-US" sz="1110" dirty="0"/>
          </a:p>
        </p:txBody>
      </p:sp>
      <p:sp>
        <p:nvSpPr>
          <p:cNvPr id="105" name="Shape 103"/>
          <p:cNvSpPr/>
          <p:nvPr/>
        </p:nvSpPr>
        <p:spPr>
          <a:xfrm>
            <a:off x="9241631" y="4336327"/>
            <a:ext cx="17621" cy="251929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6" name="Text 104"/>
          <p:cNvSpPr/>
          <p:nvPr/>
        </p:nvSpPr>
        <p:spPr>
          <a:xfrm>
            <a:off x="9488329" y="4107251"/>
            <a:ext cx="1707024" cy="186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87"/>
              </a:lnSpc>
              <a:buNone/>
            </a:pPr>
            <a:r>
              <a:rPr lang="en-US" sz="971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Commande reçue</a:t>
            </a:r>
            <a:endParaRPr lang="en-US" sz="971" dirty="0"/>
          </a:p>
        </p:txBody>
      </p:sp>
      <p:sp>
        <p:nvSpPr>
          <p:cNvPr id="107" name="Text 105"/>
          <p:cNvSpPr/>
          <p:nvPr/>
        </p:nvSpPr>
        <p:spPr>
          <a:xfrm>
            <a:off x="9488329" y="4281674"/>
            <a:ext cx="1707024" cy="186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833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09h52 — transmise au restaurant</a:t>
            </a:r>
            <a:endParaRPr lang="en-US" sz="833" dirty="0"/>
          </a:p>
        </p:txBody>
      </p:sp>
      <p:sp>
        <p:nvSpPr>
          <p:cNvPr id="108" name="Shape 106"/>
          <p:cNvSpPr/>
          <p:nvPr/>
        </p:nvSpPr>
        <p:spPr>
          <a:xfrm>
            <a:off x="9135904" y="4588256"/>
            <a:ext cx="229076" cy="22907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9" name="Text 107"/>
          <p:cNvSpPr/>
          <p:nvPr/>
        </p:nvSpPr>
        <p:spPr>
          <a:xfrm>
            <a:off x="9179957" y="4632309"/>
            <a:ext cx="217170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FFFFFF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check</a:t>
            </a:r>
            <a:endParaRPr lang="en-US" sz="1110" dirty="0"/>
          </a:p>
        </p:txBody>
      </p:sp>
      <p:sp>
        <p:nvSpPr>
          <p:cNvPr id="110" name="Shape 108"/>
          <p:cNvSpPr/>
          <p:nvPr/>
        </p:nvSpPr>
        <p:spPr>
          <a:xfrm>
            <a:off x="9241631" y="4817332"/>
            <a:ext cx="17621" cy="251929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1" name="Text 109"/>
          <p:cNvSpPr/>
          <p:nvPr/>
        </p:nvSpPr>
        <p:spPr>
          <a:xfrm>
            <a:off x="9488329" y="4588256"/>
            <a:ext cx="1808030" cy="186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87"/>
              </a:lnSpc>
              <a:buNone/>
            </a:pPr>
            <a:r>
              <a:rPr lang="en-US" sz="971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Confirmée par le restaurant</a:t>
            </a:r>
            <a:endParaRPr lang="en-US" sz="971" dirty="0"/>
          </a:p>
        </p:txBody>
      </p:sp>
      <p:sp>
        <p:nvSpPr>
          <p:cNvPr id="112" name="Text 110"/>
          <p:cNvSpPr/>
          <p:nvPr/>
        </p:nvSpPr>
        <p:spPr>
          <a:xfrm>
            <a:off x="9488329" y="4762679"/>
            <a:ext cx="1808030" cy="186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833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09h54 — préparation dans ~20 min</a:t>
            </a:r>
            <a:endParaRPr lang="en-US" sz="833" dirty="0"/>
          </a:p>
        </p:txBody>
      </p:sp>
      <p:sp>
        <p:nvSpPr>
          <p:cNvPr id="113" name="Shape 111"/>
          <p:cNvSpPr/>
          <p:nvPr/>
        </p:nvSpPr>
        <p:spPr>
          <a:xfrm>
            <a:off x="9135904" y="5069261"/>
            <a:ext cx="229076" cy="22907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14" name="Text 112"/>
          <p:cNvSpPr/>
          <p:nvPr/>
        </p:nvSpPr>
        <p:spPr>
          <a:xfrm>
            <a:off x="9179957" y="5113314"/>
            <a:ext cx="217170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FFFFFF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check</a:t>
            </a:r>
            <a:endParaRPr lang="en-US" sz="1110" dirty="0"/>
          </a:p>
        </p:txBody>
      </p:sp>
      <p:sp>
        <p:nvSpPr>
          <p:cNvPr id="115" name="Shape 113"/>
          <p:cNvSpPr/>
          <p:nvPr/>
        </p:nvSpPr>
        <p:spPr>
          <a:xfrm>
            <a:off x="9241631" y="5298337"/>
            <a:ext cx="17621" cy="251929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6" name="Text 114"/>
          <p:cNvSpPr/>
          <p:nvPr/>
        </p:nvSpPr>
        <p:spPr>
          <a:xfrm>
            <a:off x="9488329" y="5069261"/>
            <a:ext cx="1137605" cy="186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87"/>
              </a:lnSpc>
              <a:buNone/>
            </a:pPr>
            <a:r>
              <a:rPr lang="en-US" sz="971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 préparation</a:t>
            </a:r>
            <a:endParaRPr lang="en-US" sz="971" dirty="0"/>
          </a:p>
        </p:txBody>
      </p:sp>
      <p:sp>
        <p:nvSpPr>
          <p:cNvPr id="117" name="Text 115"/>
          <p:cNvSpPr/>
          <p:nvPr/>
        </p:nvSpPr>
        <p:spPr>
          <a:xfrm>
            <a:off x="9488329" y="5243683"/>
            <a:ext cx="1137605" cy="186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833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10h01 — au four à bois</a:t>
            </a:r>
            <a:endParaRPr lang="en-US" sz="833" dirty="0"/>
          </a:p>
        </p:txBody>
      </p:sp>
      <p:sp>
        <p:nvSpPr>
          <p:cNvPr id="118" name="Shape 116"/>
          <p:cNvSpPr/>
          <p:nvPr/>
        </p:nvSpPr>
        <p:spPr>
          <a:xfrm>
            <a:off x="9135904" y="5550266"/>
            <a:ext cx="229076" cy="229077"/>
          </a:xfrm>
          <a:prstGeom prst="ellipse">
            <a:avLst/>
          </a:prstGeom>
          <a:solidFill>
            <a:srgbClr val="E8342A"/>
          </a:solidFill>
          <a:ln/>
          <a:effectLst>
            <a:outerShdw sx="100000" sy="100000" kx="0" ky="0" algn="bl" rotWithShape="0" blurRad="101600" dist="50800" dir="16200000">
              <a:srgbClr val="E8342A">
                <a:alpha val="16000"/>
              </a:srgbClr>
            </a:outerShdw>
          </a:effectLst>
        </p:spPr>
      </p:sp>
      <p:sp>
        <p:nvSpPr>
          <p:cNvPr id="119" name="Text 117"/>
          <p:cNvSpPr/>
          <p:nvPr/>
        </p:nvSpPr>
        <p:spPr>
          <a:xfrm>
            <a:off x="9179957" y="5594319"/>
            <a:ext cx="217170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FFFFFF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check</a:t>
            </a:r>
            <a:endParaRPr lang="en-US" sz="1110" dirty="0"/>
          </a:p>
        </p:txBody>
      </p:sp>
      <p:sp>
        <p:nvSpPr>
          <p:cNvPr id="120" name="Shape 118"/>
          <p:cNvSpPr/>
          <p:nvPr/>
        </p:nvSpPr>
        <p:spPr>
          <a:xfrm>
            <a:off x="9241631" y="5779343"/>
            <a:ext cx="17621" cy="251929"/>
          </a:xfrm>
          <a:prstGeom prst="rect">
            <a:avLst/>
          </a:prstGeom>
          <a:solidFill>
            <a:srgbClr val="EDE9E4"/>
          </a:solidFill>
          <a:ln/>
        </p:spPr>
      </p:sp>
      <p:sp>
        <p:nvSpPr>
          <p:cNvPr id="121" name="Text 119"/>
          <p:cNvSpPr/>
          <p:nvPr/>
        </p:nvSpPr>
        <p:spPr>
          <a:xfrm>
            <a:off x="9488329" y="5550266"/>
            <a:ext cx="1836347" cy="186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87"/>
              </a:lnSpc>
              <a:buNone/>
            </a:pPr>
            <a:r>
              <a:rPr lang="en-US" sz="971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 livraison</a:t>
            </a:r>
            <a:endParaRPr lang="en-US" sz="971" dirty="0"/>
          </a:p>
        </p:txBody>
      </p:sp>
      <p:sp>
        <p:nvSpPr>
          <p:cNvPr id="122" name="Text 120"/>
          <p:cNvSpPr/>
          <p:nvPr/>
        </p:nvSpPr>
        <p:spPr>
          <a:xfrm>
            <a:off x="9488329" y="5724689"/>
            <a:ext cx="1836347" cy="186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833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Jean-Luc arrive · +261 33 12 345 67</a:t>
            </a:r>
            <a:endParaRPr lang="en-US" sz="833" dirty="0"/>
          </a:p>
        </p:txBody>
      </p:sp>
      <p:sp>
        <p:nvSpPr>
          <p:cNvPr id="123" name="Shape 121"/>
          <p:cNvSpPr/>
          <p:nvPr/>
        </p:nvSpPr>
        <p:spPr>
          <a:xfrm>
            <a:off x="9135904" y="6031271"/>
            <a:ext cx="229076" cy="229076"/>
          </a:xfrm>
          <a:prstGeom prst="ellipse">
            <a:avLst/>
          </a:prstGeom>
          <a:solidFill>
            <a:srgbClr val="EDE9E4"/>
          </a:solidFill>
          <a:ln/>
        </p:spPr>
      </p:sp>
      <p:sp>
        <p:nvSpPr>
          <p:cNvPr id="124" name="Text 122"/>
          <p:cNvSpPr/>
          <p:nvPr/>
        </p:nvSpPr>
        <p:spPr>
          <a:xfrm>
            <a:off x="9179957" y="6075325"/>
            <a:ext cx="217170" cy="17906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FFFFFF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check</a:t>
            </a:r>
            <a:endParaRPr lang="en-US" sz="1110" dirty="0"/>
          </a:p>
        </p:txBody>
      </p:sp>
      <p:sp>
        <p:nvSpPr>
          <p:cNvPr id="125" name="Text 123"/>
          <p:cNvSpPr/>
          <p:nvPr/>
        </p:nvSpPr>
        <p:spPr>
          <a:xfrm>
            <a:off x="9488329" y="6031271"/>
            <a:ext cx="1600340" cy="186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87"/>
              </a:lnSpc>
              <a:buNone/>
            </a:pPr>
            <a:r>
              <a:rPr lang="en-US" sz="971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Livrée</a:t>
            </a:r>
            <a:endParaRPr lang="en-US" sz="971" dirty="0"/>
          </a:p>
        </p:txBody>
      </p:sp>
      <p:sp>
        <p:nvSpPr>
          <p:cNvPr id="126" name="Text 124"/>
          <p:cNvSpPr/>
          <p:nvPr/>
        </p:nvSpPr>
        <p:spPr>
          <a:xfrm>
            <a:off x="9488329" y="6205694"/>
            <a:ext cx="1600340" cy="186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833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Paiement en espèces au livreur</a:t>
            </a:r>
            <a:endParaRPr lang="en-US" sz="833" dirty="0"/>
          </a:p>
        </p:txBody>
      </p:sp>
      <p:sp>
        <p:nvSpPr>
          <p:cNvPr id="127" name="Shape 125"/>
          <p:cNvSpPr/>
          <p:nvPr/>
        </p:nvSpPr>
        <p:spPr>
          <a:xfrm>
            <a:off x="8977313" y="6688488"/>
            <a:ext cx="3083719" cy="2075660"/>
          </a:xfrm>
          <a:prstGeom prst="roundRect">
            <a:avLst>
              <a:gd name="adj" fmla="val 84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A1A1A">
                <a:alpha val="6000"/>
              </a:srgbClr>
            </a:outerShdw>
          </a:effectLst>
        </p:spPr>
      </p:sp>
      <p:sp>
        <p:nvSpPr>
          <p:cNvPr id="128" name="Text 126"/>
          <p:cNvSpPr/>
          <p:nvPr/>
        </p:nvSpPr>
        <p:spPr>
          <a:xfrm>
            <a:off x="9118282" y="6829459"/>
            <a:ext cx="3081956" cy="13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763" b="1" spc="76" kern="0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RÉCAPITULATIF</a:t>
            </a:r>
            <a:endParaRPr lang="en-US" sz="763" dirty="0"/>
          </a:p>
        </p:txBody>
      </p:sp>
      <p:sp>
        <p:nvSpPr>
          <p:cNvPr id="129" name="Text 127"/>
          <p:cNvSpPr/>
          <p:nvPr/>
        </p:nvSpPr>
        <p:spPr>
          <a:xfrm>
            <a:off x="9118282" y="7032103"/>
            <a:ext cx="1202514" cy="198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2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 × Pizza Zébu Épicée</a:t>
            </a:r>
            <a:endParaRPr lang="en-US" sz="902" dirty="0"/>
          </a:p>
        </p:txBody>
      </p:sp>
      <p:sp>
        <p:nvSpPr>
          <p:cNvPr id="130" name="Text 128"/>
          <p:cNvSpPr/>
          <p:nvPr/>
        </p:nvSpPr>
        <p:spPr>
          <a:xfrm>
            <a:off x="11421985" y="7032103"/>
            <a:ext cx="574275" cy="198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57"/>
              </a:lnSpc>
              <a:buNone/>
            </a:pPr>
            <a:r>
              <a:rPr lang="en-US" sz="902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68 000 Ar</a:t>
            </a:r>
            <a:endParaRPr lang="en-US" sz="902" dirty="0"/>
          </a:p>
        </p:txBody>
      </p:sp>
      <p:sp>
        <p:nvSpPr>
          <p:cNvPr id="131" name="Text 129"/>
          <p:cNvSpPr/>
          <p:nvPr/>
        </p:nvSpPr>
        <p:spPr>
          <a:xfrm>
            <a:off x="9118282" y="7262900"/>
            <a:ext cx="1064987" cy="198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2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 × Coca-Cola 50 cl</a:t>
            </a:r>
            <a:endParaRPr lang="en-US" sz="902" dirty="0"/>
          </a:p>
        </p:txBody>
      </p:sp>
      <p:sp>
        <p:nvSpPr>
          <p:cNvPr id="132" name="Text 130"/>
          <p:cNvSpPr/>
          <p:nvPr/>
        </p:nvSpPr>
        <p:spPr>
          <a:xfrm>
            <a:off x="11488134" y="7262900"/>
            <a:ext cx="508127" cy="198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57"/>
              </a:lnSpc>
              <a:buNone/>
            </a:pPr>
            <a:r>
              <a:rPr lang="en-US" sz="902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5 000 Ar</a:t>
            </a:r>
            <a:endParaRPr lang="en-US" sz="902" dirty="0"/>
          </a:p>
        </p:txBody>
      </p:sp>
      <p:sp>
        <p:nvSpPr>
          <p:cNvPr id="133" name="Text 131"/>
          <p:cNvSpPr/>
          <p:nvPr/>
        </p:nvSpPr>
        <p:spPr>
          <a:xfrm>
            <a:off x="9118282" y="7493697"/>
            <a:ext cx="927802" cy="198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2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Frais de livraison</a:t>
            </a:r>
            <a:endParaRPr lang="en-US" sz="902" dirty="0"/>
          </a:p>
        </p:txBody>
      </p:sp>
      <p:sp>
        <p:nvSpPr>
          <p:cNvPr id="134" name="Text 132"/>
          <p:cNvSpPr/>
          <p:nvPr/>
        </p:nvSpPr>
        <p:spPr>
          <a:xfrm>
            <a:off x="11488134" y="7493697"/>
            <a:ext cx="508127" cy="198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57"/>
              </a:lnSpc>
              <a:buNone/>
            </a:pPr>
            <a:r>
              <a:rPr lang="en-US" sz="902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5 000 Ar</a:t>
            </a:r>
            <a:endParaRPr lang="en-US" sz="902" dirty="0"/>
          </a:p>
        </p:txBody>
      </p:sp>
      <p:sp>
        <p:nvSpPr>
          <p:cNvPr id="135" name="Shape 133"/>
          <p:cNvSpPr/>
          <p:nvPr/>
        </p:nvSpPr>
        <p:spPr>
          <a:xfrm>
            <a:off x="9118282" y="7759737"/>
            <a:ext cx="2801778" cy="9525"/>
          </a:xfrm>
          <a:prstGeom prst="rect">
            <a:avLst/>
          </a:prstGeom>
          <a:solidFill>
            <a:srgbClr val="F0EDE9"/>
          </a:solidFill>
          <a:ln/>
        </p:spPr>
      </p:sp>
      <p:sp>
        <p:nvSpPr>
          <p:cNvPr id="136" name="Text 134"/>
          <p:cNvSpPr/>
          <p:nvPr/>
        </p:nvSpPr>
        <p:spPr>
          <a:xfrm>
            <a:off x="9118282" y="7909517"/>
            <a:ext cx="1019006" cy="170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50"/>
              </a:lnSpc>
              <a:buNone/>
            </a:pPr>
            <a:r>
              <a:rPr lang="en-US" sz="1041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Total · espèces</a:t>
            </a:r>
            <a:endParaRPr lang="en-US" sz="1041" dirty="0"/>
          </a:p>
        </p:txBody>
      </p:sp>
      <p:sp>
        <p:nvSpPr>
          <p:cNvPr id="137" name="Text 135"/>
          <p:cNvSpPr/>
          <p:nvPr/>
        </p:nvSpPr>
        <p:spPr>
          <a:xfrm>
            <a:off x="11099366" y="7874275"/>
            <a:ext cx="89689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023"/>
              </a:lnSpc>
              <a:buNone/>
            </a:pPr>
            <a:r>
              <a:rPr lang="en-US" sz="1388" b="1" dirty="0">
                <a:solidFill>
                  <a:srgbClr val="E8342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78 000 Ar</a:t>
            </a:r>
            <a:endParaRPr lang="en-US" sz="1388" dirty="0"/>
          </a:p>
        </p:txBody>
      </p:sp>
      <p:sp>
        <p:nvSpPr>
          <p:cNvPr id="138" name="Shape 136"/>
          <p:cNvSpPr/>
          <p:nvPr/>
        </p:nvSpPr>
        <p:spPr>
          <a:xfrm>
            <a:off x="9118282" y="8173836"/>
            <a:ext cx="2801778" cy="9525"/>
          </a:xfrm>
          <a:prstGeom prst="rect">
            <a:avLst/>
          </a:prstGeom>
          <a:solidFill>
            <a:srgbClr val="F0EDE9"/>
          </a:solidFill>
          <a:ln/>
        </p:spPr>
      </p:sp>
      <p:sp>
        <p:nvSpPr>
          <p:cNvPr id="139" name="Text 137"/>
          <p:cNvSpPr/>
          <p:nvPr/>
        </p:nvSpPr>
        <p:spPr>
          <a:xfrm>
            <a:off x="9118282" y="8305995"/>
            <a:ext cx="252413" cy="35528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1388" dirty="0">
                <a:solidFill>
                  <a:srgbClr val="E8342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location_on</a:t>
            </a:r>
            <a:endParaRPr lang="en-US" sz="1388" dirty="0"/>
          </a:p>
        </p:txBody>
      </p:sp>
      <p:sp>
        <p:nvSpPr>
          <p:cNvPr id="140" name="Text 138"/>
          <p:cNvSpPr/>
          <p:nvPr/>
        </p:nvSpPr>
        <p:spPr>
          <a:xfrm>
            <a:off x="9382601" y="8305995"/>
            <a:ext cx="2613660" cy="355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462"/>
              </a:lnSpc>
              <a:buNone/>
            </a:pPr>
            <a:r>
              <a:rPr lang="en-US" sz="833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Ambondrona — Villa Bleue, en face de l'épicerie Chez Néné</a:t>
            </a:r>
            <a:endParaRPr lang="en-US" sz="833" dirty="0"/>
          </a:p>
        </p:txBody>
      </p:sp>
      <p:sp>
        <p:nvSpPr>
          <p:cNvPr id="141" name="Shape 139"/>
          <p:cNvSpPr/>
          <p:nvPr/>
        </p:nvSpPr>
        <p:spPr>
          <a:xfrm>
            <a:off x="12744450" y="1959248"/>
            <a:ext cx="229077" cy="158591"/>
          </a:xfrm>
          <a:prstGeom prst="roundRect">
            <a:avLst>
              <a:gd name="adj" fmla="val 27778"/>
            </a:avLst>
          </a:prstGeom>
          <a:solidFill>
            <a:srgbClr val="1A1A1A"/>
          </a:solidFill>
          <a:ln/>
        </p:spPr>
      </p:sp>
      <p:sp>
        <p:nvSpPr>
          <p:cNvPr id="142" name="Text 140"/>
          <p:cNvSpPr/>
          <p:nvPr/>
        </p:nvSpPr>
        <p:spPr>
          <a:xfrm>
            <a:off x="12806124" y="1994490"/>
            <a:ext cx="181928" cy="126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694" dirty="0">
                <a:solidFill>
                  <a:srgbClr val="FFC7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694" dirty="0"/>
          </a:p>
        </p:txBody>
      </p:sp>
      <p:sp>
        <p:nvSpPr>
          <p:cNvPr id="143" name="Text 141"/>
          <p:cNvSpPr/>
          <p:nvPr/>
        </p:nvSpPr>
        <p:spPr>
          <a:xfrm>
            <a:off x="13044011" y="1972464"/>
            <a:ext cx="1585273" cy="152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57"/>
              </a:lnSpc>
              <a:buNone/>
            </a:pPr>
            <a:r>
              <a:rPr lang="en-US" sz="902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Historique des commandes</a:t>
            </a:r>
            <a:endParaRPr lang="en-US" sz="902" dirty="0"/>
          </a:p>
        </p:txBody>
      </p:sp>
      <p:sp>
        <p:nvSpPr>
          <p:cNvPr id="144" name="Shape 142"/>
          <p:cNvSpPr/>
          <p:nvPr/>
        </p:nvSpPr>
        <p:spPr>
          <a:xfrm>
            <a:off x="12744450" y="2117839"/>
            <a:ext cx="3436144" cy="7436168"/>
          </a:xfrm>
          <a:prstGeom prst="roundRect">
            <a:avLst>
              <a:gd name="adj" fmla="val 11282"/>
            </a:avLst>
          </a:prstGeom>
          <a:solidFill>
            <a:srgbClr val="F5F2EF"/>
          </a:solidFill>
          <a:ln/>
          <a:effectLst>
            <a:outerShdw sx="100000" sy="100000" kx="0" ky="0" algn="bl" rotWithShape="0" blurRad="381000" dist="133350" dir="5400000">
              <a:srgbClr val="1A1A1A">
                <a:alpha val="14000"/>
              </a:srgbClr>
            </a:outerShdw>
          </a:effectLst>
        </p:spPr>
      </p:sp>
      <p:sp>
        <p:nvSpPr>
          <p:cNvPr id="145" name="Shape 143"/>
          <p:cNvSpPr/>
          <p:nvPr/>
        </p:nvSpPr>
        <p:spPr>
          <a:xfrm>
            <a:off x="12744450" y="2117839"/>
            <a:ext cx="3436144" cy="7665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6" name="Shape 144"/>
          <p:cNvSpPr/>
          <p:nvPr/>
        </p:nvSpPr>
        <p:spPr>
          <a:xfrm>
            <a:off x="12744450" y="2875553"/>
            <a:ext cx="3436144" cy="9525"/>
          </a:xfrm>
          <a:prstGeom prst="rect">
            <a:avLst/>
          </a:prstGeom>
          <a:solidFill>
            <a:srgbClr val="E9E5E0"/>
          </a:solidFill>
          <a:ln/>
        </p:spPr>
      </p:sp>
      <p:sp>
        <p:nvSpPr>
          <p:cNvPr id="147" name="Text 145"/>
          <p:cNvSpPr/>
          <p:nvPr/>
        </p:nvSpPr>
        <p:spPr>
          <a:xfrm>
            <a:off x="12920663" y="2254404"/>
            <a:ext cx="312641" cy="152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57"/>
              </a:lnSpc>
              <a:buNone/>
            </a:pPr>
            <a:r>
              <a:rPr lang="en-US" sz="902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9:41</a:t>
            </a:r>
            <a:endParaRPr lang="en-US" sz="902" dirty="0"/>
          </a:p>
        </p:txBody>
      </p:sp>
      <p:sp>
        <p:nvSpPr>
          <p:cNvPr id="148" name="Text 146"/>
          <p:cNvSpPr/>
          <p:nvPr/>
        </p:nvSpPr>
        <p:spPr>
          <a:xfrm>
            <a:off x="15493365" y="2241188"/>
            <a:ext cx="217170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1A1A1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signal_cellular_alt</a:t>
            </a:r>
            <a:endParaRPr lang="en-US" sz="1110" dirty="0"/>
          </a:p>
        </p:txBody>
      </p:sp>
      <p:sp>
        <p:nvSpPr>
          <p:cNvPr id="149" name="Text 147"/>
          <p:cNvSpPr/>
          <p:nvPr/>
        </p:nvSpPr>
        <p:spPr>
          <a:xfrm>
            <a:off x="15678388" y="2241188"/>
            <a:ext cx="217169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1A1A1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wifi</a:t>
            </a:r>
            <a:endParaRPr lang="en-US" sz="1110" dirty="0"/>
          </a:p>
        </p:txBody>
      </p:sp>
      <p:sp>
        <p:nvSpPr>
          <p:cNvPr id="150" name="Text 148"/>
          <p:cNvSpPr/>
          <p:nvPr/>
        </p:nvSpPr>
        <p:spPr>
          <a:xfrm>
            <a:off x="15863411" y="2241188"/>
            <a:ext cx="217170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1A1A1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battery_full</a:t>
            </a:r>
            <a:endParaRPr lang="en-US" sz="1110" dirty="0"/>
          </a:p>
        </p:txBody>
      </p:sp>
      <p:sp>
        <p:nvSpPr>
          <p:cNvPr id="151" name="Text 149"/>
          <p:cNvSpPr/>
          <p:nvPr/>
        </p:nvSpPr>
        <p:spPr>
          <a:xfrm>
            <a:off x="12920663" y="2523128"/>
            <a:ext cx="3392091" cy="24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1665" b="1" spc="-33" kern="0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Mes commandes</a:t>
            </a:r>
            <a:endParaRPr lang="en-US" sz="1665" dirty="0"/>
          </a:p>
        </p:txBody>
      </p:sp>
      <p:sp>
        <p:nvSpPr>
          <p:cNvPr id="152" name="Shape 150"/>
          <p:cNvSpPr/>
          <p:nvPr/>
        </p:nvSpPr>
        <p:spPr>
          <a:xfrm>
            <a:off x="12920663" y="3025333"/>
            <a:ext cx="3083719" cy="1330405"/>
          </a:xfrm>
          <a:prstGeom prst="roundRect">
            <a:avLst>
              <a:gd name="adj" fmla="val 13245"/>
            </a:avLst>
          </a:prstGeom>
          <a:solidFill>
            <a:srgbClr val="FFFFFF"/>
          </a:solidFill>
          <a:ln w="13216">
            <a:solidFill>
              <a:srgbClr val="FFC72C"/>
            </a:solidFill>
            <a:prstDash val="solid"/>
          </a:ln>
          <a:effectLst>
            <a:outerShdw sx="100000" sy="100000" kx="0" ky="0" algn="bl" rotWithShape="0" blurRad="76200" dist="19050" dir="5400000">
              <a:srgbClr val="1A1A1A">
                <a:alpha val="6000"/>
              </a:srgbClr>
            </a:outerShdw>
          </a:effectLst>
        </p:spPr>
      </p:sp>
      <p:sp>
        <p:nvSpPr>
          <p:cNvPr id="153" name="Shape 151"/>
          <p:cNvSpPr/>
          <p:nvPr/>
        </p:nvSpPr>
        <p:spPr>
          <a:xfrm>
            <a:off x="13074848" y="3179519"/>
            <a:ext cx="317183" cy="317183"/>
          </a:xfrm>
          <a:prstGeom prst="roundRect">
            <a:avLst>
              <a:gd name="adj" fmla="val 27778"/>
            </a:avLst>
          </a:prstGeom>
          <a:solidFill>
            <a:srgbClr val="FFF3E2"/>
          </a:solidFill>
          <a:ln/>
        </p:spPr>
      </p:sp>
      <p:sp>
        <p:nvSpPr>
          <p:cNvPr id="154" name="Text 152"/>
          <p:cNvSpPr/>
          <p:nvPr/>
        </p:nvSpPr>
        <p:spPr>
          <a:xfrm>
            <a:off x="13036748" y="3179519"/>
            <a:ext cx="393383" cy="355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92857"/>
              </a:lnSpc>
              <a:buNone/>
            </a:pPr>
            <a:r>
              <a:rPr lang="en-US" sz="902" b="1" dirty="0">
                <a:solidFill>
                  <a:srgbClr val="E8342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PP</a:t>
            </a:r>
            <a:endParaRPr lang="en-US" sz="902" dirty="0"/>
          </a:p>
        </p:txBody>
      </p:sp>
      <p:sp>
        <p:nvSpPr>
          <p:cNvPr id="155" name="Text 153"/>
          <p:cNvSpPr/>
          <p:nvPr/>
        </p:nvSpPr>
        <p:spPr>
          <a:xfrm>
            <a:off x="13480138" y="3192323"/>
            <a:ext cx="1409307" cy="186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87"/>
              </a:lnSpc>
              <a:buNone/>
            </a:pPr>
            <a:r>
              <a:rPr lang="en-US" sz="971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Pizzeria Papillon</a:t>
            </a:r>
            <a:endParaRPr lang="en-US" sz="971" dirty="0"/>
          </a:p>
        </p:txBody>
      </p:sp>
      <p:sp>
        <p:nvSpPr>
          <p:cNvPr id="156" name="Text 154"/>
          <p:cNvSpPr/>
          <p:nvPr/>
        </p:nvSpPr>
        <p:spPr>
          <a:xfrm>
            <a:off x="13480138" y="3357935"/>
            <a:ext cx="1409307" cy="164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167"/>
              </a:lnSpc>
              <a:buNone/>
            </a:pPr>
            <a:r>
              <a:rPr lang="en-US" sz="763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Aujourd'hui 09h52 · #TF-2418</a:t>
            </a:r>
            <a:endParaRPr lang="en-US" sz="763" dirty="0"/>
          </a:p>
        </p:txBody>
      </p:sp>
      <p:sp>
        <p:nvSpPr>
          <p:cNvPr id="157" name="Shape 155"/>
          <p:cNvSpPr/>
          <p:nvPr/>
        </p:nvSpPr>
        <p:spPr>
          <a:xfrm>
            <a:off x="15153330" y="3223572"/>
            <a:ext cx="696866" cy="229076"/>
          </a:xfrm>
          <a:prstGeom prst="roundRect">
            <a:avLst>
              <a:gd name="adj" fmla="val 50000"/>
            </a:avLst>
          </a:prstGeom>
          <a:solidFill>
            <a:srgbClr val="FFF3E2"/>
          </a:solidFill>
          <a:ln/>
        </p:spPr>
      </p:sp>
      <p:sp>
        <p:nvSpPr>
          <p:cNvPr id="158" name="Text 156"/>
          <p:cNvSpPr/>
          <p:nvPr/>
        </p:nvSpPr>
        <p:spPr>
          <a:xfrm>
            <a:off x="15241436" y="3223572"/>
            <a:ext cx="596853" cy="267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763" b="1" dirty="0">
                <a:solidFill>
                  <a:srgbClr val="B4620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 livraison</a:t>
            </a:r>
            <a:endParaRPr lang="en-US" sz="763" dirty="0"/>
          </a:p>
        </p:txBody>
      </p:sp>
      <p:sp>
        <p:nvSpPr>
          <p:cNvPr id="159" name="Text 157"/>
          <p:cNvSpPr/>
          <p:nvPr/>
        </p:nvSpPr>
        <p:spPr>
          <a:xfrm>
            <a:off x="13074848" y="3584808"/>
            <a:ext cx="3052882" cy="196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462"/>
              </a:lnSpc>
              <a:buNone/>
            </a:pPr>
            <a:r>
              <a:rPr lang="en-US" sz="833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 × Pizza Zébu Épicée · 1 × Coca-Cola</a:t>
            </a:r>
            <a:endParaRPr lang="en-US" sz="833" dirty="0"/>
          </a:p>
        </p:txBody>
      </p:sp>
      <p:sp>
        <p:nvSpPr>
          <p:cNvPr id="160" name="Text 158"/>
          <p:cNvSpPr/>
          <p:nvPr/>
        </p:nvSpPr>
        <p:spPr>
          <a:xfrm>
            <a:off x="13074848" y="3963665"/>
            <a:ext cx="706642" cy="179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29"/>
              </a:lnSpc>
              <a:buNone/>
            </a:pPr>
            <a:r>
              <a:rPr lang="en-US" sz="111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78 000 Ar</a:t>
            </a:r>
            <a:endParaRPr lang="en-US" sz="1110" dirty="0"/>
          </a:p>
        </p:txBody>
      </p:sp>
      <p:sp>
        <p:nvSpPr>
          <p:cNvPr id="161" name="Shape 159"/>
          <p:cNvSpPr/>
          <p:nvPr/>
        </p:nvSpPr>
        <p:spPr>
          <a:xfrm>
            <a:off x="15043404" y="3866748"/>
            <a:ext cx="806791" cy="334804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/>
        </p:spPr>
      </p:sp>
      <p:sp>
        <p:nvSpPr>
          <p:cNvPr id="162" name="Text 160"/>
          <p:cNvSpPr/>
          <p:nvPr/>
        </p:nvSpPr>
        <p:spPr>
          <a:xfrm>
            <a:off x="15184373" y="3959260"/>
            <a:ext cx="225982" cy="18788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179" dirty="0">
                <a:solidFill>
                  <a:srgbClr val="FFC72C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local_shipping</a:t>
            </a:r>
            <a:endParaRPr lang="en-US" sz="1179" dirty="0"/>
          </a:p>
        </p:txBody>
      </p:sp>
      <p:sp>
        <p:nvSpPr>
          <p:cNvPr id="163" name="Text 161"/>
          <p:cNvSpPr/>
          <p:nvPr/>
        </p:nvSpPr>
        <p:spPr>
          <a:xfrm>
            <a:off x="15387018" y="3976881"/>
            <a:ext cx="398407" cy="152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833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Suivre</a:t>
            </a:r>
            <a:endParaRPr lang="en-US" sz="833" dirty="0"/>
          </a:p>
        </p:txBody>
      </p:sp>
      <p:sp>
        <p:nvSpPr>
          <p:cNvPr id="164" name="Text 162"/>
          <p:cNvSpPr/>
          <p:nvPr/>
        </p:nvSpPr>
        <p:spPr>
          <a:xfrm>
            <a:off x="12920663" y="4531950"/>
            <a:ext cx="3392091" cy="13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763" b="1" spc="76" kern="0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PRÉCÉDEMMENT</a:t>
            </a:r>
            <a:endParaRPr lang="en-US" sz="763" dirty="0"/>
          </a:p>
        </p:txBody>
      </p:sp>
      <p:sp>
        <p:nvSpPr>
          <p:cNvPr id="165" name="Shape 163"/>
          <p:cNvSpPr/>
          <p:nvPr/>
        </p:nvSpPr>
        <p:spPr>
          <a:xfrm>
            <a:off x="12920663" y="4716973"/>
            <a:ext cx="3083719" cy="1303973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A1A1A">
                <a:alpha val="6000"/>
              </a:srgbClr>
            </a:outerShdw>
          </a:effectLst>
        </p:spPr>
      </p:sp>
      <p:sp>
        <p:nvSpPr>
          <p:cNvPr id="166" name="Shape 164"/>
          <p:cNvSpPr/>
          <p:nvPr/>
        </p:nvSpPr>
        <p:spPr>
          <a:xfrm>
            <a:off x="13061633" y="4857944"/>
            <a:ext cx="317182" cy="317182"/>
          </a:xfrm>
          <a:prstGeom prst="roundRect">
            <a:avLst>
              <a:gd name="adj" fmla="val 27778"/>
            </a:avLst>
          </a:prstGeom>
          <a:solidFill>
            <a:srgbClr val="F5F2EF"/>
          </a:solidFill>
          <a:ln/>
        </p:spPr>
      </p:sp>
      <p:sp>
        <p:nvSpPr>
          <p:cNvPr id="167" name="Text 165"/>
          <p:cNvSpPr/>
          <p:nvPr/>
        </p:nvSpPr>
        <p:spPr>
          <a:xfrm>
            <a:off x="13023533" y="4857944"/>
            <a:ext cx="393382" cy="355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92857"/>
              </a:lnSpc>
              <a:buNone/>
            </a:pPr>
            <a:r>
              <a:rPr lang="en-US" sz="902" b="1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BB</a:t>
            </a:r>
            <a:endParaRPr lang="en-US" sz="902" dirty="0"/>
          </a:p>
        </p:txBody>
      </p:sp>
      <p:sp>
        <p:nvSpPr>
          <p:cNvPr id="168" name="Text 166"/>
          <p:cNvSpPr/>
          <p:nvPr/>
        </p:nvSpPr>
        <p:spPr>
          <a:xfrm>
            <a:off x="13466921" y="4870747"/>
            <a:ext cx="932895" cy="186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87"/>
              </a:lnSpc>
              <a:buNone/>
            </a:pPr>
            <a:r>
              <a:rPr lang="en-US" sz="971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Burger Baobab</a:t>
            </a:r>
            <a:endParaRPr lang="en-US" sz="971" dirty="0"/>
          </a:p>
        </p:txBody>
      </p:sp>
      <p:sp>
        <p:nvSpPr>
          <p:cNvPr id="169" name="Text 167"/>
          <p:cNvSpPr/>
          <p:nvPr/>
        </p:nvSpPr>
        <p:spPr>
          <a:xfrm>
            <a:off x="13466921" y="5036359"/>
            <a:ext cx="932895" cy="164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167"/>
              </a:lnSpc>
              <a:buNone/>
            </a:pPr>
            <a:r>
              <a:rPr lang="en-US" sz="763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6 août · #TF-2377</a:t>
            </a:r>
            <a:endParaRPr lang="en-US" sz="763" dirty="0"/>
          </a:p>
        </p:txBody>
      </p:sp>
      <p:sp>
        <p:nvSpPr>
          <p:cNvPr id="170" name="Shape 168"/>
          <p:cNvSpPr/>
          <p:nvPr/>
        </p:nvSpPr>
        <p:spPr>
          <a:xfrm>
            <a:off x="15413381" y="4901997"/>
            <a:ext cx="450030" cy="229076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/>
        </p:spPr>
      </p:sp>
      <p:sp>
        <p:nvSpPr>
          <p:cNvPr id="171" name="Text 169"/>
          <p:cNvSpPr/>
          <p:nvPr/>
        </p:nvSpPr>
        <p:spPr>
          <a:xfrm>
            <a:off x="15501488" y="4901997"/>
            <a:ext cx="350017" cy="267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763" b="1" dirty="0">
                <a:solidFill>
                  <a:srgbClr val="FFC72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Livrée</a:t>
            </a:r>
            <a:endParaRPr lang="en-US" sz="763" dirty="0"/>
          </a:p>
        </p:txBody>
      </p:sp>
      <p:sp>
        <p:nvSpPr>
          <p:cNvPr id="172" name="Text 170"/>
          <p:cNvSpPr/>
          <p:nvPr/>
        </p:nvSpPr>
        <p:spPr>
          <a:xfrm>
            <a:off x="13061633" y="5263232"/>
            <a:ext cx="3081956" cy="196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462"/>
              </a:lnSpc>
              <a:buNone/>
            </a:pPr>
            <a:r>
              <a:rPr lang="en-US" sz="833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 × Burger Baobab XL · 1 × Frites maison</a:t>
            </a:r>
            <a:endParaRPr lang="en-US" sz="833" dirty="0"/>
          </a:p>
        </p:txBody>
      </p:sp>
      <p:sp>
        <p:nvSpPr>
          <p:cNvPr id="173" name="Text 171"/>
          <p:cNvSpPr/>
          <p:nvPr/>
        </p:nvSpPr>
        <p:spPr>
          <a:xfrm>
            <a:off x="13061633" y="5642089"/>
            <a:ext cx="706641" cy="179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29"/>
              </a:lnSpc>
              <a:buNone/>
            </a:pPr>
            <a:r>
              <a:rPr lang="en-US" sz="111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37 000 Ar</a:t>
            </a:r>
            <a:endParaRPr lang="en-US" sz="1110" dirty="0"/>
          </a:p>
        </p:txBody>
      </p:sp>
      <p:sp>
        <p:nvSpPr>
          <p:cNvPr id="174" name="Shape 172"/>
          <p:cNvSpPr/>
          <p:nvPr/>
        </p:nvSpPr>
        <p:spPr>
          <a:xfrm>
            <a:off x="14636050" y="5545172"/>
            <a:ext cx="1227361" cy="334804"/>
          </a:xfrm>
          <a:prstGeom prst="roundRect">
            <a:avLst>
              <a:gd name="adj" fmla="val 50000"/>
            </a:avLst>
          </a:prstGeom>
          <a:solidFill>
            <a:srgbClr val="E8342A"/>
          </a:solidFill>
          <a:ln/>
        </p:spPr>
      </p:sp>
      <p:sp>
        <p:nvSpPr>
          <p:cNvPr id="175" name="Text 173"/>
          <p:cNvSpPr/>
          <p:nvPr/>
        </p:nvSpPr>
        <p:spPr>
          <a:xfrm>
            <a:off x="14777020" y="5637684"/>
            <a:ext cx="225980" cy="1878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179" dirty="0">
                <a:solidFill>
                  <a:srgbClr val="FFFFFF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replay</a:t>
            </a:r>
            <a:endParaRPr lang="en-US" sz="1179" dirty="0"/>
          </a:p>
        </p:txBody>
      </p:sp>
      <p:sp>
        <p:nvSpPr>
          <p:cNvPr id="176" name="Text 174"/>
          <p:cNvSpPr/>
          <p:nvPr/>
        </p:nvSpPr>
        <p:spPr>
          <a:xfrm>
            <a:off x="14979665" y="5655305"/>
            <a:ext cx="818977" cy="152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833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Recommander</a:t>
            </a:r>
            <a:endParaRPr lang="en-US" sz="833" dirty="0"/>
          </a:p>
        </p:txBody>
      </p:sp>
      <p:sp>
        <p:nvSpPr>
          <p:cNvPr id="177" name="Shape 175"/>
          <p:cNvSpPr/>
          <p:nvPr/>
        </p:nvSpPr>
        <p:spPr>
          <a:xfrm>
            <a:off x="12920663" y="6109053"/>
            <a:ext cx="3083719" cy="1303972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A1A1A">
                <a:alpha val="6000"/>
              </a:srgbClr>
            </a:outerShdw>
          </a:effectLst>
        </p:spPr>
      </p:sp>
      <p:sp>
        <p:nvSpPr>
          <p:cNvPr id="178" name="Shape 176"/>
          <p:cNvSpPr/>
          <p:nvPr/>
        </p:nvSpPr>
        <p:spPr>
          <a:xfrm>
            <a:off x="13061633" y="6250022"/>
            <a:ext cx="317182" cy="317183"/>
          </a:xfrm>
          <a:prstGeom prst="roundRect">
            <a:avLst>
              <a:gd name="adj" fmla="val 27778"/>
            </a:avLst>
          </a:prstGeom>
          <a:solidFill>
            <a:srgbClr val="F5F2EF"/>
          </a:solidFill>
          <a:ln/>
        </p:spPr>
      </p:sp>
      <p:sp>
        <p:nvSpPr>
          <p:cNvPr id="179" name="Text 177"/>
          <p:cNvSpPr/>
          <p:nvPr/>
        </p:nvSpPr>
        <p:spPr>
          <a:xfrm>
            <a:off x="13023533" y="6250022"/>
            <a:ext cx="393382" cy="355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92857"/>
              </a:lnSpc>
              <a:buNone/>
            </a:pPr>
            <a:r>
              <a:rPr lang="en-US" sz="902" b="1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TB</a:t>
            </a:r>
            <a:endParaRPr lang="en-US" sz="902" dirty="0"/>
          </a:p>
        </p:txBody>
      </p:sp>
      <p:sp>
        <p:nvSpPr>
          <p:cNvPr id="180" name="Text 178"/>
          <p:cNvSpPr/>
          <p:nvPr/>
        </p:nvSpPr>
        <p:spPr>
          <a:xfrm>
            <a:off x="13466921" y="6262825"/>
            <a:ext cx="1196251" cy="186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87"/>
              </a:lnSpc>
              <a:buNone/>
            </a:pPr>
            <a:r>
              <a:rPr lang="en-US" sz="971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Tacos du Boulevard</a:t>
            </a:r>
            <a:endParaRPr lang="en-US" sz="971" dirty="0"/>
          </a:p>
        </p:txBody>
      </p:sp>
      <p:sp>
        <p:nvSpPr>
          <p:cNvPr id="181" name="Text 179"/>
          <p:cNvSpPr/>
          <p:nvPr/>
        </p:nvSpPr>
        <p:spPr>
          <a:xfrm>
            <a:off x="13466921" y="6428438"/>
            <a:ext cx="1196251" cy="164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167"/>
              </a:lnSpc>
              <a:buNone/>
            </a:pPr>
            <a:r>
              <a:rPr lang="en-US" sz="763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 août · #TF-2301</a:t>
            </a:r>
            <a:endParaRPr lang="en-US" sz="763" dirty="0"/>
          </a:p>
        </p:txBody>
      </p:sp>
      <p:sp>
        <p:nvSpPr>
          <p:cNvPr id="182" name="Shape 180"/>
          <p:cNvSpPr/>
          <p:nvPr/>
        </p:nvSpPr>
        <p:spPr>
          <a:xfrm>
            <a:off x="15413381" y="6294075"/>
            <a:ext cx="450030" cy="229077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/>
        </p:spPr>
      </p:sp>
      <p:sp>
        <p:nvSpPr>
          <p:cNvPr id="183" name="Text 181"/>
          <p:cNvSpPr/>
          <p:nvPr/>
        </p:nvSpPr>
        <p:spPr>
          <a:xfrm>
            <a:off x="15501488" y="6294075"/>
            <a:ext cx="350017" cy="267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763" b="1" dirty="0">
                <a:solidFill>
                  <a:srgbClr val="FFC72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Livrée</a:t>
            </a:r>
            <a:endParaRPr lang="en-US" sz="763" dirty="0"/>
          </a:p>
        </p:txBody>
      </p:sp>
      <p:sp>
        <p:nvSpPr>
          <p:cNvPr id="184" name="Text 182"/>
          <p:cNvSpPr/>
          <p:nvPr/>
        </p:nvSpPr>
        <p:spPr>
          <a:xfrm>
            <a:off x="13061633" y="6655311"/>
            <a:ext cx="3081956" cy="196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462"/>
              </a:lnSpc>
              <a:buNone/>
            </a:pPr>
            <a:r>
              <a:rPr lang="en-US" sz="833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 × Tacos poulet XL · 2 × Fanta</a:t>
            </a:r>
            <a:endParaRPr lang="en-US" sz="833" dirty="0"/>
          </a:p>
        </p:txBody>
      </p:sp>
      <p:sp>
        <p:nvSpPr>
          <p:cNvPr id="185" name="Text 183"/>
          <p:cNvSpPr/>
          <p:nvPr/>
        </p:nvSpPr>
        <p:spPr>
          <a:xfrm>
            <a:off x="13061633" y="7034168"/>
            <a:ext cx="706848" cy="179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29"/>
              </a:lnSpc>
              <a:buNone/>
            </a:pPr>
            <a:r>
              <a:rPr lang="en-US" sz="111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44 000 Ar</a:t>
            </a:r>
            <a:endParaRPr lang="en-US" sz="1110" dirty="0"/>
          </a:p>
        </p:txBody>
      </p:sp>
      <p:sp>
        <p:nvSpPr>
          <p:cNvPr id="186" name="Shape 184"/>
          <p:cNvSpPr/>
          <p:nvPr/>
        </p:nvSpPr>
        <p:spPr>
          <a:xfrm>
            <a:off x="14636050" y="6937251"/>
            <a:ext cx="1227361" cy="334804"/>
          </a:xfrm>
          <a:prstGeom prst="roundRect">
            <a:avLst>
              <a:gd name="adj" fmla="val 50000"/>
            </a:avLst>
          </a:prstGeom>
          <a:solidFill>
            <a:srgbClr val="E8342A"/>
          </a:solidFill>
          <a:ln/>
        </p:spPr>
      </p:sp>
      <p:sp>
        <p:nvSpPr>
          <p:cNvPr id="187" name="Text 185"/>
          <p:cNvSpPr/>
          <p:nvPr/>
        </p:nvSpPr>
        <p:spPr>
          <a:xfrm>
            <a:off x="14777020" y="7029763"/>
            <a:ext cx="225980" cy="1878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179" dirty="0">
                <a:solidFill>
                  <a:srgbClr val="FFFFFF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replay</a:t>
            </a:r>
            <a:endParaRPr lang="en-US" sz="1179" dirty="0"/>
          </a:p>
        </p:txBody>
      </p:sp>
      <p:sp>
        <p:nvSpPr>
          <p:cNvPr id="188" name="Text 186"/>
          <p:cNvSpPr/>
          <p:nvPr/>
        </p:nvSpPr>
        <p:spPr>
          <a:xfrm>
            <a:off x="14979665" y="7047384"/>
            <a:ext cx="818977" cy="152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833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Recommander</a:t>
            </a:r>
            <a:endParaRPr lang="en-US" sz="833" dirty="0"/>
          </a:p>
        </p:txBody>
      </p:sp>
      <p:sp>
        <p:nvSpPr>
          <p:cNvPr id="189" name="Shape 187"/>
          <p:cNvSpPr/>
          <p:nvPr/>
        </p:nvSpPr>
        <p:spPr>
          <a:xfrm>
            <a:off x="12744450" y="8734619"/>
            <a:ext cx="3436144" cy="8193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0" name="Shape 188"/>
          <p:cNvSpPr/>
          <p:nvPr/>
        </p:nvSpPr>
        <p:spPr>
          <a:xfrm>
            <a:off x="12744450" y="8734619"/>
            <a:ext cx="3436144" cy="9525"/>
          </a:xfrm>
          <a:prstGeom prst="rect">
            <a:avLst/>
          </a:prstGeom>
          <a:solidFill>
            <a:srgbClr val="E9E5E0"/>
          </a:solidFill>
          <a:ln/>
        </p:spPr>
      </p:sp>
      <p:sp>
        <p:nvSpPr>
          <p:cNvPr id="191" name="Text 189"/>
          <p:cNvSpPr/>
          <p:nvPr/>
        </p:nvSpPr>
        <p:spPr>
          <a:xfrm>
            <a:off x="13057984" y="8831535"/>
            <a:ext cx="287655" cy="24955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2759"/>
              </a:lnSpc>
              <a:buNone/>
            </a:pPr>
            <a:r>
              <a:rPr lang="en-US" sz="1665" dirty="0">
                <a:solidFill>
                  <a:srgbClr val="B4AFA9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storefront</a:t>
            </a:r>
            <a:endParaRPr lang="en-US" sz="1665" dirty="0"/>
          </a:p>
        </p:txBody>
      </p:sp>
      <p:sp>
        <p:nvSpPr>
          <p:cNvPr id="192" name="Text 190"/>
          <p:cNvSpPr/>
          <p:nvPr/>
        </p:nvSpPr>
        <p:spPr>
          <a:xfrm>
            <a:off x="13011659" y="9069423"/>
            <a:ext cx="380305" cy="126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9"/>
              </a:lnSpc>
              <a:buNone/>
            </a:pPr>
            <a:r>
              <a:rPr lang="en-US" sz="694" b="1" dirty="0">
                <a:solidFill>
                  <a:srgbClr val="B4AFA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Accueil</a:t>
            </a:r>
            <a:endParaRPr lang="en-US" sz="694" dirty="0"/>
          </a:p>
        </p:txBody>
      </p:sp>
      <p:sp>
        <p:nvSpPr>
          <p:cNvPr id="193" name="Text 191"/>
          <p:cNvSpPr/>
          <p:nvPr/>
        </p:nvSpPr>
        <p:spPr>
          <a:xfrm>
            <a:off x="14003406" y="8831535"/>
            <a:ext cx="287655" cy="24955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2759"/>
              </a:lnSpc>
              <a:buNone/>
            </a:pPr>
            <a:r>
              <a:rPr lang="en-US" sz="1665" dirty="0">
                <a:solidFill>
                  <a:srgbClr val="E8342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receipt_long</a:t>
            </a:r>
            <a:endParaRPr lang="en-US" sz="1665" dirty="0"/>
          </a:p>
        </p:txBody>
      </p:sp>
      <p:sp>
        <p:nvSpPr>
          <p:cNvPr id="194" name="Text 192"/>
          <p:cNvSpPr/>
          <p:nvPr/>
        </p:nvSpPr>
        <p:spPr>
          <a:xfrm>
            <a:off x="13850321" y="9069423"/>
            <a:ext cx="593824" cy="126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9"/>
              </a:lnSpc>
              <a:buNone/>
            </a:pPr>
            <a:r>
              <a:rPr lang="en-US" sz="694" b="1" dirty="0">
                <a:solidFill>
                  <a:srgbClr val="E8342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Commandes</a:t>
            </a:r>
            <a:endParaRPr lang="en-US" sz="694" dirty="0"/>
          </a:p>
        </p:txBody>
      </p:sp>
      <p:sp>
        <p:nvSpPr>
          <p:cNvPr id="195" name="Text 193"/>
          <p:cNvSpPr/>
          <p:nvPr/>
        </p:nvSpPr>
        <p:spPr>
          <a:xfrm>
            <a:off x="14927764" y="8831535"/>
            <a:ext cx="287655" cy="24955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2759"/>
              </a:lnSpc>
              <a:buNone/>
            </a:pPr>
            <a:r>
              <a:rPr lang="en-US" sz="1665" dirty="0">
                <a:solidFill>
                  <a:srgbClr val="B4AFA9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shopping_bag</a:t>
            </a:r>
            <a:endParaRPr lang="en-US" sz="1665" dirty="0"/>
          </a:p>
        </p:txBody>
      </p:sp>
      <p:sp>
        <p:nvSpPr>
          <p:cNvPr id="196" name="Text 194"/>
          <p:cNvSpPr/>
          <p:nvPr/>
        </p:nvSpPr>
        <p:spPr>
          <a:xfrm>
            <a:off x="14902433" y="9069423"/>
            <a:ext cx="338317" cy="126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9"/>
              </a:lnSpc>
              <a:buNone/>
            </a:pPr>
            <a:r>
              <a:rPr lang="en-US" sz="694" b="1" dirty="0">
                <a:solidFill>
                  <a:srgbClr val="B4AFA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Panier</a:t>
            </a:r>
            <a:endParaRPr lang="en-US" sz="694" dirty="0"/>
          </a:p>
        </p:txBody>
      </p:sp>
      <p:sp>
        <p:nvSpPr>
          <p:cNvPr id="197" name="Text 195"/>
          <p:cNvSpPr/>
          <p:nvPr/>
        </p:nvSpPr>
        <p:spPr>
          <a:xfrm>
            <a:off x="15700484" y="8831535"/>
            <a:ext cx="287655" cy="24955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2759"/>
              </a:lnSpc>
              <a:buNone/>
            </a:pPr>
            <a:r>
              <a:rPr lang="en-US" sz="1665" dirty="0">
                <a:solidFill>
                  <a:srgbClr val="B4AFA9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person</a:t>
            </a:r>
            <a:endParaRPr lang="en-US" sz="1665" dirty="0"/>
          </a:p>
        </p:txBody>
      </p:sp>
      <p:sp>
        <p:nvSpPr>
          <p:cNvPr id="198" name="Text 196"/>
          <p:cNvSpPr/>
          <p:nvPr/>
        </p:nvSpPr>
        <p:spPr>
          <a:xfrm>
            <a:off x="15699107" y="9069423"/>
            <a:ext cx="290408" cy="126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9"/>
              </a:lnSpc>
              <a:buNone/>
            </a:pPr>
            <a:r>
              <a:rPr lang="en-US" sz="694" b="1" dirty="0">
                <a:solidFill>
                  <a:srgbClr val="B4AFA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Profil</a:t>
            </a:r>
            <a:endParaRPr lang="en-US" sz="69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81051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1125" spc="225" kern="0" dirty="0">
                <a:solidFill>
                  <a:srgbClr val="E834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— LES ÉCRANS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914400" y="1000125"/>
            <a:ext cx="18105120" cy="57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102"/>
              </a:lnSpc>
              <a:buNone/>
            </a:pPr>
            <a:r>
              <a:rPr lang="en-US" sz="4050" b="1" spc="-122" kern="0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Historique &amp; profil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914400" y="1959248"/>
            <a:ext cx="281940" cy="158591"/>
          </a:xfrm>
          <a:prstGeom prst="roundRect">
            <a:avLst>
              <a:gd name="adj" fmla="val 27778"/>
            </a:avLst>
          </a:prstGeom>
          <a:solidFill>
            <a:srgbClr val="8A8580"/>
          </a:solidFill>
          <a:ln/>
        </p:spPr>
      </p:sp>
      <p:sp>
        <p:nvSpPr>
          <p:cNvPr id="5" name="Text 3"/>
          <p:cNvSpPr/>
          <p:nvPr/>
        </p:nvSpPr>
        <p:spPr>
          <a:xfrm>
            <a:off x="976074" y="1994490"/>
            <a:ext cx="234791" cy="126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694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10b</a:t>
            </a:r>
            <a:endParaRPr lang="en-US" sz="694" dirty="0"/>
          </a:p>
        </p:txBody>
      </p:sp>
      <p:sp>
        <p:nvSpPr>
          <p:cNvPr id="6" name="Text 4"/>
          <p:cNvSpPr/>
          <p:nvPr/>
        </p:nvSpPr>
        <p:spPr>
          <a:xfrm>
            <a:off x="1266825" y="1972464"/>
            <a:ext cx="1727392" cy="152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57"/>
              </a:lnSpc>
              <a:buNone/>
            </a:pPr>
            <a:r>
              <a:rPr lang="en-US" sz="902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Aucune commande (état vide)</a:t>
            </a:r>
            <a:endParaRPr lang="en-US" sz="902" dirty="0"/>
          </a:p>
        </p:txBody>
      </p:sp>
      <p:sp>
        <p:nvSpPr>
          <p:cNvPr id="7" name="Shape 5"/>
          <p:cNvSpPr/>
          <p:nvPr/>
        </p:nvSpPr>
        <p:spPr>
          <a:xfrm>
            <a:off x="914400" y="2117839"/>
            <a:ext cx="3436144" cy="7436168"/>
          </a:xfrm>
          <a:prstGeom prst="roundRect">
            <a:avLst>
              <a:gd name="adj" fmla="val 11282"/>
            </a:avLst>
          </a:prstGeom>
          <a:solidFill>
            <a:srgbClr val="F5F2EF"/>
          </a:solidFill>
          <a:ln/>
          <a:effectLst>
            <a:outerShdw sx="100000" sy="100000" kx="0" ky="0" algn="bl" rotWithShape="0" blurRad="381000" dist="133350" dir="5400000">
              <a:srgbClr val="1A1A1A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117839"/>
            <a:ext cx="3436144" cy="7665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875553"/>
            <a:ext cx="3436144" cy="9525"/>
          </a:xfrm>
          <a:prstGeom prst="rect">
            <a:avLst/>
          </a:prstGeom>
          <a:solidFill>
            <a:srgbClr val="E9E5E0"/>
          </a:solidFill>
          <a:ln/>
        </p:spPr>
      </p:sp>
      <p:sp>
        <p:nvSpPr>
          <p:cNvPr id="10" name="Text 8"/>
          <p:cNvSpPr/>
          <p:nvPr/>
        </p:nvSpPr>
        <p:spPr>
          <a:xfrm>
            <a:off x="1090613" y="2254404"/>
            <a:ext cx="312641" cy="152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57"/>
              </a:lnSpc>
              <a:buNone/>
            </a:pPr>
            <a:r>
              <a:rPr lang="en-US" sz="902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9:41</a:t>
            </a:r>
            <a:endParaRPr lang="en-US" sz="902" dirty="0"/>
          </a:p>
        </p:txBody>
      </p:sp>
      <p:sp>
        <p:nvSpPr>
          <p:cNvPr id="11" name="Text 9"/>
          <p:cNvSpPr/>
          <p:nvPr/>
        </p:nvSpPr>
        <p:spPr>
          <a:xfrm>
            <a:off x="3663315" y="2241188"/>
            <a:ext cx="217170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1A1A1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signal_cellular_alt</a:t>
            </a:r>
            <a:endParaRPr lang="en-US" sz="1110" dirty="0"/>
          </a:p>
        </p:txBody>
      </p:sp>
      <p:sp>
        <p:nvSpPr>
          <p:cNvPr id="12" name="Text 10"/>
          <p:cNvSpPr/>
          <p:nvPr/>
        </p:nvSpPr>
        <p:spPr>
          <a:xfrm>
            <a:off x="3848338" y="2241188"/>
            <a:ext cx="217170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1A1A1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wifi</a:t>
            </a:r>
            <a:endParaRPr lang="en-US" sz="1110" dirty="0"/>
          </a:p>
        </p:txBody>
      </p:sp>
      <p:sp>
        <p:nvSpPr>
          <p:cNvPr id="13" name="Text 11"/>
          <p:cNvSpPr/>
          <p:nvPr/>
        </p:nvSpPr>
        <p:spPr>
          <a:xfrm>
            <a:off x="4033361" y="2241188"/>
            <a:ext cx="217170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1A1A1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battery_full</a:t>
            </a:r>
            <a:endParaRPr lang="en-US" sz="1110" dirty="0"/>
          </a:p>
        </p:txBody>
      </p:sp>
      <p:sp>
        <p:nvSpPr>
          <p:cNvPr id="14" name="Text 12"/>
          <p:cNvSpPr/>
          <p:nvPr/>
        </p:nvSpPr>
        <p:spPr>
          <a:xfrm>
            <a:off x="1090613" y="2523128"/>
            <a:ext cx="3392091" cy="24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1665" b="1" spc="-33" kern="0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Mes commandes</a:t>
            </a:r>
            <a:endParaRPr lang="en-US" sz="1665" dirty="0"/>
          </a:p>
        </p:txBody>
      </p:sp>
      <p:sp>
        <p:nvSpPr>
          <p:cNvPr id="15" name="Shape 13"/>
          <p:cNvSpPr/>
          <p:nvPr/>
        </p:nvSpPr>
        <p:spPr>
          <a:xfrm>
            <a:off x="2209562" y="5052672"/>
            <a:ext cx="845820" cy="845820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A1A1A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400538" y="5281749"/>
            <a:ext cx="463867" cy="4257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3019"/>
              </a:lnSpc>
              <a:buNone/>
            </a:pPr>
            <a:r>
              <a:rPr lang="en-US" sz="3053" dirty="0">
                <a:solidFill>
                  <a:srgbClr val="FF8A1E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receipt_long</a:t>
            </a:r>
            <a:endParaRPr lang="en-US" sz="3053" dirty="0"/>
          </a:p>
        </p:txBody>
      </p:sp>
      <p:sp>
        <p:nvSpPr>
          <p:cNvPr id="17" name="Text 15"/>
          <p:cNvSpPr/>
          <p:nvPr/>
        </p:nvSpPr>
        <p:spPr>
          <a:xfrm>
            <a:off x="1739625" y="6074705"/>
            <a:ext cx="1785694" cy="24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1628"/>
              </a:lnSpc>
              <a:buNone/>
            </a:pPr>
            <a:r>
              <a:rPr lang="en-US" sz="1388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Aucune commande</a:t>
            </a:r>
            <a:endParaRPr lang="en-US" sz="1388" dirty="0"/>
          </a:p>
        </p:txBody>
      </p:sp>
      <p:sp>
        <p:nvSpPr>
          <p:cNvPr id="18" name="Text 16"/>
          <p:cNvSpPr/>
          <p:nvPr/>
        </p:nvSpPr>
        <p:spPr>
          <a:xfrm>
            <a:off x="1225856" y="6356645"/>
            <a:ext cx="2813233" cy="432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4516"/>
              </a:lnSpc>
              <a:buNone/>
            </a:pPr>
            <a:r>
              <a:rPr lang="en-US" sz="971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Vos commandes apparaîtront ici, avec la possibilité de les recommander en un geste.</a:t>
            </a:r>
            <a:endParaRPr lang="en-US" sz="971" dirty="0"/>
          </a:p>
        </p:txBody>
      </p:sp>
      <p:sp>
        <p:nvSpPr>
          <p:cNvPr id="19" name="Shape 17"/>
          <p:cNvSpPr/>
          <p:nvPr/>
        </p:nvSpPr>
        <p:spPr>
          <a:xfrm>
            <a:off x="1714721" y="6945167"/>
            <a:ext cx="1835501" cy="440531"/>
          </a:xfrm>
          <a:prstGeom prst="roundRect">
            <a:avLst>
              <a:gd name="adj" fmla="val 50000"/>
            </a:avLst>
          </a:prstGeom>
          <a:solidFill>
            <a:srgbClr val="E8342A"/>
          </a:solidFill>
          <a:ln/>
          <a:effectLst>
            <a:outerShdw sx="100000" sy="100000" kx="0" ky="0" algn="bl" rotWithShape="0" blurRad="190500" dist="76200" dir="5400000">
              <a:srgbClr val="E8342A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888076" y="6945167"/>
            <a:ext cx="1488791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90323"/>
              </a:lnSpc>
              <a:buNone/>
            </a:pPr>
            <a:r>
              <a:rPr lang="en-US" sz="971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Commander maintenant</a:t>
            </a:r>
            <a:endParaRPr lang="en-US" sz="971" dirty="0"/>
          </a:p>
        </p:txBody>
      </p:sp>
      <p:sp>
        <p:nvSpPr>
          <p:cNvPr id="21" name="Shape 19"/>
          <p:cNvSpPr/>
          <p:nvPr/>
        </p:nvSpPr>
        <p:spPr>
          <a:xfrm>
            <a:off x="914400" y="8734619"/>
            <a:ext cx="3436144" cy="8193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" y="8734619"/>
            <a:ext cx="3436144" cy="9525"/>
          </a:xfrm>
          <a:prstGeom prst="rect">
            <a:avLst/>
          </a:prstGeom>
          <a:solidFill>
            <a:srgbClr val="E9E5E0"/>
          </a:solidFill>
          <a:ln/>
        </p:spPr>
      </p:sp>
      <p:sp>
        <p:nvSpPr>
          <p:cNvPr id="23" name="Text 21"/>
          <p:cNvSpPr/>
          <p:nvPr/>
        </p:nvSpPr>
        <p:spPr>
          <a:xfrm>
            <a:off x="1227934" y="8831535"/>
            <a:ext cx="287655" cy="24955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2759"/>
              </a:lnSpc>
              <a:buNone/>
            </a:pPr>
            <a:r>
              <a:rPr lang="en-US" sz="1665" dirty="0">
                <a:solidFill>
                  <a:srgbClr val="B4AFA9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storefront</a:t>
            </a:r>
            <a:endParaRPr lang="en-US" sz="1665" dirty="0"/>
          </a:p>
        </p:txBody>
      </p:sp>
      <p:sp>
        <p:nvSpPr>
          <p:cNvPr id="24" name="Text 22"/>
          <p:cNvSpPr/>
          <p:nvPr/>
        </p:nvSpPr>
        <p:spPr>
          <a:xfrm>
            <a:off x="1181610" y="9069423"/>
            <a:ext cx="380304" cy="126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9"/>
              </a:lnSpc>
              <a:buNone/>
            </a:pPr>
            <a:r>
              <a:rPr lang="en-US" sz="694" b="1" dirty="0">
                <a:solidFill>
                  <a:srgbClr val="B4AFA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Accueil</a:t>
            </a:r>
            <a:endParaRPr lang="en-US" sz="694" dirty="0"/>
          </a:p>
        </p:txBody>
      </p:sp>
      <p:sp>
        <p:nvSpPr>
          <p:cNvPr id="25" name="Text 23"/>
          <p:cNvSpPr/>
          <p:nvPr/>
        </p:nvSpPr>
        <p:spPr>
          <a:xfrm>
            <a:off x="2173356" y="8831535"/>
            <a:ext cx="287655" cy="24955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2759"/>
              </a:lnSpc>
              <a:buNone/>
            </a:pPr>
            <a:r>
              <a:rPr lang="en-US" sz="1665" dirty="0">
                <a:solidFill>
                  <a:srgbClr val="E8342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receipt_long</a:t>
            </a:r>
            <a:endParaRPr lang="en-US" sz="1665" dirty="0"/>
          </a:p>
        </p:txBody>
      </p:sp>
      <p:sp>
        <p:nvSpPr>
          <p:cNvPr id="26" name="Text 24"/>
          <p:cNvSpPr/>
          <p:nvPr/>
        </p:nvSpPr>
        <p:spPr>
          <a:xfrm>
            <a:off x="2020271" y="9069423"/>
            <a:ext cx="593824" cy="126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9"/>
              </a:lnSpc>
              <a:buNone/>
            </a:pPr>
            <a:r>
              <a:rPr lang="en-US" sz="694" b="1" dirty="0">
                <a:solidFill>
                  <a:srgbClr val="E8342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Commandes</a:t>
            </a:r>
            <a:endParaRPr lang="en-US" sz="694" dirty="0"/>
          </a:p>
        </p:txBody>
      </p:sp>
      <p:sp>
        <p:nvSpPr>
          <p:cNvPr id="27" name="Text 25"/>
          <p:cNvSpPr/>
          <p:nvPr/>
        </p:nvSpPr>
        <p:spPr>
          <a:xfrm>
            <a:off x="3097714" y="8831535"/>
            <a:ext cx="287655" cy="24955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2759"/>
              </a:lnSpc>
              <a:buNone/>
            </a:pPr>
            <a:r>
              <a:rPr lang="en-US" sz="1665" dirty="0">
                <a:solidFill>
                  <a:srgbClr val="B4AFA9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shopping_bag</a:t>
            </a:r>
            <a:endParaRPr lang="en-US" sz="1665" dirty="0"/>
          </a:p>
        </p:txBody>
      </p:sp>
      <p:sp>
        <p:nvSpPr>
          <p:cNvPr id="28" name="Text 26"/>
          <p:cNvSpPr/>
          <p:nvPr/>
        </p:nvSpPr>
        <p:spPr>
          <a:xfrm>
            <a:off x="3072384" y="9069423"/>
            <a:ext cx="338316" cy="126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9"/>
              </a:lnSpc>
              <a:buNone/>
            </a:pPr>
            <a:r>
              <a:rPr lang="en-US" sz="694" b="1" dirty="0">
                <a:solidFill>
                  <a:srgbClr val="B4AFA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Panier</a:t>
            </a:r>
            <a:endParaRPr lang="en-US" sz="694" dirty="0"/>
          </a:p>
        </p:txBody>
      </p:sp>
      <p:sp>
        <p:nvSpPr>
          <p:cNvPr id="29" name="Text 27"/>
          <p:cNvSpPr/>
          <p:nvPr/>
        </p:nvSpPr>
        <p:spPr>
          <a:xfrm>
            <a:off x="3870434" y="8831535"/>
            <a:ext cx="287655" cy="24955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2759"/>
              </a:lnSpc>
              <a:buNone/>
            </a:pPr>
            <a:r>
              <a:rPr lang="en-US" sz="1665" dirty="0">
                <a:solidFill>
                  <a:srgbClr val="B4AFA9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person</a:t>
            </a:r>
            <a:endParaRPr lang="en-US" sz="1665" dirty="0"/>
          </a:p>
        </p:txBody>
      </p:sp>
      <p:sp>
        <p:nvSpPr>
          <p:cNvPr id="30" name="Text 28"/>
          <p:cNvSpPr/>
          <p:nvPr/>
        </p:nvSpPr>
        <p:spPr>
          <a:xfrm>
            <a:off x="3869057" y="9069423"/>
            <a:ext cx="290408" cy="126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9"/>
              </a:lnSpc>
              <a:buNone/>
            </a:pPr>
            <a:r>
              <a:rPr lang="en-US" sz="694" b="1" dirty="0">
                <a:solidFill>
                  <a:srgbClr val="B4AFA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Profil</a:t>
            </a:r>
            <a:endParaRPr lang="en-US" sz="694" dirty="0"/>
          </a:p>
        </p:txBody>
      </p:sp>
      <p:sp>
        <p:nvSpPr>
          <p:cNvPr id="31" name="Shape 29"/>
          <p:cNvSpPr/>
          <p:nvPr/>
        </p:nvSpPr>
        <p:spPr>
          <a:xfrm>
            <a:off x="4857750" y="1959248"/>
            <a:ext cx="229076" cy="158591"/>
          </a:xfrm>
          <a:prstGeom prst="roundRect">
            <a:avLst>
              <a:gd name="adj" fmla="val 27778"/>
            </a:avLst>
          </a:prstGeom>
          <a:solidFill>
            <a:srgbClr val="1A1A1A"/>
          </a:solidFill>
          <a:ln/>
        </p:spPr>
      </p:sp>
      <p:sp>
        <p:nvSpPr>
          <p:cNvPr id="32" name="Text 30"/>
          <p:cNvSpPr/>
          <p:nvPr/>
        </p:nvSpPr>
        <p:spPr>
          <a:xfrm>
            <a:off x="4919424" y="1994490"/>
            <a:ext cx="181927" cy="126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694" dirty="0">
                <a:solidFill>
                  <a:srgbClr val="FFC7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694" dirty="0"/>
          </a:p>
        </p:txBody>
      </p:sp>
      <p:sp>
        <p:nvSpPr>
          <p:cNvPr id="33" name="Text 31"/>
          <p:cNvSpPr/>
          <p:nvPr/>
        </p:nvSpPr>
        <p:spPr>
          <a:xfrm>
            <a:off x="5157311" y="1972464"/>
            <a:ext cx="354698" cy="152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57"/>
              </a:lnSpc>
              <a:buNone/>
            </a:pPr>
            <a:r>
              <a:rPr lang="en-US" sz="902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Profil</a:t>
            </a:r>
            <a:endParaRPr lang="en-US" sz="902" dirty="0"/>
          </a:p>
        </p:txBody>
      </p:sp>
      <p:sp>
        <p:nvSpPr>
          <p:cNvPr id="34" name="Shape 32"/>
          <p:cNvSpPr/>
          <p:nvPr/>
        </p:nvSpPr>
        <p:spPr>
          <a:xfrm>
            <a:off x="4857750" y="2117839"/>
            <a:ext cx="3436144" cy="7436168"/>
          </a:xfrm>
          <a:prstGeom prst="roundRect">
            <a:avLst>
              <a:gd name="adj" fmla="val 11282"/>
            </a:avLst>
          </a:prstGeom>
          <a:solidFill>
            <a:srgbClr val="F5F2EF"/>
          </a:solidFill>
          <a:ln/>
          <a:effectLst>
            <a:outerShdw sx="100000" sy="100000" kx="0" ky="0" algn="bl" rotWithShape="0" blurRad="381000" dist="133350" dir="5400000">
              <a:srgbClr val="1A1A1A">
                <a:alpha val="1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57750" y="2117839"/>
            <a:ext cx="3436144" cy="1233488"/>
          </a:xfrm>
          <a:custGeom>
            <a:avLst/>
            <a:gdLst/>
            <a:ahLst/>
            <a:cxnLst/>
            <a:rect l="l" t="t" r="r" b="b"/>
            <a:pathLst>
              <a:path w="3436144" h="1233488">
                <a:moveTo>
                  <a:pt x="0" y="0"/>
                </a:moveTo>
                <a:lnTo>
                  <a:pt x="3436144" y="0"/>
                </a:lnTo>
                <a:lnTo>
                  <a:pt x="3436144" y="1004412"/>
                </a:lnTo>
                <a:arcTo hR="229076" wR="229076" stAng="0" swAng="5400000"/>
                <a:lnTo>
                  <a:pt x="229076" y="1233488"/>
                </a:lnTo>
                <a:arcTo hR="229076" wR="229076" stAng="5400000" swAng="5400000"/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E8342A">
                  <a:alpha val="100000"/>
                </a:srgbClr>
              </a:gs>
              <a:gs pos="100000">
                <a:srgbClr val="FF8A1E">
                  <a:alpha val="100000"/>
                </a:srgbClr>
              </a:gs>
            </a:gsLst>
            <a:lin ang="3600000" scaled="0"/>
          </a:gradFill>
          <a:ln/>
        </p:spPr>
      </p:sp>
      <p:sp>
        <p:nvSpPr>
          <p:cNvPr id="36" name="Text 34"/>
          <p:cNvSpPr/>
          <p:nvPr/>
        </p:nvSpPr>
        <p:spPr>
          <a:xfrm>
            <a:off x="5033963" y="2254404"/>
            <a:ext cx="312641" cy="152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57"/>
              </a:lnSpc>
              <a:buNone/>
            </a:pPr>
            <a:r>
              <a:rPr lang="en-US" sz="902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9:41</a:t>
            </a:r>
            <a:endParaRPr lang="en-US" sz="902" dirty="0"/>
          </a:p>
        </p:txBody>
      </p:sp>
      <p:sp>
        <p:nvSpPr>
          <p:cNvPr id="37" name="Text 35"/>
          <p:cNvSpPr/>
          <p:nvPr/>
        </p:nvSpPr>
        <p:spPr>
          <a:xfrm>
            <a:off x="7606665" y="2241188"/>
            <a:ext cx="217170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FFFFFF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signal_cellular_alt</a:t>
            </a:r>
            <a:endParaRPr lang="en-US" sz="1110" dirty="0"/>
          </a:p>
        </p:txBody>
      </p:sp>
      <p:sp>
        <p:nvSpPr>
          <p:cNvPr id="38" name="Text 36"/>
          <p:cNvSpPr/>
          <p:nvPr/>
        </p:nvSpPr>
        <p:spPr>
          <a:xfrm>
            <a:off x="7791688" y="2241188"/>
            <a:ext cx="217170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FFFFFF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wifi</a:t>
            </a:r>
            <a:endParaRPr lang="en-US" sz="1110" dirty="0"/>
          </a:p>
        </p:txBody>
      </p:sp>
      <p:sp>
        <p:nvSpPr>
          <p:cNvPr id="39" name="Text 37"/>
          <p:cNvSpPr/>
          <p:nvPr/>
        </p:nvSpPr>
        <p:spPr>
          <a:xfrm>
            <a:off x="7976711" y="2241188"/>
            <a:ext cx="217170" cy="1790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1110" dirty="0">
                <a:solidFill>
                  <a:srgbClr val="FFFFFF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battery_full</a:t>
            </a:r>
            <a:endParaRPr lang="en-US" sz="1110" dirty="0"/>
          </a:p>
        </p:txBody>
      </p:sp>
      <p:sp>
        <p:nvSpPr>
          <p:cNvPr id="40" name="Shape 38"/>
          <p:cNvSpPr/>
          <p:nvPr/>
        </p:nvSpPr>
        <p:spPr>
          <a:xfrm>
            <a:off x="5033963" y="2558370"/>
            <a:ext cx="563880" cy="563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4995862" y="2558370"/>
            <a:ext cx="640080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91667"/>
              </a:lnSpc>
              <a:buNone/>
            </a:pPr>
            <a:r>
              <a:rPr lang="en-US" sz="1526" b="1" dirty="0">
                <a:solidFill>
                  <a:srgbClr val="E8342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RA</a:t>
            </a:r>
            <a:endParaRPr lang="en-US" sz="1526" dirty="0"/>
          </a:p>
        </p:txBody>
      </p:sp>
      <p:sp>
        <p:nvSpPr>
          <p:cNvPr id="42" name="Text 40"/>
          <p:cNvSpPr/>
          <p:nvPr/>
        </p:nvSpPr>
        <p:spPr>
          <a:xfrm>
            <a:off x="5721191" y="2659693"/>
            <a:ext cx="1693698" cy="231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326"/>
              </a:lnSpc>
              <a:buNone/>
            </a:pPr>
            <a:r>
              <a:rPr lang="en-US" sz="1388" b="1" spc="-28" kern="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Rasoa Andriamana</a:t>
            </a:r>
            <a:endParaRPr lang="en-US" sz="1388" dirty="0"/>
          </a:p>
        </p:txBody>
      </p:sp>
      <p:sp>
        <p:nvSpPr>
          <p:cNvPr id="43" name="Text 41"/>
          <p:cNvSpPr/>
          <p:nvPr/>
        </p:nvSpPr>
        <p:spPr>
          <a:xfrm>
            <a:off x="5721191" y="2906390"/>
            <a:ext cx="1693698" cy="152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57"/>
              </a:lnSpc>
              <a:buNone/>
            </a:pPr>
            <a:r>
              <a:rPr lang="en-US" sz="902" dirty="0">
                <a:solidFill>
                  <a:srgbClr val="FFFFFF">
                    <a:alpha val="8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rasoa.a@gmail.com</a:t>
            </a:r>
            <a:endParaRPr lang="en-US" sz="902" dirty="0"/>
          </a:p>
        </p:txBody>
      </p:sp>
      <p:sp>
        <p:nvSpPr>
          <p:cNvPr id="44" name="Shape 42"/>
          <p:cNvSpPr/>
          <p:nvPr/>
        </p:nvSpPr>
        <p:spPr>
          <a:xfrm>
            <a:off x="5033963" y="3509918"/>
            <a:ext cx="3083719" cy="1048464"/>
          </a:xfrm>
          <a:prstGeom prst="roundRect">
            <a:avLst>
              <a:gd name="adj" fmla="val 16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A1A1A">
                <a:alpha val="6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033963" y="4029745"/>
            <a:ext cx="3083719" cy="9525"/>
          </a:xfrm>
          <a:prstGeom prst="rect">
            <a:avLst/>
          </a:prstGeom>
          <a:solidFill>
            <a:srgbClr val="F0EDE9"/>
          </a:solidFill>
          <a:ln/>
        </p:spPr>
      </p:sp>
      <p:sp>
        <p:nvSpPr>
          <p:cNvPr id="46" name="Text 44"/>
          <p:cNvSpPr/>
          <p:nvPr/>
        </p:nvSpPr>
        <p:spPr>
          <a:xfrm>
            <a:off x="5174932" y="3672914"/>
            <a:ext cx="270034" cy="2319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615"/>
              </a:lnSpc>
              <a:buNone/>
            </a:pPr>
            <a:r>
              <a:rPr lang="en-US" sz="1526" dirty="0">
                <a:solidFill>
                  <a:srgbClr val="E8342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smartphone</a:t>
            </a:r>
            <a:endParaRPr lang="en-US" sz="1526" dirty="0"/>
          </a:p>
        </p:txBody>
      </p:sp>
      <p:sp>
        <p:nvSpPr>
          <p:cNvPr id="47" name="Text 45"/>
          <p:cNvSpPr/>
          <p:nvPr/>
        </p:nvSpPr>
        <p:spPr>
          <a:xfrm>
            <a:off x="5474494" y="3633267"/>
            <a:ext cx="2180781" cy="13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763" spc="46" kern="0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TÉLÉPHONE</a:t>
            </a:r>
            <a:endParaRPr lang="en-US" sz="763" dirty="0"/>
          </a:p>
        </p:txBody>
      </p:sp>
      <p:sp>
        <p:nvSpPr>
          <p:cNvPr id="48" name="Text 46"/>
          <p:cNvSpPr/>
          <p:nvPr/>
        </p:nvSpPr>
        <p:spPr>
          <a:xfrm>
            <a:off x="5474494" y="3774236"/>
            <a:ext cx="2180781" cy="170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50"/>
              </a:lnSpc>
              <a:buNone/>
            </a:pPr>
            <a:r>
              <a:rPr lang="en-US" sz="1041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+261 32 45 678 90</a:t>
            </a:r>
            <a:endParaRPr lang="en-US" sz="1041" dirty="0"/>
          </a:p>
        </p:txBody>
      </p:sp>
      <p:sp>
        <p:nvSpPr>
          <p:cNvPr id="49" name="Text 47"/>
          <p:cNvSpPr/>
          <p:nvPr/>
        </p:nvSpPr>
        <p:spPr>
          <a:xfrm>
            <a:off x="7562750" y="3716968"/>
            <a:ext cx="490161" cy="14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833" b="1" dirty="0">
                <a:solidFill>
                  <a:srgbClr val="E8342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Modifier</a:t>
            </a:r>
            <a:endParaRPr lang="en-US" sz="833" dirty="0"/>
          </a:p>
        </p:txBody>
      </p:sp>
      <p:sp>
        <p:nvSpPr>
          <p:cNvPr id="50" name="Text 48"/>
          <p:cNvSpPr/>
          <p:nvPr/>
        </p:nvSpPr>
        <p:spPr>
          <a:xfrm>
            <a:off x="5174932" y="4201552"/>
            <a:ext cx="270034" cy="2319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615"/>
              </a:lnSpc>
              <a:buNone/>
            </a:pPr>
            <a:r>
              <a:rPr lang="en-US" sz="1526" dirty="0">
                <a:solidFill>
                  <a:srgbClr val="E8342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mail</a:t>
            </a:r>
            <a:endParaRPr lang="en-US" sz="1526" dirty="0"/>
          </a:p>
        </p:txBody>
      </p:sp>
      <p:sp>
        <p:nvSpPr>
          <p:cNvPr id="51" name="Text 49"/>
          <p:cNvSpPr/>
          <p:nvPr/>
        </p:nvSpPr>
        <p:spPr>
          <a:xfrm>
            <a:off x="5474494" y="4161904"/>
            <a:ext cx="2752439" cy="13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763" spc="46" kern="0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COMPTE GOOGLE</a:t>
            </a:r>
            <a:endParaRPr lang="en-US" sz="763" dirty="0"/>
          </a:p>
        </p:txBody>
      </p:sp>
      <p:sp>
        <p:nvSpPr>
          <p:cNvPr id="52" name="Text 50"/>
          <p:cNvSpPr/>
          <p:nvPr/>
        </p:nvSpPr>
        <p:spPr>
          <a:xfrm>
            <a:off x="5474494" y="4302874"/>
            <a:ext cx="2752439" cy="170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50"/>
              </a:lnSpc>
              <a:buNone/>
            </a:pPr>
            <a:r>
              <a:rPr lang="en-US" sz="1041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rasoa.a@gmail.com</a:t>
            </a:r>
            <a:endParaRPr lang="en-US" sz="1041" dirty="0"/>
          </a:p>
        </p:txBody>
      </p:sp>
      <p:sp>
        <p:nvSpPr>
          <p:cNvPr id="53" name="Text 51"/>
          <p:cNvSpPr/>
          <p:nvPr/>
        </p:nvSpPr>
        <p:spPr>
          <a:xfrm>
            <a:off x="5033963" y="4739000"/>
            <a:ext cx="1671892" cy="13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763" b="1" spc="76" kern="0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ADRESSES ENREGISTRÉES</a:t>
            </a:r>
            <a:endParaRPr lang="en-US" sz="763" dirty="0"/>
          </a:p>
        </p:txBody>
      </p:sp>
      <p:sp>
        <p:nvSpPr>
          <p:cNvPr id="54" name="Text 52"/>
          <p:cNvSpPr/>
          <p:nvPr/>
        </p:nvSpPr>
        <p:spPr>
          <a:xfrm>
            <a:off x="7746671" y="4734595"/>
            <a:ext cx="447210" cy="14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833" b="1" dirty="0">
                <a:solidFill>
                  <a:srgbClr val="E8342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Ajouter</a:t>
            </a:r>
            <a:endParaRPr lang="en-US" sz="833" dirty="0"/>
          </a:p>
        </p:txBody>
      </p:sp>
      <p:sp>
        <p:nvSpPr>
          <p:cNvPr id="55" name="Shape 53"/>
          <p:cNvSpPr/>
          <p:nvPr/>
        </p:nvSpPr>
        <p:spPr>
          <a:xfrm>
            <a:off x="5033963" y="4928428"/>
            <a:ext cx="3083719" cy="579712"/>
          </a:xfrm>
          <a:prstGeom prst="roundRect">
            <a:avLst>
              <a:gd name="adj" fmla="val 27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A1A1A">
                <a:alpha val="6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5157311" y="5051778"/>
            <a:ext cx="270034" cy="2319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615"/>
              </a:lnSpc>
              <a:buNone/>
            </a:pPr>
            <a:r>
              <a:rPr lang="en-US" sz="1526" dirty="0">
                <a:solidFill>
                  <a:srgbClr val="E8342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home</a:t>
            </a:r>
            <a:endParaRPr lang="en-US" sz="1526" dirty="0"/>
          </a:p>
        </p:txBody>
      </p:sp>
      <p:sp>
        <p:nvSpPr>
          <p:cNvPr id="57" name="Text 55"/>
          <p:cNvSpPr/>
          <p:nvPr/>
        </p:nvSpPr>
        <p:spPr>
          <a:xfrm>
            <a:off x="5456873" y="5051778"/>
            <a:ext cx="2481072" cy="186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87"/>
              </a:lnSpc>
              <a:buNone/>
            </a:pPr>
            <a:r>
              <a:rPr lang="en-US" sz="971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Maison — Villa Bleue</a:t>
            </a:r>
            <a:endParaRPr lang="en-US" sz="971" dirty="0"/>
          </a:p>
        </p:txBody>
      </p:sp>
      <p:sp>
        <p:nvSpPr>
          <p:cNvPr id="58" name="Text 56"/>
          <p:cNvSpPr/>
          <p:nvPr/>
        </p:nvSpPr>
        <p:spPr>
          <a:xfrm>
            <a:off x="5456873" y="5226200"/>
            <a:ext cx="2481072" cy="196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462"/>
              </a:lnSpc>
              <a:buNone/>
            </a:pPr>
            <a:r>
              <a:rPr lang="en-US" sz="833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Ambondrona, en face de l'épicerie Chez Néné</a:t>
            </a:r>
            <a:endParaRPr lang="en-US" sz="833" dirty="0"/>
          </a:p>
        </p:txBody>
      </p:sp>
      <p:sp>
        <p:nvSpPr>
          <p:cNvPr id="59" name="Text 57"/>
          <p:cNvSpPr/>
          <p:nvPr/>
        </p:nvSpPr>
        <p:spPr>
          <a:xfrm>
            <a:off x="7818120" y="5051778"/>
            <a:ext cx="252413" cy="2143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1388" dirty="0">
                <a:solidFill>
                  <a:srgbClr val="B4AFA9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more_horiz</a:t>
            </a:r>
            <a:endParaRPr lang="en-US" sz="1388" dirty="0"/>
          </a:p>
        </p:txBody>
      </p:sp>
      <p:sp>
        <p:nvSpPr>
          <p:cNvPr id="60" name="Shape 58"/>
          <p:cNvSpPr/>
          <p:nvPr/>
        </p:nvSpPr>
        <p:spPr>
          <a:xfrm>
            <a:off x="5033963" y="5596247"/>
            <a:ext cx="3083719" cy="579711"/>
          </a:xfrm>
          <a:prstGeom prst="roundRect">
            <a:avLst>
              <a:gd name="adj" fmla="val 27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A1A1A">
                <a:alpha val="6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5157311" y="5719595"/>
            <a:ext cx="270034" cy="2319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615"/>
              </a:lnSpc>
              <a:buNone/>
            </a:pPr>
            <a:r>
              <a:rPr lang="en-US" sz="1526" dirty="0">
                <a:solidFill>
                  <a:srgbClr val="8A8580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work</a:t>
            </a:r>
            <a:endParaRPr lang="en-US" sz="1526" dirty="0"/>
          </a:p>
        </p:txBody>
      </p:sp>
      <p:sp>
        <p:nvSpPr>
          <p:cNvPr id="62" name="Text 60"/>
          <p:cNvSpPr/>
          <p:nvPr/>
        </p:nvSpPr>
        <p:spPr>
          <a:xfrm>
            <a:off x="5456873" y="5719595"/>
            <a:ext cx="2481072" cy="186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87"/>
              </a:lnSpc>
              <a:buNone/>
            </a:pPr>
            <a:r>
              <a:rPr lang="en-US" sz="971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Bureau — Hell-Ville</a:t>
            </a:r>
            <a:endParaRPr lang="en-US" sz="971" dirty="0"/>
          </a:p>
        </p:txBody>
      </p:sp>
      <p:sp>
        <p:nvSpPr>
          <p:cNvPr id="63" name="Text 61"/>
          <p:cNvSpPr/>
          <p:nvPr/>
        </p:nvSpPr>
        <p:spPr>
          <a:xfrm>
            <a:off x="5456873" y="5894018"/>
            <a:ext cx="2481072" cy="196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462"/>
              </a:lnSpc>
              <a:buNone/>
            </a:pPr>
            <a:r>
              <a:rPr lang="en-US" sz="833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Rue Passot, à côté de la BNI</a:t>
            </a:r>
            <a:endParaRPr lang="en-US" sz="833" dirty="0"/>
          </a:p>
        </p:txBody>
      </p:sp>
      <p:sp>
        <p:nvSpPr>
          <p:cNvPr id="64" name="Text 62"/>
          <p:cNvSpPr/>
          <p:nvPr/>
        </p:nvSpPr>
        <p:spPr>
          <a:xfrm>
            <a:off x="7818120" y="5719595"/>
            <a:ext cx="252413" cy="2143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1388" dirty="0">
                <a:solidFill>
                  <a:srgbClr val="B4AFA9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more_horiz</a:t>
            </a:r>
            <a:endParaRPr lang="en-US" sz="1388" dirty="0"/>
          </a:p>
        </p:txBody>
      </p:sp>
      <p:sp>
        <p:nvSpPr>
          <p:cNvPr id="65" name="Shape 63"/>
          <p:cNvSpPr/>
          <p:nvPr/>
        </p:nvSpPr>
        <p:spPr>
          <a:xfrm>
            <a:off x="5033963" y="6352170"/>
            <a:ext cx="3083719" cy="925116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A1A1A">
                <a:alpha val="6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5033963" y="6827944"/>
            <a:ext cx="3083719" cy="9525"/>
          </a:xfrm>
          <a:prstGeom prst="rect">
            <a:avLst/>
          </a:prstGeom>
          <a:solidFill>
            <a:srgbClr val="F0EDE9"/>
          </a:solidFill>
          <a:ln/>
        </p:spPr>
      </p:sp>
      <p:sp>
        <p:nvSpPr>
          <p:cNvPr id="67" name="Text 65"/>
          <p:cNvSpPr/>
          <p:nvPr/>
        </p:nvSpPr>
        <p:spPr>
          <a:xfrm>
            <a:off x="5174932" y="6493141"/>
            <a:ext cx="270034" cy="2319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615"/>
              </a:lnSpc>
              <a:buNone/>
            </a:pPr>
            <a:r>
              <a:rPr lang="en-US" sz="1526" dirty="0">
                <a:solidFill>
                  <a:srgbClr val="4A4744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notifications</a:t>
            </a:r>
            <a:endParaRPr lang="en-US" sz="1526" dirty="0"/>
          </a:p>
        </p:txBody>
      </p:sp>
      <p:sp>
        <p:nvSpPr>
          <p:cNvPr id="68" name="Text 66"/>
          <p:cNvSpPr/>
          <p:nvPr/>
        </p:nvSpPr>
        <p:spPr>
          <a:xfrm>
            <a:off x="5474494" y="6528383"/>
            <a:ext cx="2151554" cy="1614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323"/>
              </a:lnSpc>
              <a:buNone/>
            </a:pPr>
            <a:r>
              <a:rPr lang="en-US" sz="97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Notifications de commande</a:t>
            </a:r>
            <a:endParaRPr lang="en-US" sz="971" dirty="0"/>
          </a:p>
        </p:txBody>
      </p:sp>
      <p:sp>
        <p:nvSpPr>
          <p:cNvPr id="69" name="Shape 67"/>
          <p:cNvSpPr/>
          <p:nvPr/>
        </p:nvSpPr>
        <p:spPr>
          <a:xfrm>
            <a:off x="7536180" y="6475519"/>
            <a:ext cx="440531" cy="229076"/>
          </a:xfrm>
          <a:prstGeom prst="roundRect">
            <a:avLst>
              <a:gd name="adj" fmla="val 50000"/>
            </a:avLst>
          </a:prstGeom>
          <a:solidFill>
            <a:srgbClr val="E8342A"/>
          </a:solidFill>
          <a:ln/>
        </p:spPr>
      </p:sp>
      <p:sp>
        <p:nvSpPr>
          <p:cNvPr id="70" name="Shape 68"/>
          <p:cNvSpPr/>
          <p:nvPr/>
        </p:nvSpPr>
        <p:spPr>
          <a:xfrm>
            <a:off x="7774067" y="6501951"/>
            <a:ext cx="176213" cy="17621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1" name="Text 69"/>
          <p:cNvSpPr/>
          <p:nvPr/>
        </p:nvSpPr>
        <p:spPr>
          <a:xfrm>
            <a:off x="5174932" y="6960104"/>
            <a:ext cx="270034" cy="2319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4615"/>
              </a:lnSpc>
              <a:buNone/>
            </a:pPr>
            <a:r>
              <a:rPr lang="en-US" sz="1526" dirty="0">
                <a:solidFill>
                  <a:srgbClr val="4A4744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help</a:t>
            </a:r>
            <a:endParaRPr lang="en-US" sz="1526" dirty="0"/>
          </a:p>
        </p:txBody>
      </p:sp>
      <p:sp>
        <p:nvSpPr>
          <p:cNvPr id="72" name="Text 70"/>
          <p:cNvSpPr/>
          <p:nvPr/>
        </p:nvSpPr>
        <p:spPr>
          <a:xfrm>
            <a:off x="5474494" y="6995346"/>
            <a:ext cx="2442305" cy="1614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323"/>
              </a:lnSpc>
              <a:buNone/>
            </a:pPr>
            <a:r>
              <a:rPr lang="en-US" sz="97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Aide &amp; contact</a:t>
            </a:r>
            <a:endParaRPr lang="en-US" sz="971" dirty="0"/>
          </a:p>
        </p:txBody>
      </p:sp>
      <p:sp>
        <p:nvSpPr>
          <p:cNvPr id="73" name="Text 71"/>
          <p:cNvSpPr/>
          <p:nvPr/>
        </p:nvSpPr>
        <p:spPr>
          <a:xfrm>
            <a:off x="7800499" y="6968914"/>
            <a:ext cx="252413" cy="2143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1388" dirty="0">
                <a:solidFill>
                  <a:srgbClr val="B4AFA9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chevron_right</a:t>
            </a:r>
            <a:endParaRPr lang="en-US" sz="1388" dirty="0"/>
          </a:p>
        </p:txBody>
      </p:sp>
      <p:sp>
        <p:nvSpPr>
          <p:cNvPr id="74" name="Shape 72"/>
          <p:cNvSpPr/>
          <p:nvPr/>
        </p:nvSpPr>
        <p:spPr>
          <a:xfrm>
            <a:off x="5033963" y="7435878"/>
            <a:ext cx="3083719" cy="4845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216">
            <a:solidFill>
              <a:srgbClr val="FDEC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956531" y="7590063"/>
            <a:ext cx="252413" cy="2143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1388" dirty="0">
                <a:solidFill>
                  <a:srgbClr val="E8342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logout</a:t>
            </a:r>
            <a:endParaRPr lang="en-US" sz="1388" dirty="0"/>
          </a:p>
        </p:txBody>
      </p:sp>
      <p:sp>
        <p:nvSpPr>
          <p:cNvPr id="76" name="Text 74"/>
          <p:cNvSpPr/>
          <p:nvPr/>
        </p:nvSpPr>
        <p:spPr>
          <a:xfrm>
            <a:off x="6203229" y="7607684"/>
            <a:ext cx="1068014" cy="179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750"/>
              </a:lnSpc>
              <a:buNone/>
            </a:pPr>
            <a:r>
              <a:rPr lang="en-US" sz="1041" b="1" dirty="0">
                <a:solidFill>
                  <a:srgbClr val="E8342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 déconnecter</a:t>
            </a:r>
            <a:endParaRPr lang="en-US" sz="1041" dirty="0"/>
          </a:p>
        </p:txBody>
      </p:sp>
      <p:sp>
        <p:nvSpPr>
          <p:cNvPr id="77" name="Text 75"/>
          <p:cNvSpPr/>
          <p:nvPr/>
        </p:nvSpPr>
        <p:spPr>
          <a:xfrm>
            <a:off x="4879777" y="8043811"/>
            <a:ext cx="3392091" cy="13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5862"/>
              </a:lnSpc>
              <a:buNone/>
            </a:pPr>
            <a:r>
              <a:rPr lang="en-US" sz="763" dirty="0">
                <a:solidFill>
                  <a:srgbClr val="B4AFA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TAXI FOOD · v1.0 MVP · NOSY BE</a:t>
            </a:r>
            <a:endParaRPr lang="en-US" sz="763" dirty="0"/>
          </a:p>
        </p:txBody>
      </p:sp>
      <p:sp>
        <p:nvSpPr>
          <p:cNvPr id="78" name="Shape 76"/>
          <p:cNvSpPr/>
          <p:nvPr/>
        </p:nvSpPr>
        <p:spPr>
          <a:xfrm>
            <a:off x="4857750" y="8734619"/>
            <a:ext cx="3436144" cy="8193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9" name="Shape 77"/>
          <p:cNvSpPr/>
          <p:nvPr/>
        </p:nvSpPr>
        <p:spPr>
          <a:xfrm>
            <a:off x="4857750" y="8734619"/>
            <a:ext cx="3436144" cy="9525"/>
          </a:xfrm>
          <a:prstGeom prst="rect">
            <a:avLst/>
          </a:prstGeom>
          <a:solidFill>
            <a:srgbClr val="E9E5E0"/>
          </a:solidFill>
          <a:ln/>
        </p:spPr>
      </p:sp>
      <p:sp>
        <p:nvSpPr>
          <p:cNvPr id="80" name="Text 78"/>
          <p:cNvSpPr/>
          <p:nvPr/>
        </p:nvSpPr>
        <p:spPr>
          <a:xfrm>
            <a:off x="5171284" y="8831535"/>
            <a:ext cx="287655" cy="24955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2759"/>
              </a:lnSpc>
              <a:buNone/>
            </a:pPr>
            <a:r>
              <a:rPr lang="en-US" sz="1665" dirty="0">
                <a:solidFill>
                  <a:srgbClr val="B4AFA9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storefront</a:t>
            </a:r>
            <a:endParaRPr lang="en-US" sz="1665" dirty="0"/>
          </a:p>
        </p:txBody>
      </p:sp>
      <p:sp>
        <p:nvSpPr>
          <p:cNvPr id="81" name="Text 79"/>
          <p:cNvSpPr/>
          <p:nvPr/>
        </p:nvSpPr>
        <p:spPr>
          <a:xfrm>
            <a:off x="5124960" y="9069423"/>
            <a:ext cx="380304" cy="126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9"/>
              </a:lnSpc>
              <a:buNone/>
            </a:pPr>
            <a:r>
              <a:rPr lang="en-US" sz="694" b="1" dirty="0">
                <a:solidFill>
                  <a:srgbClr val="B4AFA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Accueil</a:t>
            </a:r>
            <a:endParaRPr lang="en-US" sz="694" dirty="0"/>
          </a:p>
        </p:txBody>
      </p:sp>
      <p:sp>
        <p:nvSpPr>
          <p:cNvPr id="82" name="Text 80"/>
          <p:cNvSpPr/>
          <p:nvPr/>
        </p:nvSpPr>
        <p:spPr>
          <a:xfrm>
            <a:off x="6116706" y="8831535"/>
            <a:ext cx="287655" cy="24955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2759"/>
              </a:lnSpc>
              <a:buNone/>
            </a:pPr>
            <a:r>
              <a:rPr lang="en-US" sz="1665" dirty="0">
                <a:solidFill>
                  <a:srgbClr val="B4AFA9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receipt_long</a:t>
            </a:r>
            <a:endParaRPr lang="en-US" sz="1665" dirty="0"/>
          </a:p>
        </p:txBody>
      </p:sp>
      <p:sp>
        <p:nvSpPr>
          <p:cNvPr id="83" name="Text 81"/>
          <p:cNvSpPr/>
          <p:nvPr/>
        </p:nvSpPr>
        <p:spPr>
          <a:xfrm>
            <a:off x="5963621" y="9069423"/>
            <a:ext cx="593824" cy="126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9"/>
              </a:lnSpc>
              <a:buNone/>
            </a:pPr>
            <a:r>
              <a:rPr lang="en-US" sz="694" b="1" dirty="0">
                <a:solidFill>
                  <a:srgbClr val="B4AFA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Commandes</a:t>
            </a:r>
            <a:endParaRPr lang="en-US" sz="694" dirty="0"/>
          </a:p>
        </p:txBody>
      </p:sp>
      <p:sp>
        <p:nvSpPr>
          <p:cNvPr id="84" name="Text 82"/>
          <p:cNvSpPr/>
          <p:nvPr/>
        </p:nvSpPr>
        <p:spPr>
          <a:xfrm>
            <a:off x="7041064" y="8831535"/>
            <a:ext cx="287655" cy="24955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2759"/>
              </a:lnSpc>
              <a:buNone/>
            </a:pPr>
            <a:r>
              <a:rPr lang="en-US" sz="1665" dirty="0">
                <a:solidFill>
                  <a:srgbClr val="B4AFA9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shopping_bag</a:t>
            </a:r>
            <a:endParaRPr lang="en-US" sz="1665" dirty="0"/>
          </a:p>
        </p:txBody>
      </p:sp>
      <p:sp>
        <p:nvSpPr>
          <p:cNvPr id="85" name="Text 83"/>
          <p:cNvSpPr/>
          <p:nvPr/>
        </p:nvSpPr>
        <p:spPr>
          <a:xfrm>
            <a:off x="7015733" y="9069423"/>
            <a:ext cx="338317" cy="126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9"/>
              </a:lnSpc>
              <a:buNone/>
            </a:pPr>
            <a:r>
              <a:rPr lang="en-US" sz="694" b="1" dirty="0">
                <a:solidFill>
                  <a:srgbClr val="B4AFA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Panier</a:t>
            </a:r>
            <a:endParaRPr lang="en-US" sz="694" dirty="0"/>
          </a:p>
        </p:txBody>
      </p:sp>
      <p:sp>
        <p:nvSpPr>
          <p:cNvPr id="86" name="Text 84"/>
          <p:cNvSpPr/>
          <p:nvPr/>
        </p:nvSpPr>
        <p:spPr>
          <a:xfrm>
            <a:off x="7813784" y="8831535"/>
            <a:ext cx="287655" cy="24955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2759"/>
              </a:lnSpc>
              <a:buNone/>
            </a:pPr>
            <a:r>
              <a:rPr lang="en-US" sz="1665" dirty="0">
                <a:solidFill>
                  <a:srgbClr val="E8342A"/>
                </a:solidFill>
                <a:latin typeface="Material Symbols Rounded" pitchFamily="34" charset="0"/>
                <a:ea typeface="Material Symbols Rounded" pitchFamily="34" charset="-122"/>
                <a:cs typeface="Material Symbols Rounded" pitchFamily="34" charset="-120"/>
              </a:rPr>
              <a:t>person</a:t>
            </a:r>
            <a:endParaRPr lang="en-US" sz="1665" dirty="0"/>
          </a:p>
        </p:txBody>
      </p:sp>
      <p:sp>
        <p:nvSpPr>
          <p:cNvPr id="87" name="Text 85"/>
          <p:cNvSpPr/>
          <p:nvPr/>
        </p:nvSpPr>
        <p:spPr>
          <a:xfrm>
            <a:off x="7812407" y="9069423"/>
            <a:ext cx="290408" cy="126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9"/>
              </a:lnSpc>
              <a:buNone/>
            </a:pPr>
            <a:r>
              <a:rPr lang="en-US" sz="694" b="1" dirty="0">
                <a:solidFill>
                  <a:srgbClr val="E8342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Profil</a:t>
            </a:r>
            <a:endParaRPr lang="en-US" sz="69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81051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1125" spc="225" kern="0" dirty="0">
                <a:solidFill>
                  <a:srgbClr val="E834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SUITE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914400" y="1000125"/>
            <a:ext cx="18105120" cy="57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102"/>
              </a:lnSpc>
              <a:buNone/>
            </a:pPr>
            <a:r>
              <a:rPr lang="en-US" sz="4050" b="1" spc="-122" kern="0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Prochaines étapes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914400" y="2073548"/>
            <a:ext cx="5321275" cy="7299052"/>
          </a:xfrm>
          <a:prstGeom prst="roundRect">
            <a:avLst>
              <a:gd name="adj" fmla="val 50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8575" dir="5400000">
              <a:srgbClr val="1A1A1A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38250" y="2416448"/>
            <a:ext cx="5140933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474"/>
              </a:lnSpc>
              <a:buNone/>
            </a:pPr>
            <a:r>
              <a:rPr lang="en-US" sz="195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Photos de plats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38250" y="2846933"/>
            <a:ext cx="4813782" cy="5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659"/>
              </a:lnSpc>
              <a:buNone/>
            </a:pPr>
            <a:r>
              <a:rPr lang="en-US" sz="1425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Remplacer les placeholders rayés par de vraies photos, cadrage serré et lumière chaude.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6483325" y="2073548"/>
            <a:ext cx="5321350" cy="7299052"/>
          </a:xfrm>
          <a:prstGeom prst="roundRect">
            <a:avLst>
              <a:gd name="adj" fmla="val 50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8575" dir="5400000">
              <a:srgbClr val="1A1A1A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07175" y="2416448"/>
            <a:ext cx="5141015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474"/>
              </a:lnSpc>
              <a:buNone/>
            </a:pPr>
            <a:r>
              <a:rPr lang="en-US" sz="195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Notifications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807175" y="2846933"/>
            <a:ext cx="4813859" cy="5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659"/>
              </a:lnSpc>
              <a:buNone/>
            </a:pPr>
            <a:r>
              <a:rPr lang="en-US" sz="1425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Décliner le push à chaque changement de statut (contenu + écran de réglages).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12052325" y="2073548"/>
            <a:ext cx="5321275" cy="7299052"/>
          </a:xfrm>
          <a:prstGeom prst="roundRect">
            <a:avLst>
              <a:gd name="adj" fmla="val 50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8575" dir="5400000">
              <a:srgbClr val="1A1A1A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376175" y="2416448"/>
            <a:ext cx="5140933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474"/>
              </a:lnSpc>
              <a:buNone/>
            </a:pPr>
            <a:r>
              <a:rPr lang="en-US" sz="195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Reporté en v2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376175" y="2846933"/>
            <a:ext cx="4813782" cy="5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659"/>
              </a:lnSpc>
              <a:buNone/>
            </a:pPr>
            <a:r>
              <a:rPr lang="en-US" sz="1425" dirty="0">
                <a:solidFill>
                  <a:srgbClr val="4A474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Suppléments produits, avis, codes promo, recherche avancée, suivi GPS, paiement en ligne.</a:t>
            </a:r>
            <a:endParaRPr lang="en-US" sz="14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2026-08-10T18:04:04Z</dcterms:created>
  <dcterms:modified xsi:type="dcterms:W3CDTF">2026-08-10T18:04:04Z</dcterms:modified>
</cp:coreProperties>
</file>